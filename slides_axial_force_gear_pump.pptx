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olors1.xml" ContentType="application/vnd.ms-office.chartcolorstyle+xml"/>
  <Override PartName="/ppt/charts/colors2.xml" ContentType="application/vnd.ms-office.chartcolorstyle+xml"/>
  <Override PartName="/ppt/charts/style1.xml" ContentType="application/vnd.ms-office.chartstyle+xml"/>
  <Override PartName="/ppt/charts/style2.xml" ContentType="application/vnd.ms-office.chartstyle+xml"/>
  <Override PartName="/ppt/media/image7.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Override1.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8" r:id="rId3"/>
    <p:sldId id="259" r:id="rId4"/>
    <p:sldId id="270" r:id="rId5"/>
    <p:sldId id="288" r:id="rId6"/>
    <p:sldId id="320" r:id="rId7"/>
    <p:sldId id="321" r:id="rId8"/>
    <p:sldId id="345" r:id="rId9"/>
    <p:sldId id="346" r:id="rId10"/>
    <p:sldId id="347" r:id="rId11"/>
    <p:sldId id="323" r:id="rId12"/>
    <p:sldId id="324" r:id="rId13"/>
    <p:sldId id="328" r:id="rId14"/>
    <p:sldId id="329" r:id="rId15"/>
    <p:sldId id="331" r:id="rId16"/>
    <p:sldId id="332" r:id="rId17"/>
    <p:sldId id="333" r:id="rId18"/>
    <p:sldId id="334" r:id="rId19"/>
    <p:sldId id="335" r:id="rId20"/>
    <p:sldId id="336" r:id="rId21"/>
    <p:sldId id="337" r:id="rId22"/>
    <p:sldId id="339" r:id="rId23"/>
    <p:sldId id="350" r:id="rId24"/>
    <p:sldId id="352" r:id="rId25"/>
    <p:sldId id="353" r:id="rId26"/>
    <p:sldId id="354" r:id="rId27"/>
    <p:sldId id="355" r:id="rId28"/>
    <p:sldId id="341" r:id="rId29"/>
    <p:sldId id="342" r:id="rId30"/>
    <p:sldId id="343" r:id="rId31"/>
    <p:sldId id="344" r:id="rId32"/>
    <p:sldId id="284" r:id="rId33"/>
    <p:sldId id="285" r:id="rId34"/>
  </p:sldIdLst>
  <p:sldSz cx="12192000" cy="6858000"/>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B91D6FCC-9EC5-472C-BA06-20993D1C5881}">
          <p14:sldIdLst>
            <p14:sldId id="268"/>
            <p14:sldId id="259"/>
            <p14:sldId id="270"/>
            <p14:sldId id="288"/>
            <p14:sldId id="320"/>
            <p14:sldId id="321"/>
            <p14:sldId id="345"/>
            <p14:sldId id="346"/>
            <p14:sldId id="347"/>
            <p14:sldId id="323"/>
            <p14:sldId id="324"/>
            <p14:sldId id="328"/>
            <p14:sldId id="329"/>
            <p14:sldId id="331"/>
            <p14:sldId id="332"/>
            <p14:sldId id="333"/>
            <p14:sldId id="334"/>
            <p14:sldId id="335"/>
            <p14:sldId id="336"/>
            <p14:sldId id="337"/>
            <p14:sldId id="339"/>
            <p14:sldId id="350"/>
            <p14:sldId id="352"/>
            <p14:sldId id="353"/>
            <p14:sldId id="354"/>
            <p14:sldId id="355"/>
            <p14:sldId id="341"/>
            <p14:sldId id="342"/>
            <p14:sldId id="343"/>
            <p14:sldId id="344"/>
            <p14:sldId id="284"/>
            <p14:sldId id="285"/>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673B7"/>
    <a:srgbClr val="0E58A3"/>
    <a:srgbClr val="4C7CA0"/>
    <a:srgbClr val="92B6D0"/>
    <a:srgbClr val="A6A6A6"/>
    <a:srgbClr val="D9D9D9"/>
    <a:srgbClr val="5E7A86"/>
    <a:srgbClr val="122E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4CD6C1C-00FA-4D2E-B7AE-DEBF31797662}"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 styleId="{4A7ED4E7-D593-4A44-9A60-F2109990C815}" styleName="表样式 1 14">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421D9759-FAD0-4F7B-9969-40A7CEB2DF00}" styleName="表样式 1 14">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8" Type="http://schemas.openxmlformats.org/officeDocument/2006/relationships/tags" Target="tags/tag20.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3" Type="http://schemas.microsoft.com/office/2011/relationships/chartColorStyle" Target="colors2.xml"/><Relationship Id="rId2" Type="http://schemas.microsoft.com/office/2011/relationships/chartStyle" Target="style2.xml"/><Relationship Id="rId1" Type="http://schemas.openxmlformats.org/officeDocument/2006/relationships/oleObject" Target="file:///C:\Users\sunxs\Desktop\&#21387;&#21147;-&#21608;&#26399;&#22270;.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lang="zh-CN" sz="1860" b="0" i="0" u="none" strike="noStrike" kern="1200" spc="0" baseline="0">
              <a:solidFill>
                <a:schemeClr val="tx1">
                  <a:lumMod val="65000"/>
                  <a:lumOff val="35000"/>
                </a:schemeClr>
              </a:solidFill>
              <a:latin typeface="+mn-lt"/>
              <a:ea typeface="+mn-ea"/>
              <a:cs typeface="+mn-cs"/>
            </a:defRPr>
          </a:pPr>
        </a:p>
      </c:txPr>
    </c:title>
    <c:autoTitleDeleted val="0"/>
    <c:plotArea>
      <c:layout>
        <c:manualLayout>
          <c:layoutTarget val="inner"/>
          <c:xMode val="edge"/>
          <c:yMode val="edge"/>
          <c:x val="0.246236958661417"/>
          <c:y val="0.222773423795926"/>
          <c:w val="0.492369832677165"/>
          <c:h val="0.738554703583003"/>
        </c:manualLayout>
      </c:layout>
      <c:radarChart>
        <c:radarStyle val="marker"/>
        <c:varyColors val="0"/>
        <c:ser>
          <c:idx val="0"/>
          <c:order val="0"/>
          <c:tx>
            <c:strRef>
              <c:f>Sheet1!$B$1</c:f>
              <c:strCache>
                <c:ptCount val="1"/>
                <c:pt idx="0">
                  <c:v>国内</c:v>
                </c:pt>
              </c:strCache>
            </c:strRef>
          </c:tx>
          <c:spPr>
            <a:ln w="28575" cap="rnd">
              <a:solidFill>
                <a:schemeClr val="accent1"/>
              </a:solidFill>
              <a:round/>
            </a:ln>
            <a:effectLst/>
          </c:spPr>
          <c:marker>
            <c:symbol val="none"/>
          </c:marker>
          <c:dLbls>
            <c:delete val="1"/>
          </c:dLbls>
          <c:cat>
            <c:strRef>
              <c:f>Sheet1!$A$2:$A$7</c:f>
              <c:strCache>
                <c:ptCount val="6"/>
                <c:pt idx="0">
                  <c:v>压力</c:v>
                </c:pt>
                <c:pt idx="1">
                  <c:v>噪声</c:v>
                </c:pt>
                <c:pt idx="2">
                  <c:v>寿命</c:v>
                </c:pt>
                <c:pt idx="3">
                  <c:v>智能化</c:v>
                </c:pt>
                <c:pt idx="4">
                  <c:v>材料</c:v>
                </c:pt>
                <c:pt idx="5">
                  <c:v>效率</c:v>
                </c:pt>
              </c:strCache>
            </c:strRef>
          </c:cat>
          <c:val>
            <c:numRef>
              <c:f>Sheet1!$B$2:$B$7</c:f>
              <c:numCache>
                <c:formatCode>General</c:formatCode>
                <c:ptCount val="6"/>
                <c:pt idx="0">
                  <c:v>4</c:v>
                </c:pt>
                <c:pt idx="1">
                  <c:v>3</c:v>
                </c:pt>
                <c:pt idx="2">
                  <c:v>3</c:v>
                </c:pt>
                <c:pt idx="3">
                  <c:v>3</c:v>
                </c:pt>
                <c:pt idx="4">
                  <c:v>2</c:v>
                </c:pt>
                <c:pt idx="5">
                  <c:v>4</c:v>
                </c:pt>
              </c:numCache>
            </c:numRef>
          </c:val>
        </c:ser>
        <c:ser>
          <c:idx val="1"/>
          <c:order val="1"/>
          <c:tx>
            <c:strRef>
              <c:f>Sheet1!$C$1</c:f>
              <c:strCache>
                <c:ptCount val="1"/>
                <c:pt idx="0">
                  <c:v>国外</c:v>
                </c:pt>
              </c:strCache>
            </c:strRef>
          </c:tx>
          <c:spPr>
            <a:ln w="28575" cap="rnd">
              <a:solidFill>
                <a:schemeClr val="accent2"/>
              </a:solidFill>
              <a:round/>
            </a:ln>
            <a:effectLst/>
          </c:spPr>
          <c:marker>
            <c:symbol val="none"/>
          </c:marker>
          <c:dLbls>
            <c:delete val="1"/>
          </c:dLbls>
          <c:cat>
            <c:strRef>
              <c:f>Sheet1!$A$2:$A$7</c:f>
              <c:strCache>
                <c:ptCount val="6"/>
                <c:pt idx="0">
                  <c:v>压力</c:v>
                </c:pt>
                <c:pt idx="1">
                  <c:v>噪声</c:v>
                </c:pt>
                <c:pt idx="2">
                  <c:v>寿命</c:v>
                </c:pt>
                <c:pt idx="3">
                  <c:v>智能化</c:v>
                </c:pt>
                <c:pt idx="4">
                  <c:v>材料</c:v>
                </c:pt>
                <c:pt idx="5">
                  <c:v>效率</c:v>
                </c:pt>
              </c:strCache>
            </c:strRef>
          </c:cat>
          <c:val>
            <c:numRef>
              <c:f>Sheet1!$C$2:$C$7</c:f>
              <c:numCache>
                <c:formatCode>General</c:formatCode>
                <c:ptCount val="6"/>
                <c:pt idx="0">
                  <c:v>5</c:v>
                </c:pt>
                <c:pt idx="1">
                  <c:v>5</c:v>
                </c:pt>
                <c:pt idx="2">
                  <c:v>5</c:v>
                </c:pt>
                <c:pt idx="3">
                  <c:v>4</c:v>
                </c:pt>
                <c:pt idx="4">
                  <c:v>4</c:v>
                </c:pt>
                <c:pt idx="5">
                  <c:v>5</c:v>
                </c:pt>
              </c:numCache>
            </c:numRef>
          </c:val>
        </c:ser>
        <c:dLbls>
          <c:showLegendKey val="0"/>
          <c:showVal val="0"/>
          <c:showCatName val="0"/>
          <c:showSerName val="0"/>
          <c:showPercent val="0"/>
          <c:showBubbleSize val="0"/>
        </c:dLbls>
        <c:axId val="427185631"/>
        <c:axId val="427186047"/>
      </c:radarChart>
      <c:catAx>
        <c:axId val="42718563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27186047"/>
        <c:crosses val="autoZero"/>
        <c:auto val="1"/>
        <c:lblAlgn val="ctr"/>
        <c:lblOffset val="100"/>
        <c:noMultiLvlLbl val="0"/>
      </c:catAx>
      <c:valAx>
        <c:axId val="427186047"/>
        <c:scaling>
          <c:orientation val="minMax"/>
        </c:scaling>
        <c:delete val="1"/>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427185631"/>
        <c:crosses val="autoZero"/>
        <c:crossBetween val="between"/>
      </c:valAx>
      <c:spPr>
        <a:noFill/>
        <a:ln>
          <a:noFill/>
        </a:ln>
        <a:effectLst/>
      </c:spPr>
    </c:plotArea>
    <c:legend>
      <c:legendPos val="t"/>
      <c:layout/>
      <c:overlay val="0"/>
      <c:spPr>
        <a:noFill/>
        <a:ln>
          <a:noFill/>
        </a:ln>
        <a:effectLst/>
      </c:spPr>
      <c:txPr>
        <a:bodyPr rot="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legend>
    <c:plotVisOnly val="1"/>
    <c:dispBlanksAs val="gap"/>
    <c:showDLblsOverMax val="0"/>
    <c:extLst>
      <c:ext uri="{0b15fc19-7d7d-44ad-8c2d-2c3a37ce22c3}">
        <chartProps xmlns="https://web.wps.cn/et/2018/main" chartId="{12074159-c169-4df0-8c02-5c5cf9bda79c}"/>
      </c:ext>
    </c:extLst>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924878415933"/>
          <c:y val="0.0298305084745763"/>
          <c:w val="0.861986886289949"/>
          <c:h val="0.847597918056853"/>
        </c:manualLayout>
      </c:layout>
      <c:scatterChart>
        <c:scatterStyle val="lineMarker"/>
        <c:varyColors val="0"/>
        <c:ser>
          <c:idx val="0"/>
          <c:order val="0"/>
          <c:spPr>
            <a:ln w="19050" cap="rnd">
              <a:solidFill>
                <a:schemeClr val="accent1"/>
              </a:solidFill>
              <a:round/>
            </a:ln>
            <a:effectLst/>
          </c:spPr>
          <c:marker>
            <c:symbol val="circle"/>
            <c:size val="5"/>
            <c:spPr>
              <a:solidFill>
                <a:schemeClr val="accent1"/>
              </a:solidFill>
              <a:ln w="9525">
                <a:solidFill>
                  <a:schemeClr val="accent1"/>
                </a:solidFill>
              </a:ln>
              <a:effectLst/>
            </c:spPr>
          </c:marker>
          <c:dLbls>
            <c:delete val="1"/>
          </c:dLbls>
          <c:xVal>
            <c:numRef>
              <c:f>Sheet1!$B$1:$B$10</c:f>
              <c:numCache>
                <c:formatCode>General</c:formatCode>
                <c:ptCount val="10"/>
                <c:pt idx="0">
                  <c:v>0</c:v>
                </c:pt>
                <c:pt idx="1">
                  <c:v>0.00166666666666667</c:v>
                </c:pt>
                <c:pt idx="2">
                  <c:v>0.0166666666666667</c:v>
                </c:pt>
                <c:pt idx="3">
                  <c:v>0.0833333333333333</c:v>
                </c:pt>
                <c:pt idx="4">
                  <c:v>0.166666666666667</c:v>
                </c:pt>
                <c:pt idx="5">
                  <c:v>0.333333333333333</c:v>
                </c:pt>
                <c:pt idx="6">
                  <c:v>0.5</c:v>
                </c:pt>
                <c:pt idx="7">
                  <c:v>0.666666666666667</c:v>
                </c:pt>
                <c:pt idx="8">
                  <c:v>0.833333333333333</c:v>
                </c:pt>
                <c:pt idx="9">
                  <c:v>1</c:v>
                </c:pt>
              </c:numCache>
            </c:numRef>
          </c:xVal>
          <c:yVal>
            <c:numRef>
              <c:f>Sheet1!$C$1:$C$10</c:f>
              <c:numCache>
                <c:formatCode>General</c:formatCode>
                <c:ptCount val="10"/>
                <c:pt idx="0">
                  <c:v>25</c:v>
                </c:pt>
                <c:pt idx="1">
                  <c:v>24.9995</c:v>
                </c:pt>
                <c:pt idx="2">
                  <c:v>24.1447</c:v>
                </c:pt>
                <c:pt idx="3">
                  <c:v>24.0147</c:v>
                </c:pt>
                <c:pt idx="4">
                  <c:v>24.0037</c:v>
                </c:pt>
                <c:pt idx="5">
                  <c:v>24.0001</c:v>
                </c:pt>
                <c:pt idx="6">
                  <c:v>24.0598</c:v>
                </c:pt>
                <c:pt idx="7">
                  <c:v>23.9095</c:v>
                </c:pt>
                <c:pt idx="8">
                  <c:v>23.8673</c:v>
                </c:pt>
                <c:pt idx="9">
                  <c:v>23.799</c:v>
                </c:pt>
              </c:numCache>
            </c:numRef>
          </c:yVal>
          <c:smooth val="0"/>
        </c:ser>
        <c:dLbls>
          <c:showLegendKey val="0"/>
          <c:showVal val="0"/>
          <c:showCatName val="0"/>
          <c:showSerName val="0"/>
          <c:showPercent val="0"/>
          <c:showBubbleSize val="0"/>
        </c:dLbls>
        <c:axId val="-249808832"/>
        <c:axId val="-249819168"/>
      </c:scatterChart>
      <c:valAx>
        <c:axId val="-249808832"/>
        <c:scaling>
          <c:orientation val="minMax"/>
          <c:max val="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时间（</a:t>
                </a:r>
                <a:r>
                  <a:rPr lang="en-US" altLang="zh-CN"/>
                  <a:t>T</a:t>
                </a:r>
                <a:r>
                  <a:rPr lang="zh-CN" altLang="en-US"/>
                  <a:t>）</a:t>
                </a:r>
                <a:endParaRPr lang="zh-CN" altLang="en-US"/>
              </a:p>
            </c:rich>
          </c:tx>
          <c:layout/>
          <c:overlay val="0"/>
          <c:spPr>
            <a:noFill/>
            <a:ln>
              <a:noFill/>
            </a:ln>
            <a:effectLst/>
          </c:sp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49819168"/>
        <c:crosses val="autoZero"/>
        <c:crossBetween val="midCat"/>
      </c:valAx>
      <c:valAx>
        <c:axId val="-249819168"/>
        <c:scaling>
          <c:orientation val="minMax"/>
          <c:max val="25"/>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mn-cs"/>
                  </a:defRPr>
                </a:pPr>
                <a:r>
                  <a:rPr lang="zh-CN" altLang="en-US"/>
                  <a:t>出口压力（</a:t>
                </a:r>
                <a:r>
                  <a:rPr lang="en-US" altLang="zh-CN"/>
                  <a:t>MPa</a:t>
                </a:r>
                <a:r>
                  <a:rPr lang="zh-CN" altLang="en-US"/>
                  <a:t>）</a:t>
                </a:r>
                <a:endParaRPr lang="zh-CN" altLang="en-US"/>
              </a:p>
            </c:rich>
          </c:tx>
          <c:layout>
            <c:manualLayout>
              <c:xMode val="edge"/>
              <c:yMode val="edge"/>
              <c:x val="0.00732734933137937"/>
              <c:y val="0.31010662021324"/>
            </c:manualLayout>
          </c:layout>
          <c:overlay val="0"/>
          <c:spPr>
            <a:noFill/>
            <a:ln>
              <a:noFill/>
            </a:ln>
            <a:effectLst/>
          </c:sp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lang="zh-CN" sz="900" b="0" i="0" u="none" strike="noStrike" kern="1200" baseline="0">
                <a:solidFill>
                  <a:schemeClr val="tx1">
                    <a:lumMod val="65000"/>
                    <a:lumOff val="35000"/>
                  </a:schemeClr>
                </a:solidFill>
                <a:latin typeface="+mn-lt"/>
                <a:ea typeface="+mn-ea"/>
                <a:cs typeface="+mn-cs"/>
              </a:defRPr>
            </a:pPr>
          </a:p>
        </c:txPr>
        <c:crossAx val="-249808832"/>
        <c:crosses val="autoZero"/>
        <c:crossBetween val="midCat"/>
      </c:valAx>
      <c:spPr>
        <a:noFill/>
        <a:ln>
          <a:noFill/>
        </a:ln>
        <a:effectLst/>
      </c:spPr>
    </c:plotArea>
    <c:plotVisOnly val="1"/>
    <c:dispBlanksAs val="gap"/>
    <c:showDLblsOverMax val="0"/>
    <c:extLst>
      <c:ext uri="{0b15fc19-7d7d-44ad-8c2d-2c3a37ce22c3}">
        <chartProps xmlns="https://web.wps.cn/et/2018/main" chartId="{b846e6a2-629c-4311-af7e-5e84afa37dca}"/>
      </c:ext>
    </c:extLst>
  </c:chart>
  <c:spPr>
    <a:solidFill>
      <a:schemeClr val="bg1"/>
    </a:solidFill>
    <a:ln w="9525" cap="flat" cmpd="sng" algn="ctr">
      <a:solidFill>
        <a:schemeClr val="tx1">
          <a:lumMod val="15000"/>
          <a:lumOff val="85000"/>
        </a:schemeClr>
      </a:solid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木卫林制作">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7" name="文本框 6"/>
          <p:cNvSpPr txBox="1"/>
          <p:nvPr userDrawn="1"/>
        </p:nvSpPr>
        <p:spPr>
          <a:xfrm>
            <a:off x="0" y="0"/>
            <a:ext cx="1357459" cy="184666"/>
          </a:xfrm>
          <a:prstGeom prst="rect">
            <a:avLst/>
          </a:prstGeom>
          <a:noFill/>
        </p:spPr>
        <p:txBody>
          <a:bodyPr wrap="square" rtlCol="0">
            <a:spAutoFit/>
          </a:bodyPr>
          <a:lstStyle/>
          <a:p>
            <a:r>
              <a:rPr lang="zh-CN" altLang="en-US" sz="600" dirty="0">
                <a:solidFill>
                  <a:schemeClr val="bg1"/>
                </a:solidFill>
              </a:rPr>
              <a:t>木卫林</a:t>
            </a:r>
            <a:endParaRPr lang="zh-CN" altLang="en-US" sz="600" dirty="0">
              <a:solidFill>
                <a:schemeClr val="bg1"/>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木卫林">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
        <p:nvSpPr>
          <p:cNvPr id="7" name="文本框 6"/>
          <p:cNvSpPr txBox="1"/>
          <p:nvPr userDrawn="1"/>
        </p:nvSpPr>
        <p:spPr>
          <a:xfrm>
            <a:off x="0" y="-11947"/>
            <a:ext cx="273378" cy="276999"/>
          </a:xfrm>
          <a:prstGeom prst="rect">
            <a:avLst/>
          </a:prstGeom>
          <a:noFill/>
        </p:spPr>
        <p:txBody>
          <a:bodyPr wrap="square" rtlCol="0">
            <a:spAutoFit/>
          </a:bodyPr>
          <a:lstStyle/>
          <a:p>
            <a:r>
              <a:rPr lang="zh-CN" altLang="en-US" sz="400" dirty="0">
                <a:solidFill>
                  <a:schemeClr val="bg1"/>
                </a:solidFill>
              </a:rPr>
              <a:t>木卫林</a:t>
            </a:r>
            <a:endParaRPr lang="zh-CN" altLang="en-US" sz="4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slideLayout" Target="../slideLayouts/slideLayout1.xml"/><Relationship Id="rId18" Type="http://schemas.openxmlformats.org/officeDocument/2006/relationships/themeOverride" Target="../theme/themeOverride1.xml"/><Relationship Id="rId17" Type="http://schemas.openxmlformats.org/officeDocument/2006/relationships/image" Target="../media/image2.jpeg"/><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hemeOverride" Target="../theme/themeOverride4.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hemeOverride" Target="../theme/themeOverride5.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hemeOverride" Target="../theme/themeOverride6.xml"/><Relationship Id="rId2" Type="http://schemas.openxmlformats.org/officeDocument/2006/relationships/image" Target="../media/image5.jpeg"/><Relationship Id="rId1" Type="http://schemas.openxmlformats.org/officeDocument/2006/relationships/chart" Target="../charts/chart1.xml"/></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7.xml"/><Relationship Id="rId3" Type="http://schemas.openxmlformats.org/officeDocument/2006/relationships/image" Target="../media/image5.jpeg"/><Relationship Id="rId2" Type="http://schemas.openxmlformats.org/officeDocument/2006/relationships/image" Target="../media/image7.sv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hemeOverride" Target="../theme/themeOverride9.xml"/><Relationship Id="rId2" Type="http://schemas.openxmlformats.org/officeDocument/2006/relationships/image" Target="../media/image8.png"/><Relationship Id="rId1" Type="http://schemas.openxmlformats.org/officeDocument/2006/relationships/image" Target="../media/image5.jpeg"/></Relationships>
</file>

<file path=ppt/slides/_rels/slide13.xml.rels><?xml version="1.0" encoding="UTF-8" standalone="yes"?>
<Relationships xmlns="http://schemas.openxmlformats.org/package/2006/relationships"><Relationship Id="rId9" Type="http://schemas.openxmlformats.org/officeDocument/2006/relationships/themeOverride" Target="../theme/themeOverride10.xml"/><Relationship Id="rId8" Type="http://schemas.openxmlformats.org/officeDocument/2006/relationships/image" Target="../media/image14.png"/><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0" Type="http://schemas.openxmlformats.org/officeDocument/2006/relationships/slideLayout" Target="../slideLayouts/slideLayout12.xml"/><Relationship Id="rId1" Type="http://schemas.openxmlformats.org/officeDocument/2006/relationships/image" Target="../media/image5.jpe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11.xml"/><Relationship Id="rId3" Type="http://schemas.openxmlformats.org/officeDocument/2006/relationships/image" Target="../media/image15.png"/><Relationship Id="rId2" Type="http://schemas.openxmlformats.org/officeDocument/2006/relationships/tags" Target="../tags/tag17.xml"/><Relationship Id="rId1" Type="http://schemas.openxmlformats.org/officeDocument/2006/relationships/image" Target="../media/image5.jpe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12.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5.jpe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hemeOverride" Target="../theme/themeOverride13.xml"/><Relationship Id="rId4" Type="http://schemas.openxmlformats.org/officeDocument/2006/relationships/image" Target="../media/image20.png"/><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14.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5.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15.xml"/></Relationships>
</file>

<file path=ppt/slides/_rels/slide19.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themeOverride" Target="../theme/themeOverride1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5.jpe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17.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5.jpe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18.xml"/><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5.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hemeOverride" Target="../theme/themeOverride19.xml"/><Relationship Id="rId2" Type="http://schemas.openxmlformats.org/officeDocument/2006/relationships/image" Target="../media/image32.png"/><Relationship Id="rId1" Type="http://schemas.openxmlformats.org/officeDocument/2006/relationships/image" Target="../media/image5.jpeg"/></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20.xml"/><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5.jpe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21.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5.jpeg"/></Relationships>
</file>

<file path=ppt/slides/_rels/slide2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22.xml"/><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image" Target="../media/image5.jpe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39.png"/><Relationship Id="rId2" Type="http://schemas.microsoft.com/office/2007/relationships/media" Target="../media/media1.mp4"/><Relationship Id="rId1" Type="http://schemas.openxmlformats.org/officeDocument/2006/relationships/video" Target="../media/media1.mp4"/></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23.xml"/><Relationship Id="rId3" Type="http://schemas.openxmlformats.org/officeDocument/2006/relationships/image" Target="../media/image40.png"/><Relationship Id="rId2" Type="http://schemas.openxmlformats.org/officeDocument/2006/relationships/image" Target="../media/image5.jpeg"/><Relationship Id="rId1" Type="http://schemas.openxmlformats.org/officeDocument/2006/relationships/chart" Target="../charts/chart2.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themeOverride" Target="../theme/themeOverride24.xml"/><Relationship Id="rId2" Type="http://schemas.openxmlformats.org/officeDocument/2006/relationships/image" Target="../media/image41.png"/><Relationship Id="rId1" Type="http://schemas.openxmlformats.org/officeDocument/2006/relationships/image" Target="../media/image5.jpe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hemeOverride" Target="../theme/themeOverride25.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5.jpe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themeOverride" Target="../theme/themeOverride26.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image" Target="../media/image44.png"/><Relationship Id="rId1" Type="http://schemas.openxmlformats.org/officeDocument/2006/relationships/image" Target="../media/image5.jpe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hemeOverride" Target="../theme/themeOverride27.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hemeOverride" Target="../theme/themeOverr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7" name="文本框 6"/>
          <p:cNvSpPr txBox="1"/>
          <p:nvPr/>
        </p:nvSpPr>
        <p:spPr>
          <a:xfrm>
            <a:off x="1249485" y="2855406"/>
            <a:ext cx="5724644" cy="830997"/>
          </a:xfrm>
          <a:prstGeom prst="rect">
            <a:avLst/>
          </a:prstGeom>
          <a:noFill/>
        </p:spPr>
        <p:txBody>
          <a:bodyPr wrap="none" rtlCol="0">
            <a:spAutoFit/>
          </a:bodyPr>
          <a:lstStyle/>
          <a:p>
            <a:r>
              <a:rPr lang="zh-CN" altLang="en-US" sz="4800" spc="600" dirty="0">
                <a:solidFill>
                  <a:schemeClr val="bg1"/>
                </a:solidFill>
                <a:latin typeface="+mn-ea"/>
                <a:cs typeface="+mn-ea"/>
              </a:rPr>
              <a:t>毕业论文答辩模板</a:t>
            </a:r>
            <a:endParaRPr lang="zh-CN" altLang="en-US" sz="4800" spc="600" dirty="0">
              <a:solidFill>
                <a:schemeClr val="bg1"/>
              </a:solidFill>
              <a:latin typeface="+mn-ea"/>
              <a:cs typeface="+mn-ea"/>
            </a:endParaRPr>
          </a:p>
        </p:txBody>
      </p:sp>
      <p:sp>
        <p:nvSpPr>
          <p:cNvPr id="8" name="文本框 7"/>
          <p:cNvSpPr txBox="1"/>
          <p:nvPr/>
        </p:nvSpPr>
        <p:spPr>
          <a:xfrm>
            <a:off x="1249485" y="3782884"/>
            <a:ext cx="5625258" cy="307777"/>
          </a:xfrm>
          <a:prstGeom prst="rect">
            <a:avLst/>
          </a:prstGeom>
          <a:noFill/>
        </p:spPr>
        <p:txBody>
          <a:bodyPr wrap="none" rtlCol="0">
            <a:spAutoFit/>
          </a:bodyPr>
          <a:lstStyle/>
          <a:p>
            <a:r>
              <a:rPr lang="en-US" altLang="zh-CN" sz="1400" spc="600" dirty="0">
                <a:solidFill>
                  <a:schemeClr val="bg1"/>
                </a:solidFill>
                <a:latin typeface="Arial" panose="020B0604020202020204" pitchFamily="34" charset="0"/>
                <a:cs typeface="+mn-ea"/>
              </a:rPr>
              <a:t>Graduation thesis defense template</a:t>
            </a:r>
            <a:endParaRPr lang="zh-CN" altLang="en-US" sz="1400" spc="600" dirty="0">
              <a:solidFill>
                <a:schemeClr val="bg1"/>
              </a:solidFill>
              <a:latin typeface="Arial" panose="020B0604020202020204" pitchFamily="34" charset="0"/>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91586" y="449117"/>
            <a:ext cx="11608824" cy="5955500"/>
          </a:xfrm>
          <a:prstGeom prst="rect">
            <a:avLst/>
          </a:prstGeom>
          <a:solidFill>
            <a:schemeClr val="bg1"/>
          </a:solidFill>
          <a:ln>
            <a:noFill/>
          </a:ln>
          <a:effectLst>
            <a:outerShdw blurRad="1016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D9D9D9"/>
              </a:solidFill>
              <a:effectLst/>
              <a:uLnTx/>
              <a:uFillTx/>
              <a:latin typeface="Arial" panose="020B0604020202020204"/>
              <a:cs typeface="+mn-ea"/>
            </a:endParaRPr>
          </a:p>
        </p:txBody>
      </p:sp>
      <p:grpSp>
        <p:nvGrpSpPr>
          <p:cNvPr id="51" name="组合 50"/>
          <p:cNvGrpSpPr/>
          <p:nvPr/>
        </p:nvGrpSpPr>
        <p:grpSpPr>
          <a:xfrm>
            <a:off x="1434297" y="2379948"/>
            <a:ext cx="9497435" cy="1938020"/>
            <a:chOff x="1434296" y="2568011"/>
            <a:chExt cx="9497435" cy="1938020"/>
          </a:xfrm>
        </p:grpSpPr>
        <p:sp>
          <p:nvSpPr>
            <p:cNvPr id="52" name="文本框 51"/>
            <p:cNvSpPr txBox="1"/>
            <p:nvPr/>
          </p:nvSpPr>
          <p:spPr>
            <a:xfrm>
              <a:off x="1434296" y="2568011"/>
              <a:ext cx="9497435" cy="1938020"/>
            </a:xfrm>
            <a:prstGeom prst="rect">
              <a:avLst/>
            </a:prstGeom>
            <a:noFill/>
          </p:spPr>
          <p:txBody>
            <a:bodyPr wrap="square">
              <a:spAutoFit/>
            </a:bodyPr>
            <a:lstStyle/>
            <a:p>
              <a:pPr algn="ctr"/>
              <a:r>
                <a:rPr lang="zh-CN" altLang="en-US" sz="6000" b="1" spc="600" dirty="0">
                  <a:solidFill>
                    <a:srgbClr val="122E66"/>
                  </a:solidFill>
                  <a:latin typeface="思源黑体 CN Heavy" panose="020B0A00000000000000" pitchFamily="34" charset="-122"/>
                  <a:ea typeface="思源黑体 CN Heavy" panose="020B0A00000000000000" pitchFamily="34" charset="-122"/>
                  <a:cs typeface="+mn-ea"/>
                </a:rPr>
                <a:t>双圆弧斜齿齿轮泵的</a:t>
              </a:r>
              <a:endParaRPr lang="zh-CN" altLang="en-US" sz="6000" b="1" spc="600" dirty="0">
                <a:solidFill>
                  <a:srgbClr val="122E66"/>
                </a:solidFill>
                <a:latin typeface="思源黑体 CN Heavy" panose="020B0A00000000000000" pitchFamily="34" charset="-122"/>
                <a:ea typeface="思源黑体 CN Heavy" panose="020B0A00000000000000" pitchFamily="34" charset="-122"/>
                <a:cs typeface="+mn-ea"/>
              </a:endParaRPr>
            </a:p>
            <a:p>
              <a:pPr algn="ctr"/>
              <a:r>
                <a:rPr lang="zh-CN" altLang="en-US" sz="6000" b="1" spc="600" dirty="0">
                  <a:solidFill>
                    <a:srgbClr val="122E66"/>
                  </a:solidFill>
                  <a:latin typeface="思源黑体 CN Heavy" panose="020B0A00000000000000" pitchFamily="34" charset="-122"/>
                  <a:ea typeface="思源黑体 CN Heavy" panose="020B0A00000000000000" pitchFamily="34" charset="-122"/>
                  <a:cs typeface="+mn-ea"/>
                </a:rPr>
                <a:t>轴向力仿真分析</a:t>
              </a:r>
              <a:endParaRPr lang="zh-CN" altLang="en-US" sz="6000" b="1" spc="600" dirty="0">
                <a:solidFill>
                  <a:srgbClr val="122E66"/>
                </a:solidFill>
                <a:latin typeface="思源黑体 CN Heavy" panose="020B0A00000000000000" pitchFamily="34" charset="-122"/>
                <a:ea typeface="思源黑体 CN Heavy" panose="020B0A00000000000000" pitchFamily="34" charset="-122"/>
                <a:cs typeface="+mn-ea"/>
              </a:endParaRPr>
            </a:p>
          </p:txBody>
        </p:sp>
        <p:sp>
          <p:nvSpPr>
            <p:cNvPr id="53" name="文本框 52"/>
            <p:cNvSpPr txBox="1"/>
            <p:nvPr/>
          </p:nvSpPr>
          <p:spPr>
            <a:xfrm>
              <a:off x="2902886" y="3614930"/>
              <a:ext cx="184731" cy="307777"/>
            </a:xfrm>
            <a:prstGeom prst="rect">
              <a:avLst/>
            </a:prstGeom>
            <a:noFill/>
          </p:spPr>
          <p:txBody>
            <a:bodyPr wrap="none" rtlCol="0">
              <a:spAutoFit/>
            </a:bodyPr>
            <a:lstStyle/>
            <a:p>
              <a:endParaRPr lang="zh-CN" altLang="en-US" sz="1400" spc="600" dirty="0">
                <a:solidFill>
                  <a:srgbClr val="122E66"/>
                </a:solidFill>
                <a:latin typeface="Arial" panose="020B0604020202020204" pitchFamily="34" charset="0"/>
                <a:cs typeface="+mn-ea"/>
              </a:endParaRPr>
            </a:p>
          </p:txBody>
        </p:sp>
      </p:grpSp>
      <p:sp>
        <p:nvSpPr>
          <p:cNvPr id="58" name="文本框 57"/>
          <p:cNvSpPr txBox="1"/>
          <p:nvPr/>
        </p:nvSpPr>
        <p:spPr>
          <a:xfrm>
            <a:off x="4264396" y="4460805"/>
            <a:ext cx="3459480" cy="337185"/>
          </a:xfrm>
          <a:prstGeom prst="rect">
            <a:avLst/>
          </a:prstGeom>
          <a:noFill/>
        </p:spPr>
        <p:txBody>
          <a:bodyPr wrap="none" rtlCol="0">
            <a:spAutoFit/>
          </a:bodyPr>
          <a:lstStyle/>
          <a:p>
            <a:pPr algn="ctr"/>
            <a:r>
              <a:rPr lang="zh-CN" altLang="en-US" sz="1600" spc="300" dirty="0">
                <a:solidFill>
                  <a:srgbClr val="122E66"/>
                </a:solidFill>
                <a:latin typeface="+mn-ea"/>
                <a:cs typeface="+mn-ea"/>
              </a:rPr>
              <a:t>同济大学</a:t>
            </a:r>
            <a:r>
              <a:rPr lang="en-US" altLang="zh-CN" sz="1600" spc="300" dirty="0">
                <a:solidFill>
                  <a:srgbClr val="122E66"/>
                </a:solidFill>
                <a:latin typeface="+mn-ea"/>
                <a:cs typeface="+mn-ea"/>
              </a:rPr>
              <a:t>|</a:t>
            </a:r>
            <a:r>
              <a:rPr lang="zh-CN" altLang="en-US" sz="1600" spc="300" dirty="0">
                <a:solidFill>
                  <a:srgbClr val="122E66"/>
                </a:solidFill>
                <a:latin typeface="+mn-ea"/>
                <a:cs typeface="+mn-ea"/>
              </a:rPr>
              <a:t>机械与能源工程学</a:t>
            </a:r>
            <a:r>
              <a:rPr lang="zh-CN" altLang="en-US" sz="1600" spc="300" dirty="0">
                <a:solidFill>
                  <a:srgbClr val="122E66"/>
                </a:solidFill>
                <a:latin typeface="+mn-ea"/>
                <a:cs typeface="+mn-ea"/>
              </a:rPr>
              <a:t>院</a:t>
            </a:r>
            <a:endParaRPr lang="zh-CN" altLang="en-US" sz="1600" spc="300" dirty="0">
              <a:solidFill>
                <a:srgbClr val="122E66"/>
              </a:solidFill>
              <a:latin typeface="+mn-ea"/>
              <a:cs typeface="+mn-ea"/>
            </a:endParaRPr>
          </a:p>
        </p:txBody>
      </p:sp>
      <p:sp>
        <p:nvSpPr>
          <p:cNvPr id="65" name="流程图: 离页连接符 64"/>
          <p:cNvSpPr/>
          <p:nvPr/>
        </p:nvSpPr>
        <p:spPr>
          <a:xfrm>
            <a:off x="5519936" y="0"/>
            <a:ext cx="1152128" cy="1152128"/>
          </a:xfrm>
          <a:prstGeom prst="flowChartOffpageConnector">
            <a:avLst/>
          </a:prstGeom>
          <a:solidFill>
            <a:srgbClr val="122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66" name="graduate-man-hand-drawn-person_57251"/>
          <p:cNvSpPr/>
          <p:nvPr/>
        </p:nvSpPr>
        <p:spPr>
          <a:xfrm>
            <a:off x="5877134" y="209548"/>
            <a:ext cx="437729" cy="609685"/>
          </a:xfrm>
          <a:custGeom>
            <a:avLst/>
            <a:gdLst>
              <a:gd name="connsiteX0" fmla="*/ 83809 w 434872"/>
              <a:gd name="connsiteY0" fmla="*/ 581569 h 605705"/>
              <a:gd name="connsiteX1" fmla="*/ 82167 w 434872"/>
              <a:gd name="connsiteY1" fmla="*/ 583678 h 605705"/>
              <a:gd name="connsiteX2" fmla="*/ 88503 w 434872"/>
              <a:gd name="connsiteY2" fmla="*/ 584146 h 605705"/>
              <a:gd name="connsiteX3" fmla="*/ 86156 w 434872"/>
              <a:gd name="connsiteY3" fmla="*/ 581569 h 605705"/>
              <a:gd name="connsiteX4" fmla="*/ 83809 w 434872"/>
              <a:gd name="connsiteY4" fmla="*/ 581569 h 605705"/>
              <a:gd name="connsiteX5" fmla="*/ 337748 w 434872"/>
              <a:gd name="connsiteY5" fmla="*/ 504504 h 605705"/>
              <a:gd name="connsiteX6" fmla="*/ 314252 w 434872"/>
              <a:gd name="connsiteY6" fmla="*/ 509630 h 605705"/>
              <a:gd name="connsiteX7" fmla="*/ 290786 w 434872"/>
              <a:gd name="connsiteY7" fmla="*/ 521112 h 605705"/>
              <a:gd name="connsiteX8" fmla="*/ 283746 w 434872"/>
              <a:gd name="connsiteY8" fmla="*/ 528611 h 605705"/>
              <a:gd name="connsiteX9" fmla="*/ 314487 w 434872"/>
              <a:gd name="connsiteY9" fmla="*/ 529783 h 605705"/>
              <a:gd name="connsiteX10" fmla="*/ 359308 w 434872"/>
              <a:gd name="connsiteY10" fmla="*/ 510802 h 605705"/>
              <a:gd name="connsiteX11" fmla="*/ 337748 w 434872"/>
              <a:gd name="connsiteY11" fmla="*/ 504504 h 605705"/>
              <a:gd name="connsiteX12" fmla="*/ 88737 w 434872"/>
              <a:gd name="connsiteY12" fmla="*/ 451049 h 605705"/>
              <a:gd name="connsiteX13" fmla="*/ 70668 w 434872"/>
              <a:gd name="connsiteY13" fmla="*/ 462999 h 605705"/>
              <a:gd name="connsiteX14" fmla="*/ 72076 w 434872"/>
              <a:gd name="connsiteY14" fmla="*/ 462296 h 605705"/>
              <a:gd name="connsiteX15" fmla="*/ 88972 w 434872"/>
              <a:gd name="connsiteY15" fmla="*/ 451517 h 605705"/>
              <a:gd name="connsiteX16" fmla="*/ 88737 w 434872"/>
              <a:gd name="connsiteY16" fmla="*/ 451049 h 605705"/>
              <a:gd name="connsiteX17" fmla="*/ 109153 w 434872"/>
              <a:gd name="connsiteY17" fmla="*/ 408635 h 605705"/>
              <a:gd name="connsiteX18" fmla="*/ 117367 w 434872"/>
              <a:gd name="connsiteY18" fmla="*/ 409104 h 605705"/>
              <a:gd name="connsiteX19" fmla="*/ 195511 w 434872"/>
              <a:gd name="connsiteY19" fmla="*/ 466280 h 605705"/>
              <a:gd name="connsiteX20" fmla="*/ 180023 w 434872"/>
              <a:gd name="connsiteY20" fmla="*/ 430428 h 605705"/>
              <a:gd name="connsiteX21" fmla="*/ 187532 w 434872"/>
              <a:gd name="connsiteY21" fmla="*/ 413556 h 605705"/>
              <a:gd name="connsiteX22" fmla="*/ 191052 w 434872"/>
              <a:gd name="connsiteY22" fmla="*/ 413322 h 605705"/>
              <a:gd name="connsiteX23" fmla="*/ 191521 w 434872"/>
              <a:gd name="connsiteY23" fmla="*/ 412619 h 605705"/>
              <a:gd name="connsiteX24" fmla="*/ 219212 w 434872"/>
              <a:gd name="connsiteY24" fmla="*/ 410510 h 605705"/>
              <a:gd name="connsiteX25" fmla="*/ 244087 w 434872"/>
              <a:gd name="connsiteY25" fmla="*/ 410744 h 605705"/>
              <a:gd name="connsiteX26" fmla="*/ 252535 w 434872"/>
              <a:gd name="connsiteY26" fmla="*/ 421523 h 605705"/>
              <a:gd name="connsiteX27" fmla="*/ 233527 w 434872"/>
              <a:gd name="connsiteY27" fmla="*/ 464405 h 605705"/>
              <a:gd name="connsiteX28" fmla="*/ 295948 w 434872"/>
              <a:gd name="connsiteY28" fmla="*/ 417305 h 605705"/>
              <a:gd name="connsiteX29" fmla="*/ 306508 w 434872"/>
              <a:gd name="connsiteY29" fmla="*/ 412150 h 605705"/>
              <a:gd name="connsiteX30" fmla="*/ 344524 w 434872"/>
              <a:gd name="connsiteY30" fmla="*/ 416837 h 605705"/>
              <a:gd name="connsiteX31" fmla="*/ 412578 w 434872"/>
              <a:gd name="connsiteY31" fmla="*/ 445190 h 605705"/>
              <a:gd name="connsiteX32" fmla="*/ 420556 w 434872"/>
              <a:gd name="connsiteY32" fmla="*/ 591411 h 605705"/>
              <a:gd name="connsiteX33" fmla="*/ 411404 w 434872"/>
              <a:gd name="connsiteY33" fmla="*/ 600549 h 605705"/>
              <a:gd name="connsiteX34" fmla="*/ 7543 w 434872"/>
              <a:gd name="connsiteY34" fmla="*/ 592582 h 605705"/>
              <a:gd name="connsiteX35" fmla="*/ 737 w 434872"/>
              <a:gd name="connsiteY35" fmla="*/ 583678 h 605705"/>
              <a:gd name="connsiteX36" fmla="*/ 10359 w 434872"/>
              <a:gd name="connsiteY36" fmla="*/ 466514 h 605705"/>
              <a:gd name="connsiteX37" fmla="*/ 104929 w 434872"/>
              <a:gd name="connsiteY37" fmla="*/ 409104 h 605705"/>
              <a:gd name="connsiteX38" fmla="*/ 109153 w 434872"/>
              <a:gd name="connsiteY38" fmla="*/ 408635 h 605705"/>
              <a:gd name="connsiteX39" fmla="*/ 303187 w 434872"/>
              <a:gd name="connsiteY39" fmla="*/ 227980 h 605705"/>
              <a:gd name="connsiteX40" fmla="*/ 205113 w 434872"/>
              <a:gd name="connsiteY40" fmla="*/ 235947 h 605705"/>
              <a:gd name="connsiteX41" fmla="*/ 119005 w 434872"/>
              <a:gd name="connsiteY41" fmla="*/ 235244 h 605705"/>
              <a:gd name="connsiteX42" fmla="*/ 125340 w 434872"/>
              <a:gd name="connsiteY42" fmla="*/ 264531 h 605705"/>
              <a:gd name="connsiteX43" fmla="*/ 175785 w 434872"/>
              <a:gd name="connsiteY43" fmla="*/ 353097 h 605705"/>
              <a:gd name="connsiteX44" fmla="*/ 286764 w 434872"/>
              <a:gd name="connsiteY44" fmla="*/ 322872 h 605705"/>
              <a:gd name="connsiteX45" fmla="*/ 301780 w 434872"/>
              <a:gd name="connsiteY45" fmla="*/ 239461 h 605705"/>
              <a:gd name="connsiteX46" fmla="*/ 303187 w 434872"/>
              <a:gd name="connsiteY46" fmla="*/ 227980 h 605705"/>
              <a:gd name="connsiteX47" fmla="*/ 216581 w 434872"/>
              <a:gd name="connsiteY47" fmla="*/ 118943 h 605705"/>
              <a:gd name="connsiteX48" fmla="*/ 347063 w 434872"/>
              <a:gd name="connsiteY48" fmla="*/ 119968 h 605705"/>
              <a:gd name="connsiteX49" fmla="*/ 354336 w 434872"/>
              <a:gd name="connsiteY49" fmla="*/ 134729 h 605705"/>
              <a:gd name="connsiteX50" fmla="*/ 347063 w 434872"/>
              <a:gd name="connsiteY50" fmla="*/ 144335 h 605705"/>
              <a:gd name="connsiteX51" fmla="*/ 346828 w 434872"/>
              <a:gd name="connsiteY51" fmla="*/ 178074 h 605705"/>
              <a:gd name="connsiteX52" fmla="*/ 345420 w 434872"/>
              <a:gd name="connsiteY52" fmla="*/ 197287 h 605705"/>
              <a:gd name="connsiteX53" fmla="*/ 322662 w 434872"/>
              <a:gd name="connsiteY53" fmla="*/ 220014 h 605705"/>
              <a:gd name="connsiteX54" fmla="*/ 320081 w 434872"/>
              <a:gd name="connsiteY54" fmla="*/ 239461 h 605705"/>
              <a:gd name="connsiteX55" fmla="*/ 306003 w 434872"/>
              <a:gd name="connsiteY55" fmla="*/ 326152 h 605705"/>
              <a:gd name="connsiteX56" fmla="*/ 191036 w 434872"/>
              <a:gd name="connsiteY56" fmla="*/ 385196 h 605705"/>
              <a:gd name="connsiteX57" fmla="*/ 118067 w 434872"/>
              <a:gd name="connsiteY57" fmla="*/ 296162 h 605705"/>
              <a:gd name="connsiteX58" fmla="*/ 102816 w 434872"/>
              <a:gd name="connsiteY58" fmla="*/ 230323 h 605705"/>
              <a:gd name="connsiteX59" fmla="*/ 94604 w 434872"/>
              <a:gd name="connsiteY59" fmla="*/ 226106 h 605705"/>
              <a:gd name="connsiteX60" fmla="*/ 76538 w 434872"/>
              <a:gd name="connsiteY60" fmla="*/ 143867 h 605705"/>
              <a:gd name="connsiteX61" fmla="*/ 77241 w 434872"/>
              <a:gd name="connsiteY61" fmla="*/ 134026 h 605705"/>
              <a:gd name="connsiteX62" fmla="*/ 86392 w 434872"/>
              <a:gd name="connsiteY62" fmla="*/ 131683 h 605705"/>
              <a:gd name="connsiteX63" fmla="*/ 86627 w 434872"/>
              <a:gd name="connsiteY63" fmla="*/ 132152 h 605705"/>
              <a:gd name="connsiteX64" fmla="*/ 216581 w 434872"/>
              <a:gd name="connsiteY64" fmla="*/ 118943 h 605705"/>
              <a:gd name="connsiteX65" fmla="*/ 210722 w 434872"/>
              <a:gd name="connsiteY65" fmla="*/ 19876 h 605705"/>
              <a:gd name="connsiteX66" fmla="*/ 201804 w 434872"/>
              <a:gd name="connsiteY66" fmla="*/ 21048 h 605705"/>
              <a:gd name="connsiteX67" fmla="*/ 209783 w 434872"/>
              <a:gd name="connsiteY67" fmla="*/ 22454 h 605705"/>
              <a:gd name="connsiteX68" fmla="*/ 210722 w 434872"/>
              <a:gd name="connsiteY68" fmla="*/ 19876 h 605705"/>
              <a:gd name="connsiteX69" fmla="*/ 197815 w 434872"/>
              <a:gd name="connsiteY69" fmla="*/ 2064 h 605705"/>
              <a:gd name="connsiteX70" fmla="*/ 374759 w 434872"/>
              <a:gd name="connsiteY70" fmla="*/ 90186 h 605705"/>
              <a:gd name="connsiteX71" fmla="*/ 378983 w 434872"/>
              <a:gd name="connsiteY71" fmla="*/ 99795 h 605705"/>
              <a:gd name="connsiteX72" fmla="*/ 394237 w 434872"/>
              <a:gd name="connsiteY72" fmla="*/ 175260 h 605705"/>
              <a:gd name="connsiteX73" fmla="*/ 396819 w 434872"/>
              <a:gd name="connsiteY73" fmla="*/ 213696 h 605705"/>
              <a:gd name="connsiteX74" fmla="*/ 395645 w 434872"/>
              <a:gd name="connsiteY74" fmla="*/ 240648 h 605705"/>
              <a:gd name="connsiteX75" fmla="*/ 400339 w 434872"/>
              <a:gd name="connsiteY75" fmla="*/ 247210 h 605705"/>
              <a:gd name="connsiteX76" fmla="*/ 398696 w 434872"/>
              <a:gd name="connsiteY76" fmla="*/ 256351 h 605705"/>
              <a:gd name="connsiteX77" fmla="*/ 385554 w 434872"/>
              <a:gd name="connsiteY77" fmla="*/ 261741 h 605705"/>
              <a:gd name="connsiteX78" fmla="*/ 378983 w 434872"/>
              <a:gd name="connsiteY78" fmla="*/ 242757 h 605705"/>
              <a:gd name="connsiteX79" fmla="*/ 377575 w 434872"/>
              <a:gd name="connsiteY79" fmla="*/ 194478 h 605705"/>
              <a:gd name="connsiteX80" fmla="*/ 368658 w 434872"/>
              <a:gd name="connsiteY80" fmla="*/ 109638 h 605705"/>
              <a:gd name="connsiteX81" fmla="*/ 359740 w 434872"/>
              <a:gd name="connsiteY81" fmla="*/ 107763 h 605705"/>
              <a:gd name="connsiteX82" fmla="*/ 355751 w 434872"/>
              <a:gd name="connsiteY82" fmla="*/ 106826 h 605705"/>
              <a:gd name="connsiteX83" fmla="*/ 340027 w 434872"/>
              <a:gd name="connsiteY83" fmla="*/ 104482 h 605705"/>
              <a:gd name="connsiteX84" fmla="*/ 312570 w 434872"/>
              <a:gd name="connsiteY84" fmla="*/ 102607 h 605705"/>
              <a:gd name="connsiteX85" fmla="*/ 235128 w 434872"/>
              <a:gd name="connsiteY85" fmla="*/ 99795 h 605705"/>
              <a:gd name="connsiteX86" fmla="*/ 40583 w 434872"/>
              <a:gd name="connsiteY86" fmla="*/ 109404 h 605705"/>
              <a:gd name="connsiteX87" fmla="*/ 33543 w 434872"/>
              <a:gd name="connsiteY87" fmla="*/ 92998 h 605705"/>
              <a:gd name="connsiteX88" fmla="*/ 34012 w 434872"/>
              <a:gd name="connsiteY88" fmla="*/ 90654 h 605705"/>
              <a:gd name="connsiteX89" fmla="*/ 62642 w 434872"/>
              <a:gd name="connsiteY89" fmla="*/ 75421 h 605705"/>
              <a:gd name="connsiteX90" fmla="*/ 109812 w 434872"/>
              <a:gd name="connsiteY90" fmla="*/ 48000 h 605705"/>
              <a:gd name="connsiteX91" fmla="*/ 197815 w 434872"/>
              <a:gd name="connsiteY91" fmla="*/ 2064 h 605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34872" h="605705">
                <a:moveTo>
                  <a:pt x="83809" y="581569"/>
                </a:moveTo>
                <a:cubicBezTo>
                  <a:pt x="83340" y="582272"/>
                  <a:pt x="82871" y="582975"/>
                  <a:pt x="82167" y="583678"/>
                </a:cubicBezTo>
                <a:cubicBezTo>
                  <a:pt x="84279" y="583678"/>
                  <a:pt x="86391" y="583912"/>
                  <a:pt x="88503" y="584146"/>
                </a:cubicBezTo>
                <a:cubicBezTo>
                  <a:pt x="87564" y="583209"/>
                  <a:pt x="86860" y="582506"/>
                  <a:pt x="86156" y="581569"/>
                </a:cubicBezTo>
                <a:cubicBezTo>
                  <a:pt x="85452" y="581569"/>
                  <a:pt x="84748" y="581569"/>
                  <a:pt x="83809" y="581569"/>
                </a:cubicBezTo>
                <a:close/>
                <a:moveTo>
                  <a:pt x="337748" y="504504"/>
                </a:moveTo>
                <a:cubicBezTo>
                  <a:pt x="328860" y="505236"/>
                  <a:pt x="319649" y="507872"/>
                  <a:pt x="314252" y="509630"/>
                </a:cubicBezTo>
                <a:cubicBezTo>
                  <a:pt x="306039" y="512442"/>
                  <a:pt x="297826" y="515723"/>
                  <a:pt x="290786" y="521112"/>
                </a:cubicBezTo>
                <a:cubicBezTo>
                  <a:pt x="287735" y="523221"/>
                  <a:pt x="285623" y="526033"/>
                  <a:pt x="283746" y="528611"/>
                </a:cubicBezTo>
                <a:cubicBezTo>
                  <a:pt x="294071" y="527674"/>
                  <a:pt x="306039" y="529548"/>
                  <a:pt x="314487" y="529783"/>
                </a:cubicBezTo>
                <a:cubicBezTo>
                  <a:pt x="323404" y="530251"/>
                  <a:pt x="374796" y="532829"/>
                  <a:pt x="359308" y="510802"/>
                </a:cubicBezTo>
                <a:cubicBezTo>
                  <a:pt x="355201" y="504944"/>
                  <a:pt x="346636" y="503772"/>
                  <a:pt x="337748" y="504504"/>
                </a:cubicBezTo>
                <a:close/>
                <a:moveTo>
                  <a:pt x="88737" y="451049"/>
                </a:moveTo>
                <a:cubicBezTo>
                  <a:pt x="82167" y="454798"/>
                  <a:pt x="76065" y="458547"/>
                  <a:pt x="70668" y="462999"/>
                </a:cubicBezTo>
                <a:cubicBezTo>
                  <a:pt x="71137" y="462765"/>
                  <a:pt x="71607" y="462531"/>
                  <a:pt x="72076" y="462296"/>
                </a:cubicBezTo>
                <a:cubicBezTo>
                  <a:pt x="77239" y="458313"/>
                  <a:pt x="82871" y="454798"/>
                  <a:pt x="88972" y="451517"/>
                </a:cubicBezTo>
                <a:cubicBezTo>
                  <a:pt x="88737" y="451517"/>
                  <a:pt x="88737" y="451283"/>
                  <a:pt x="88737" y="451049"/>
                </a:cubicBezTo>
                <a:close/>
                <a:moveTo>
                  <a:pt x="109153" y="408635"/>
                </a:moveTo>
                <a:cubicBezTo>
                  <a:pt x="111031" y="406292"/>
                  <a:pt x="114785" y="405589"/>
                  <a:pt x="117367" y="409104"/>
                </a:cubicBezTo>
                <a:cubicBezTo>
                  <a:pt x="137079" y="435583"/>
                  <a:pt x="162657" y="460890"/>
                  <a:pt x="195511" y="466280"/>
                </a:cubicBezTo>
                <a:cubicBezTo>
                  <a:pt x="185185" y="458313"/>
                  <a:pt x="179553" y="444253"/>
                  <a:pt x="180023" y="430428"/>
                </a:cubicBezTo>
                <a:cubicBezTo>
                  <a:pt x="180257" y="424570"/>
                  <a:pt x="180257" y="415431"/>
                  <a:pt x="187532" y="413556"/>
                </a:cubicBezTo>
                <a:cubicBezTo>
                  <a:pt x="188705" y="413322"/>
                  <a:pt x="189879" y="413322"/>
                  <a:pt x="191052" y="413322"/>
                </a:cubicBezTo>
                <a:cubicBezTo>
                  <a:pt x="191287" y="413087"/>
                  <a:pt x="191287" y="412853"/>
                  <a:pt x="191521" y="412619"/>
                </a:cubicBezTo>
                <a:cubicBezTo>
                  <a:pt x="197857" y="407229"/>
                  <a:pt x="211468" y="410510"/>
                  <a:pt x="219212" y="410510"/>
                </a:cubicBezTo>
                <a:cubicBezTo>
                  <a:pt x="227426" y="410510"/>
                  <a:pt x="235874" y="410510"/>
                  <a:pt x="244087" y="410744"/>
                </a:cubicBezTo>
                <a:cubicBezTo>
                  <a:pt x="250188" y="410744"/>
                  <a:pt x="253474" y="416134"/>
                  <a:pt x="252535" y="421523"/>
                </a:cubicBezTo>
                <a:cubicBezTo>
                  <a:pt x="250423" y="434646"/>
                  <a:pt x="244791" y="453626"/>
                  <a:pt x="233527" y="464405"/>
                </a:cubicBezTo>
                <a:cubicBezTo>
                  <a:pt x="260983" y="458313"/>
                  <a:pt x="285388" y="444487"/>
                  <a:pt x="295948" y="417305"/>
                </a:cubicBezTo>
                <a:cubicBezTo>
                  <a:pt x="297591" y="413087"/>
                  <a:pt x="302754" y="410979"/>
                  <a:pt x="306508" y="412150"/>
                </a:cubicBezTo>
                <a:cubicBezTo>
                  <a:pt x="317772" y="407698"/>
                  <a:pt x="335372" y="414025"/>
                  <a:pt x="344524" y="416837"/>
                </a:cubicBezTo>
                <a:cubicBezTo>
                  <a:pt x="367287" y="423632"/>
                  <a:pt x="392866" y="431599"/>
                  <a:pt x="412578" y="445190"/>
                </a:cubicBezTo>
                <a:cubicBezTo>
                  <a:pt x="456695" y="475184"/>
                  <a:pt x="421964" y="549935"/>
                  <a:pt x="420556" y="591411"/>
                </a:cubicBezTo>
                <a:cubicBezTo>
                  <a:pt x="420322" y="596331"/>
                  <a:pt x="416567" y="600549"/>
                  <a:pt x="411404" y="600549"/>
                </a:cubicBezTo>
                <a:cubicBezTo>
                  <a:pt x="276940" y="601018"/>
                  <a:pt x="141068" y="616015"/>
                  <a:pt x="7543" y="592582"/>
                </a:cubicBezTo>
                <a:cubicBezTo>
                  <a:pt x="3553" y="591879"/>
                  <a:pt x="737" y="587427"/>
                  <a:pt x="737" y="583678"/>
                </a:cubicBezTo>
                <a:cubicBezTo>
                  <a:pt x="737" y="546185"/>
                  <a:pt x="-3956" y="502132"/>
                  <a:pt x="10359" y="466514"/>
                </a:cubicBezTo>
                <a:cubicBezTo>
                  <a:pt x="24908" y="430662"/>
                  <a:pt x="77239" y="429490"/>
                  <a:pt x="104929" y="409104"/>
                </a:cubicBezTo>
                <a:cubicBezTo>
                  <a:pt x="106103" y="408167"/>
                  <a:pt x="107745" y="408167"/>
                  <a:pt x="109153" y="408635"/>
                </a:cubicBezTo>
                <a:close/>
                <a:moveTo>
                  <a:pt x="303187" y="227980"/>
                </a:moveTo>
                <a:cubicBezTo>
                  <a:pt x="271982" y="237352"/>
                  <a:pt x="237023" y="235009"/>
                  <a:pt x="205113" y="235947"/>
                </a:cubicBezTo>
                <a:cubicBezTo>
                  <a:pt x="180008" y="236649"/>
                  <a:pt x="146691" y="241101"/>
                  <a:pt x="119005" y="235244"/>
                </a:cubicBezTo>
                <a:cubicBezTo>
                  <a:pt x="119474" y="245319"/>
                  <a:pt x="122055" y="255159"/>
                  <a:pt x="125340" y="264531"/>
                </a:cubicBezTo>
                <a:cubicBezTo>
                  <a:pt x="136133" y="295927"/>
                  <a:pt x="151618" y="329901"/>
                  <a:pt x="175785" y="353097"/>
                </a:cubicBezTo>
                <a:cubicBezTo>
                  <a:pt x="210510" y="386133"/>
                  <a:pt x="265882" y="361297"/>
                  <a:pt x="286764" y="322872"/>
                </a:cubicBezTo>
                <a:cubicBezTo>
                  <a:pt x="301310" y="296396"/>
                  <a:pt x="300841" y="268749"/>
                  <a:pt x="301780" y="239461"/>
                </a:cubicBezTo>
                <a:cubicBezTo>
                  <a:pt x="301780" y="235947"/>
                  <a:pt x="302484" y="231963"/>
                  <a:pt x="303187" y="227980"/>
                </a:cubicBezTo>
                <a:close/>
                <a:moveTo>
                  <a:pt x="216581" y="118943"/>
                </a:moveTo>
                <a:cubicBezTo>
                  <a:pt x="260485" y="117098"/>
                  <a:pt x="304478" y="117625"/>
                  <a:pt x="347063" y="119968"/>
                </a:cubicBezTo>
                <a:cubicBezTo>
                  <a:pt x="355275" y="120437"/>
                  <a:pt x="357621" y="129574"/>
                  <a:pt x="354336" y="134729"/>
                </a:cubicBezTo>
                <a:cubicBezTo>
                  <a:pt x="355275" y="139181"/>
                  <a:pt x="352225" y="144569"/>
                  <a:pt x="347063" y="144335"/>
                </a:cubicBezTo>
                <a:cubicBezTo>
                  <a:pt x="354336" y="144804"/>
                  <a:pt x="346828" y="169405"/>
                  <a:pt x="346828" y="178074"/>
                </a:cubicBezTo>
                <a:cubicBezTo>
                  <a:pt x="346828" y="184635"/>
                  <a:pt x="347063" y="190961"/>
                  <a:pt x="345420" y="197287"/>
                </a:cubicBezTo>
                <a:cubicBezTo>
                  <a:pt x="343074" y="207128"/>
                  <a:pt x="332281" y="214859"/>
                  <a:pt x="322662" y="220014"/>
                </a:cubicBezTo>
                <a:cubicBezTo>
                  <a:pt x="321723" y="227512"/>
                  <a:pt x="320315" y="234775"/>
                  <a:pt x="320081" y="239461"/>
                </a:cubicBezTo>
                <a:cubicBezTo>
                  <a:pt x="320081" y="268280"/>
                  <a:pt x="320315" y="300145"/>
                  <a:pt x="306003" y="326152"/>
                </a:cubicBezTo>
                <a:cubicBezTo>
                  <a:pt x="286998" y="361297"/>
                  <a:pt x="234442" y="403471"/>
                  <a:pt x="191036" y="385196"/>
                </a:cubicBezTo>
                <a:cubicBezTo>
                  <a:pt x="154903" y="370200"/>
                  <a:pt x="133083" y="330369"/>
                  <a:pt x="118067" y="296162"/>
                </a:cubicBezTo>
                <a:cubicBezTo>
                  <a:pt x="110559" y="279058"/>
                  <a:pt x="99062" y="251879"/>
                  <a:pt x="102816" y="230323"/>
                </a:cubicBezTo>
                <a:cubicBezTo>
                  <a:pt x="100000" y="228917"/>
                  <a:pt x="97185" y="227746"/>
                  <a:pt x="94604" y="226106"/>
                </a:cubicBezTo>
                <a:cubicBezTo>
                  <a:pt x="68091" y="210408"/>
                  <a:pt x="74191" y="172451"/>
                  <a:pt x="76538" y="143867"/>
                </a:cubicBezTo>
                <a:cubicBezTo>
                  <a:pt x="73018" y="141289"/>
                  <a:pt x="72549" y="135432"/>
                  <a:pt x="77241" y="134026"/>
                </a:cubicBezTo>
                <a:cubicBezTo>
                  <a:pt x="77476" y="129574"/>
                  <a:pt x="84046" y="126997"/>
                  <a:pt x="86392" y="131683"/>
                </a:cubicBezTo>
                <a:cubicBezTo>
                  <a:pt x="86392" y="131917"/>
                  <a:pt x="86627" y="131917"/>
                  <a:pt x="86627" y="132152"/>
                </a:cubicBezTo>
                <a:cubicBezTo>
                  <a:pt x="128860" y="125006"/>
                  <a:pt x="172676" y="120788"/>
                  <a:pt x="216581" y="118943"/>
                </a:cubicBezTo>
                <a:close/>
                <a:moveTo>
                  <a:pt x="210722" y="19876"/>
                </a:moveTo>
                <a:cubicBezTo>
                  <a:pt x="207671" y="20110"/>
                  <a:pt x="204855" y="20579"/>
                  <a:pt x="201804" y="21048"/>
                </a:cubicBezTo>
                <a:cubicBezTo>
                  <a:pt x="204620" y="21517"/>
                  <a:pt x="207202" y="21985"/>
                  <a:pt x="209783" y="22454"/>
                </a:cubicBezTo>
                <a:cubicBezTo>
                  <a:pt x="210018" y="21517"/>
                  <a:pt x="210252" y="20579"/>
                  <a:pt x="210722" y="19876"/>
                </a:cubicBezTo>
                <a:close/>
                <a:moveTo>
                  <a:pt x="197815" y="2064"/>
                </a:moveTo>
                <a:cubicBezTo>
                  <a:pt x="266809" y="-12935"/>
                  <a:pt x="322427" y="57609"/>
                  <a:pt x="374759" y="90186"/>
                </a:cubicBezTo>
                <a:cubicBezTo>
                  <a:pt x="378749" y="92764"/>
                  <a:pt x="379687" y="96513"/>
                  <a:pt x="378983" y="99795"/>
                </a:cubicBezTo>
                <a:cubicBezTo>
                  <a:pt x="387901" y="123934"/>
                  <a:pt x="392125" y="149714"/>
                  <a:pt x="394237" y="175260"/>
                </a:cubicBezTo>
                <a:cubicBezTo>
                  <a:pt x="395410" y="188150"/>
                  <a:pt x="396349" y="201040"/>
                  <a:pt x="396819" y="213696"/>
                </a:cubicBezTo>
                <a:cubicBezTo>
                  <a:pt x="396819" y="216743"/>
                  <a:pt x="395645" y="231742"/>
                  <a:pt x="395645" y="240648"/>
                </a:cubicBezTo>
                <a:cubicBezTo>
                  <a:pt x="398461" y="241585"/>
                  <a:pt x="400808" y="243695"/>
                  <a:pt x="400339" y="247210"/>
                </a:cubicBezTo>
                <a:cubicBezTo>
                  <a:pt x="400104" y="250491"/>
                  <a:pt x="399635" y="253069"/>
                  <a:pt x="398696" y="256351"/>
                </a:cubicBezTo>
                <a:cubicBezTo>
                  <a:pt x="397288" y="261507"/>
                  <a:pt x="390482" y="265022"/>
                  <a:pt x="385554" y="261741"/>
                </a:cubicBezTo>
                <a:cubicBezTo>
                  <a:pt x="377810" y="256351"/>
                  <a:pt x="378983" y="252132"/>
                  <a:pt x="378983" y="242757"/>
                </a:cubicBezTo>
                <a:cubicBezTo>
                  <a:pt x="378749" y="226586"/>
                  <a:pt x="378514" y="210649"/>
                  <a:pt x="377575" y="194478"/>
                </a:cubicBezTo>
                <a:cubicBezTo>
                  <a:pt x="375933" y="166120"/>
                  <a:pt x="371474" y="137762"/>
                  <a:pt x="368658" y="109638"/>
                </a:cubicBezTo>
                <a:cubicBezTo>
                  <a:pt x="365607" y="111279"/>
                  <a:pt x="361852" y="110341"/>
                  <a:pt x="359740" y="107763"/>
                </a:cubicBezTo>
                <a:cubicBezTo>
                  <a:pt x="359036" y="107529"/>
                  <a:pt x="357863" y="107294"/>
                  <a:pt x="355751" y="106826"/>
                </a:cubicBezTo>
                <a:cubicBezTo>
                  <a:pt x="350588" y="105888"/>
                  <a:pt x="345190" y="104951"/>
                  <a:pt x="340027" y="104482"/>
                </a:cubicBezTo>
                <a:cubicBezTo>
                  <a:pt x="330875" y="103544"/>
                  <a:pt x="321723" y="103076"/>
                  <a:pt x="312570" y="102607"/>
                </a:cubicBezTo>
                <a:cubicBezTo>
                  <a:pt x="286756" y="101670"/>
                  <a:pt x="260942" y="99795"/>
                  <a:pt x="235128" y="99795"/>
                </a:cubicBezTo>
                <a:cubicBezTo>
                  <a:pt x="170592" y="99326"/>
                  <a:pt x="104649" y="97685"/>
                  <a:pt x="40583" y="109404"/>
                </a:cubicBezTo>
                <a:cubicBezTo>
                  <a:pt x="30257" y="111279"/>
                  <a:pt x="25329" y="96982"/>
                  <a:pt x="33543" y="92998"/>
                </a:cubicBezTo>
                <a:cubicBezTo>
                  <a:pt x="33543" y="92061"/>
                  <a:pt x="33543" y="91357"/>
                  <a:pt x="34012" y="90654"/>
                </a:cubicBezTo>
                <a:cubicBezTo>
                  <a:pt x="40583" y="81749"/>
                  <a:pt x="53255" y="80342"/>
                  <a:pt x="62642" y="75421"/>
                </a:cubicBezTo>
                <a:cubicBezTo>
                  <a:pt x="78835" y="66983"/>
                  <a:pt x="94323" y="57375"/>
                  <a:pt x="109812" y="48000"/>
                </a:cubicBezTo>
                <a:cubicBezTo>
                  <a:pt x="136565" y="31594"/>
                  <a:pt x="166603" y="8861"/>
                  <a:pt x="197815" y="20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endParaRPr>
          </a:p>
        </p:txBody>
      </p:sp>
      <p:sp>
        <p:nvSpPr>
          <p:cNvPr id="72" name="文本框 71"/>
          <p:cNvSpPr txBox="1"/>
          <p:nvPr/>
        </p:nvSpPr>
        <p:spPr>
          <a:xfrm>
            <a:off x="1434247" y="5813725"/>
            <a:ext cx="9447530" cy="368300"/>
          </a:xfrm>
          <a:prstGeom prst="rect">
            <a:avLst/>
          </a:prstGeom>
          <a:noFill/>
        </p:spPr>
        <p:txBody>
          <a:bodyPr wrap="none" rtlCol="0">
            <a:spAutoFit/>
          </a:bodyPr>
          <a:lstStyle/>
          <a:p>
            <a:pPr algn="ctr"/>
            <a:r>
              <a:rPr lang="zh-CN" altLang="en-US" b="1" spc="300" dirty="0">
                <a:solidFill>
                  <a:srgbClr val="122E66"/>
                </a:solidFill>
                <a:latin typeface="+mn-ea"/>
                <a:cs typeface="+mn-ea"/>
              </a:rPr>
              <a:t> 小组成员：刘世隆、刘子芃、柳子涵、宋雨轩、田一博、孙学圣、艾孜艾尔江</a:t>
            </a:r>
            <a:endParaRPr lang="zh-CN" altLang="en-US" b="1" spc="300" dirty="0">
              <a:solidFill>
                <a:srgbClr val="122E66"/>
              </a:solidFill>
              <a:latin typeface="+mn-ea"/>
              <a:cs typeface="+mn-ea"/>
            </a:endParaRPr>
          </a:p>
        </p:txBody>
      </p:sp>
      <p:pic>
        <p:nvPicPr>
          <p:cNvPr id="2" name="图片 1" descr="公司名称&#10;&#10;低可信度描述已自动生成"/>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915113" y="453383"/>
            <a:ext cx="3996849" cy="205376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ṡ1íḋe"/>
          <p:cNvSpPr/>
          <p:nvPr/>
        </p:nvSpPr>
        <p:spPr>
          <a:xfrm>
            <a:off x="9108" y="0"/>
            <a:ext cx="12173784" cy="3423173"/>
          </a:xfrm>
          <a:prstGeom prst="rect">
            <a:avLst/>
          </a:prstGeom>
          <a:solidFill>
            <a:srgbClr val="122E66"/>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24" name="iš1íḍè"/>
          <p:cNvSpPr/>
          <p:nvPr/>
        </p:nvSpPr>
        <p:spPr>
          <a:xfrm>
            <a:off x="274736" y="451250"/>
            <a:ext cx="11608824" cy="5955500"/>
          </a:xfrm>
          <a:prstGeom prst="rect">
            <a:avLst/>
          </a:prstGeom>
          <a:solidFill>
            <a:schemeClr val="bg1"/>
          </a:solidFill>
          <a:ln>
            <a:noFill/>
          </a:ln>
          <a:effectLst>
            <a:outerShdw blurRad="1016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cs typeface="+mn-ea"/>
            </a:endParaRPr>
          </a:p>
        </p:txBody>
      </p:sp>
      <p:sp>
        <p:nvSpPr>
          <p:cNvPr id="3" name="iṡ1íḋe"/>
          <p:cNvSpPr/>
          <p:nvPr/>
        </p:nvSpPr>
        <p:spPr>
          <a:xfrm>
            <a:off x="481360" y="696817"/>
            <a:ext cx="11229278" cy="5464366"/>
          </a:xfrm>
          <a:prstGeom prst="rect">
            <a:avLst/>
          </a:prstGeom>
          <a:solidFill>
            <a:schemeClr val="bg1"/>
          </a:solidFill>
          <a:ln w="22225">
            <a:solidFill>
              <a:srgbClr val="0E419C"/>
            </a:soli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6" name="文本框 5"/>
          <p:cNvSpPr txBox="1"/>
          <p:nvPr/>
        </p:nvSpPr>
        <p:spPr>
          <a:xfrm>
            <a:off x="4945685" y="1557545"/>
            <a:ext cx="2127505" cy="369332"/>
          </a:xfrm>
          <a:prstGeom prst="rect">
            <a:avLst/>
          </a:prstGeom>
          <a:noFill/>
        </p:spPr>
        <p:txBody>
          <a:bodyPr wrap="none" rtlCol="0">
            <a:spAutoFit/>
          </a:bodyPr>
          <a:lstStyle/>
          <a:p>
            <a:r>
              <a:rPr lang="en-US" altLang="zh-CN" b="1" spc="600" dirty="0">
                <a:solidFill>
                  <a:schemeClr val="bg1">
                    <a:lumMod val="95000"/>
                  </a:schemeClr>
                </a:solidFill>
                <a:latin typeface="Perpetua Titling MT" panose="02020502060505020804" pitchFamily="18" charset="0"/>
                <a:cs typeface="+mn-ea"/>
              </a:rPr>
              <a:t>CONTENTS</a:t>
            </a:r>
            <a:endParaRPr lang="zh-CN" altLang="en-US" b="1" spc="600" dirty="0">
              <a:solidFill>
                <a:schemeClr val="bg1">
                  <a:lumMod val="95000"/>
                </a:schemeClr>
              </a:solidFill>
              <a:latin typeface="Perpetua Titling MT" panose="02020502060505020804" pitchFamily="18" charset="0"/>
              <a:cs typeface="+mn-ea"/>
            </a:endParaRPr>
          </a:p>
        </p:txBody>
      </p:sp>
      <p:sp>
        <p:nvSpPr>
          <p:cNvPr id="5" name="文本框 4"/>
          <p:cNvSpPr txBox="1"/>
          <p:nvPr/>
        </p:nvSpPr>
        <p:spPr>
          <a:xfrm>
            <a:off x="5102779" y="873760"/>
            <a:ext cx="1986441" cy="769441"/>
          </a:xfrm>
          <a:prstGeom prst="rect">
            <a:avLst/>
          </a:prstGeom>
          <a:noFill/>
        </p:spPr>
        <p:txBody>
          <a:bodyPr wrap="none" rtlCol="0">
            <a:spAutoFit/>
          </a:bodyPr>
          <a:lstStyle/>
          <a:p>
            <a:pPr algn="ctr"/>
            <a:r>
              <a:rPr lang="zh-CN" altLang="en-US" sz="4400" b="1" spc="2500" dirty="0">
                <a:solidFill>
                  <a:srgbClr val="122E66"/>
                </a:solidFill>
                <a:latin typeface="+mn-ea"/>
                <a:cs typeface="+mn-ea"/>
              </a:rPr>
              <a:t>目录</a:t>
            </a:r>
            <a:endParaRPr lang="zh-CN" altLang="en-US" sz="4400" b="1" spc="2500" dirty="0">
              <a:solidFill>
                <a:srgbClr val="122E66"/>
              </a:solidFill>
              <a:latin typeface="+mn-ea"/>
              <a:cs typeface="+mn-ea"/>
            </a:endParaRPr>
          </a:p>
        </p:txBody>
      </p:sp>
      <p:grpSp>
        <p:nvGrpSpPr>
          <p:cNvPr id="10" name="组合 9"/>
          <p:cNvGrpSpPr/>
          <p:nvPr>
            <p:custDataLst>
              <p:tags r:id="rId1"/>
            </p:custDataLst>
          </p:nvPr>
        </p:nvGrpSpPr>
        <p:grpSpPr>
          <a:xfrm>
            <a:off x="1678322" y="2075977"/>
            <a:ext cx="3388998" cy="1129408"/>
            <a:chOff x="2377440" y="2130511"/>
            <a:chExt cx="2741369" cy="913580"/>
          </a:xfrm>
        </p:grpSpPr>
        <p:sp>
          <p:nvSpPr>
            <p:cNvPr id="7" name="矩形: 圆角 6"/>
            <p:cNvSpPr/>
            <p:nvPr>
              <p:custDataLst>
                <p:tags r:id="rId2"/>
              </p:custDataLst>
            </p:nvPr>
          </p:nvSpPr>
          <p:spPr>
            <a:xfrm>
              <a:off x="2377440" y="2397760"/>
              <a:ext cx="2741369" cy="646331"/>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8" name="文本框 7"/>
            <p:cNvSpPr txBox="1"/>
            <p:nvPr>
              <p:custDataLst>
                <p:tags r:id="rId3"/>
              </p:custDataLst>
            </p:nvPr>
          </p:nvSpPr>
          <p:spPr>
            <a:xfrm>
              <a:off x="2377440" y="2130511"/>
              <a:ext cx="607859" cy="521871"/>
            </a:xfrm>
            <a:prstGeom prst="rect">
              <a:avLst/>
            </a:prstGeom>
            <a:noFill/>
          </p:spPr>
          <p:txBody>
            <a:bodyPr wrap="square" rtlCol="0">
              <a:spAutoFit/>
            </a:bodyPr>
            <a:lstStyle/>
            <a:p>
              <a:r>
                <a:rPr lang="en-US" altLang="zh-CN" sz="3600" dirty="0">
                  <a:solidFill>
                    <a:srgbClr val="0E419C">
                      <a:alpha val="62000"/>
                    </a:srgbClr>
                  </a:solidFill>
                  <a:latin typeface="Impact" panose="020B0806030902050204" pitchFamily="34" charset="0"/>
                  <a:cs typeface="+mn-ea"/>
                </a:rPr>
                <a:t>01</a:t>
              </a:r>
              <a:endParaRPr lang="zh-CN" altLang="en-US" sz="3600" dirty="0">
                <a:solidFill>
                  <a:srgbClr val="0E419C">
                    <a:alpha val="62000"/>
                  </a:srgbClr>
                </a:solidFill>
                <a:latin typeface="Impact" panose="020B0806030902050204" pitchFamily="34" charset="0"/>
                <a:cs typeface="+mn-ea"/>
              </a:endParaRPr>
            </a:p>
          </p:txBody>
        </p:sp>
        <p:sp>
          <p:nvSpPr>
            <p:cNvPr id="9" name="文本框 8"/>
            <p:cNvSpPr txBox="1"/>
            <p:nvPr>
              <p:custDataLst>
                <p:tags r:id="rId4"/>
              </p:custDataLst>
            </p:nvPr>
          </p:nvSpPr>
          <p:spPr>
            <a:xfrm>
              <a:off x="2854968" y="2488874"/>
              <a:ext cx="2089739" cy="472290"/>
            </a:xfrm>
            <a:prstGeom prst="rect">
              <a:avLst/>
            </a:prstGeom>
            <a:noFill/>
          </p:spPr>
          <p:txBody>
            <a:bodyPr wrap="square" rtlCol="0">
              <a:noAutofit/>
            </a:bodyPr>
            <a:lstStyle/>
            <a:p>
              <a:r>
                <a:rPr lang="zh-CN" altLang="en-US" spc="300" dirty="0">
                  <a:latin typeface="+mn-ea"/>
                  <a:cs typeface="+mn-ea"/>
                </a:rPr>
                <a:t>设计任务</a:t>
              </a:r>
              <a:endParaRPr lang="zh-CN" altLang="en-US" spc="300" dirty="0">
                <a:latin typeface="+mn-ea"/>
                <a:cs typeface="+mn-ea"/>
              </a:endParaRPr>
            </a:p>
          </p:txBody>
        </p:sp>
      </p:grpSp>
      <p:grpSp>
        <p:nvGrpSpPr>
          <p:cNvPr id="30" name="组合 29"/>
          <p:cNvGrpSpPr/>
          <p:nvPr>
            <p:custDataLst>
              <p:tags r:id="rId5"/>
            </p:custDataLst>
          </p:nvPr>
        </p:nvGrpSpPr>
        <p:grpSpPr>
          <a:xfrm>
            <a:off x="1678321" y="4130024"/>
            <a:ext cx="3565524" cy="1129408"/>
            <a:chOff x="2377440" y="2130511"/>
            <a:chExt cx="2884161" cy="913580"/>
          </a:xfrm>
        </p:grpSpPr>
        <p:sp>
          <p:nvSpPr>
            <p:cNvPr id="31" name="矩形: 圆角 30"/>
            <p:cNvSpPr/>
            <p:nvPr>
              <p:custDataLst>
                <p:tags r:id="rId6"/>
              </p:custDataLst>
            </p:nvPr>
          </p:nvSpPr>
          <p:spPr>
            <a:xfrm>
              <a:off x="2377440" y="2397760"/>
              <a:ext cx="2741369" cy="646331"/>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32" name="文本框 31"/>
            <p:cNvSpPr txBox="1"/>
            <p:nvPr>
              <p:custDataLst>
                <p:tags r:id="rId7"/>
              </p:custDataLst>
            </p:nvPr>
          </p:nvSpPr>
          <p:spPr>
            <a:xfrm>
              <a:off x="2377440" y="2130511"/>
              <a:ext cx="570069" cy="521871"/>
            </a:xfrm>
            <a:prstGeom prst="rect">
              <a:avLst/>
            </a:prstGeom>
            <a:noFill/>
          </p:spPr>
          <p:txBody>
            <a:bodyPr wrap="square" rtlCol="0">
              <a:spAutoFit/>
            </a:bodyPr>
            <a:lstStyle/>
            <a:p>
              <a:r>
                <a:rPr lang="en-US" altLang="zh-CN" sz="3600" dirty="0">
                  <a:solidFill>
                    <a:srgbClr val="0E419C">
                      <a:alpha val="62000"/>
                    </a:srgbClr>
                  </a:solidFill>
                  <a:latin typeface="Impact" panose="020B0806030902050204" pitchFamily="34" charset="0"/>
                  <a:cs typeface="+mn-ea"/>
                </a:rPr>
                <a:t>03</a:t>
              </a:r>
              <a:endParaRPr lang="zh-CN" altLang="en-US" sz="3600" dirty="0">
                <a:solidFill>
                  <a:srgbClr val="0E419C">
                    <a:alpha val="62000"/>
                  </a:srgbClr>
                </a:solidFill>
                <a:latin typeface="Impact" panose="020B0806030902050204" pitchFamily="34" charset="0"/>
                <a:cs typeface="+mn-ea"/>
              </a:endParaRPr>
            </a:p>
          </p:txBody>
        </p:sp>
        <p:sp>
          <p:nvSpPr>
            <p:cNvPr id="33" name="文本框 32"/>
            <p:cNvSpPr txBox="1"/>
            <p:nvPr>
              <p:custDataLst>
                <p:tags r:id="rId8"/>
              </p:custDataLst>
            </p:nvPr>
          </p:nvSpPr>
          <p:spPr>
            <a:xfrm>
              <a:off x="2738024" y="2498800"/>
              <a:ext cx="2523577" cy="521871"/>
            </a:xfrm>
            <a:prstGeom prst="rect">
              <a:avLst/>
            </a:prstGeom>
            <a:noFill/>
          </p:spPr>
          <p:txBody>
            <a:bodyPr wrap="square" rtlCol="0">
              <a:spAutoFit/>
            </a:bodyPr>
            <a:lstStyle/>
            <a:p>
              <a:pPr>
                <a:lnSpc>
                  <a:spcPct val="100000"/>
                </a:lnSpc>
              </a:pPr>
              <a:r>
                <a:rPr lang="zh-CN" altLang="en-US" spc="300" dirty="0">
                  <a:latin typeface="+mn-ea"/>
                  <a:cs typeface="+mn-ea"/>
                </a:rPr>
                <a:t>双圆弧斜齿齿轮泵的</a:t>
              </a:r>
              <a:endParaRPr lang="zh-CN" altLang="en-US" spc="300" dirty="0">
                <a:latin typeface="+mn-ea"/>
                <a:cs typeface="+mn-ea"/>
              </a:endParaRPr>
            </a:p>
            <a:p>
              <a:pPr>
                <a:lnSpc>
                  <a:spcPct val="100000"/>
                </a:lnSpc>
              </a:pPr>
              <a:r>
                <a:rPr lang="zh-CN" altLang="en-US" spc="300" dirty="0">
                  <a:latin typeface="+mn-ea"/>
                  <a:cs typeface="+mn-ea"/>
                </a:rPr>
                <a:t>齿形及齿轮参数设计</a:t>
              </a:r>
              <a:endParaRPr lang="zh-CN" altLang="en-US" spc="300" dirty="0">
                <a:latin typeface="+mn-ea"/>
                <a:cs typeface="+mn-ea"/>
              </a:endParaRPr>
            </a:p>
          </p:txBody>
        </p:sp>
      </p:grpSp>
      <p:grpSp>
        <p:nvGrpSpPr>
          <p:cNvPr id="35" name="组合 34"/>
          <p:cNvGrpSpPr/>
          <p:nvPr>
            <p:custDataLst>
              <p:tags r:id="rId9"/>
            </p:custDataLst>
          </p:nvPr>
        </p:nvGrpSpPr>
        <p:grpSpPr>
          <a:xfrm>
            <a:off x="7131576" y="2042377"/>
            <a:ext cx="3388998" cy="1129408"/>
            <a:chOff x="2377440" y="2130511"/>
            <a:chExt cx="2741369" cy="913580"/>
          </a:xfrm>
        </p:grpSpPr>
        <p:sp>
          <p:nvSpPr>
            <p:cNvPr id="36" name="矩形: 圆角 35"/>
            <p:cNvSpPr/>
            <p:nvPr>
              <p:custDataLst>
                <p:tags r:id="rId10"/>
              </p:custDataLst>
            </p:nvPr>
          </p:nvSpPr>
          <p:spPr>
            <a:xfrm>
              <a:off x="2377440" y="2397760"/>
              <a:ext cx="2741369" cy="646331"/>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37" name="文本框 36"/>
            <p:cNvSpPr txBox="1"/>
            <p:nvPr>
              <p:custDataLst>
                <p:tags r:id="rId11"/>
              </p:custDataLst>
            </p:nvPr>
          </p:nvSpPr>
          <p:spPr>
            <a:xfrm>
              <a:off x="2377440" y="2130511"/>
              <a:ext cx="559267" cy="521871"/>
            </a:xfrm>
            <a:prstGeom prst="rect">
              <a:avLst/>
            </a:prstGeom>
            <a:noFill/>
          </p:spPr>
          <p:txBody>
            <a:bodyPr wrap="square" rtlCol="0">
              <a:spAutoFit/>
            </a:bodyPr>
            <a:lstStyle/>
            <a:p>
              <a:r>
                <a:rPr lang="en-US" altLang="zh-CN" sz="3600" dirty="0">
                  <a:solidFill>
                    <a:srgbClr val="0E419C">
                      <a:alpha val="62000"/>
                    </a:srgbClr>
                  </a:solidFill>
                  <a:latin typeface="Impact" panose="020B0806030902050204" pitchFamily="34" charset="0"/>
                  <a:cs typeface="+mn-ea"/>
                </a:rPr>
                <a:t>02</a:t>
              </a:r>
              <a:endParaRPr lang="zh-CN" altLang="en-US" sz="3600" dirty="0">
                <a:solidFill>
                  <a:srgbClr val="0E419C">
                    <a:alpha val="62000"/>
                  </a:srgbClr>
                </a:solidFill>
                <a:latin typeface="Impact" panose="020B0806030902050204" pitchFamily="34" charset="0"/>
                <a:cs typeface="+mn-ea"/>
              </a:endParaRPr>
            </a:p>
          </p:txBody>
        </p:sp>
        <p:sp>
          <p:nvSpPr>
            <p:cNvPr id="38" name="文本框 37"/>
            <p:cNvSpPr txBox="1"/>
            <p:nvPr>
              <p:custDataLst>
                <p:tags r:id="rId12"/>
              </p:custDataLst>
            </p:nvPr>
          </p:nvSpPr>
          <p:spPr>
            <a:xfrm>
              <a:off x="2805313" y="2489554"/>
              <a:ext cx="2166589" cy="521871"/>
            </a:xfrm>
            <a:prstGeom prst="rect">
              <a:avLst/>
            </a:prstGeom>
            <a:noFill/>
          </p:spPr>
          <p:txBody>
            <a:bodyPr wrap="square" rtlCol="0">
              <a:spAutoFit/>
            </a:bodyPr>
            <a:lstStyle/>
            <a:p>
              <a:r>
                <a:rPr lang="zh-CN" altLang="en-US" spc="300" dirty="0">
                  <a:latin typeface="+mn-ea"/>
                  <a:cs typeface="+mn-ea"/>
                </a:rPr>
                <a:t>国内外研究现状</a:t>
              </a:r>
              <a:r>
                <a:rPr lang="zh-CN" altLang="en-US" spc="300" dirty="0">
                  <a:latin typeface="+mn-ea"/>
                  <a:cs typeface="+mn-ea"/>
                </a:rPr>
                <a:t>及</a:t>
              </a:r>
              <a:endParaRPr lang="zh-CN" altLang="en-US" spc="300" dirty="0">
                <a:latin typeface="+mn-ea"/>
                <a:cs typeface="+mn-ea"/>
              </a:endParaRPr>
            </a:p>
            <a:p>
              <a:r>
                <a:rPr lang="zh-CN" altLang="en-US" spc="300" dirty="0">
                  <a:latin typeface="+mn-ea"/>
                  <a:cs typeface="+mn-ea"/>
                </a:rPr>
                <a:t>本文主要研究内容</a:t>
              </a:r>
              <a:endParaRPr lang="zh-CN" altLang="en-US" spc="300" dirty="0">
                <a:latin typeface="+mn-ea"/>
                <a:cs typeface="+mn-ea"/>
              </a:endParaRPr>
            </a:p>
          </p:txBody>
        </p:sp>
      </p:grpSp>
      <p:grpSp>
        <p:nvGrpSpPr>
          <p:cNvPr id="39" name="组合 38"/>
          <p:cNvGrpSpPr/>
          <p:nvPr>
            <p:custDataLst>
              <p:tags r:id="rId13"/>
            </p:custDataLst>
          </p:nvPr>
        </p:nvGrpSpPr>
        <p:grpSpPr>
          <a:xfrm>
            <a:off x="6936740" y="4135755"/>
            <a:ext cx="4284980" cy="1129665"/>
            <a:chOff x="2377440" y="2130511"/>
            <a:chExt cx="3301105" cy="913580"/>
          </a:xfrm>
        </p:grpSpPr>
        <p:sp>
          <p:nvSpPr>
            <p:cNvPr id="40" name="矩形: 圆角 39"/>
            <p:cNvSpPr/>
            <p:nvPr>
              <p:custDataLst>
                <p:tags r:id="rId14"/>
              </p:custDataLst>
            </p:nvPr>
          </p:nvSpPr>
          <p:spPr>
            <a:xfrm>
              <a:off x="2377440" y="2397760"/>
              <a:ext cx="2741369" cy="646331"/>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41" name="文本框 40"/>
            <p:cNvSpPr txBox="1"/>
            <p:nvPr>
              <p:custDataLst>
                <p:tags r:id="rId15"/>
              </p:custDataLst>
            </p:nvPr>
          </p:nvSpPr>
          <p:spPr>
            <a:xfrm>
              <a:off x="2377440" y="2130511"/>
              <a:ext cx="557917" cy="521752"/>
            </a:xfrm>
            <a:prstGeom prst="rect">
              <a:avLst/>
            </a:prstGeom>
            <a:noFill/>
          </p:spPr>
          <p:txBody>
            <a:bodyPr wrap="square" rtlCol="0">
              <a:spAutoFit/>
            </a:bodyPr>
            <a:lstStyle/>
            <a:p>
              <a:r>
                <a:rPr lang="en-US" altLang="zh-CN" sz="3600" dirty="0">
                  <a:solidFill>
                    <a:srgbClr val="0E419C">
                      <a:alpha val="62000"/>
                    </a:srgbClr>
                  </a:solidFill>
                  <a:latin typeface="Impact" panose="020B0806030902050204" pitchFamily="34" charset="0"/>
                  <a:cs typeface="+mn-ea"/>
                </a:rPr>
                <a:t>04</a:t>
              </a:r>
              <a:endParaRPr lang="zh-CN" altLang="en-US" sz="3600" dirty="0">
                <a:solidFill>
                  <a:srgbClr val="0E419C">
                    <a:alpha val="62000"/>
                  </a:srgbClr>
                </a:solidFill>
                <a:latin typeface="Impact" panose="020B0806030902050204" pitchFamily="34" charset="0"/>
                <a:cs typeface="+mn-ea"/>
              </a:endParaRPr>
            </a:p>
          </p:txBody>
        </p:sp>
        <p:sp>
          <p:nvSpPr>
            <p:cNvPr id="42" name="文本框 41"/>
            <p:cNvSpPr txBox="1"/>
            <p:nvPr>
              <p:custDataLst>
                <p:tags r:id="rId16"/>
              </p:custDataLst>
            </p:nvPr>
          </p:nvSpPr>
          <p:spPr>
            <a:xfrm>
              <a:off x="2527624" y="2494758"/>
              <a:ext cx="3150921" cy="538079"/>
            </a:xfrm>
            <a:prstGeom prst="rect">
              <a:avLst/>
            </a:prstGeom>
            <a:noFill/>
          </p:spPr>
          <p:txBody>
            <a:bodyPr wrap="square" rtlCol="0">
              <a:noAutofit/>
            </a:bodyPr>
            <a:lstStyle/>
            <a:p>
              <a:r>
                <a:rPr lang="zh-CN" altLang="en-US" spc="300" dirty="0">
                  <a:latin typeface="+mn-ea"/>
                  <a:cs typeface="+mn-ea"/>
                </a:rPr>
                <a:t>双圆弧斜齿齿轮液压泵</a:t>
              </a:r>
              <a:endParaRPr lang="zh-CN" altLang="en-US" spc="300" dirty="0">
                <a:latin typeface="+mn-ea"/>
                <a:cs typeface="+mn-ea"/>
              </a:endParaRPr>
            </a:p>
            <a:p>
              <a:r>
                <a:rPr lang="zh-CN" altLang="en-US" spc="300" dirty="0">
                  <a:latin typeface="+mn-ea"/>
                  <a:cs typeface="+mn-ea"/>
                </a:rPr>
                <a:t>轴向力与输出压力变化规律</a:t>
              </a:r>
              <a:endParaRPr lang="zh-CN" altLang="en-US" spc="300" dirty="0">
                <a:latin typeface="+mn-ea"/>
                <a:cs typeface="+mn-ea"/>
              </a:endParaRPr>
            </a:p>
          </p:txBody>
        </p:sp>
      </p:grpSp>
      <p:pic>
        <p:nvPicPr>
          <p:cNvPr id="29" name="图片 28"/>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0168854" y="888009"/>
            <a:ext cx="1181991" cy="118663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960642" y="2497257"/>
            <a:ext cx="8323142" cy="1816661"/>
            <a:chOff x="2377440" y="2692400"/>
            <a:chExt cx="2741369" cy="589280"/>
          </a:xfrm>
        </p:grpSpPr>
        <p:sp>
          <p:nvSpPr>
            <p:cNvPr id="26" name="矩形: 圆角 25"/>
            <p:cNvSpPr/>
            <p:nvPr/>
          </p:nvSpPr>
          <p:spPr>
            <a:xfrm>
              <a:off x="2377440" y="2692400"/>
              <a:ext cx="2741369" cy="589280"/>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28" name="文本框 27"/>
            <p:cNvSpPr txBox="1"/>
            <p:nvPr/>
          </p:nvSpPr>
          <p:spPr>
            <a:xfrm>
              <a:off x="3313378" y="2879840"/>
              <a:ext cx="1068956" cy="229254"/>
            </a:xfrm>
            <a:prstGeom prst="rect">
              <a:avLst/>
            </a:prstGeom>
            <a:noFill/>
          </p:spPr>
          <p:txBody>
            <a:bodyPr wrap="square" rtlCol="0">
              <a:spAutoFit/>
            </a:bodyPr>
            <a:lstStyle/>
            <a:p>
              <a:r>
                <a:rPr lang="zh-CN" altLang="en-US" sz="4000" spc="300" dirty="0">
                  <a:latin typeface="+mn-ea"/>
                  <a:cs typeface="+mn-ea"/>
                  <a:sym typeface="+mn-ea"/>
                </a:rPr>
                <a:t>设计任务</a:t>
              </a:r>
              <a:endParaRPr lang="zh-CN" altLang="en-US" sz="4000" spc="600" dirty="0">
                <a:solidFill>
                  <a:srgbClr val="122E66"/>
                </a:solidFill>
                <a:latin typeface="思源黑体 CN Heavy" panose="020B0A00000000000000" pitchFamily="34" charset="-122"/>
                <a:ea typeface="思源黑体 CN Heavy" panose="020B0A00000000000000" pitchFamily="34" charset="-122"/>
                <a:cs typeface="+mn-ea"/>
              </a:endParaRPr>
            </a:p>
          </p:txBody>
        </p:sp>
      </p:grpSp>
      <p:sp>
        <p:nvSpPr>
          <p:cNvPr id="34" name="文本框 33"/>
          <p:cNvSpPr txBox="1"/>
          <p:nvPr/>
        </p:nvSpPr>
        <p:spPr>
          <a:xfrm>
            <a:off x="1960642" y="2121849"/>
            <a:ext cx="2587647" cy="2646878"/>
          </a:xfrm>
          <a:prstGeom prst="rect">
            <a:avLst/>
          </a:prstGeom>
          <a:noFill/>
          <a:ln>
            <a:noFill/>
          </a:ln>
        </p:spPr>
        <p:txBody>
          <a:bodyPr wrap="square" rtlCol="0">
            <a:spAutoFit/>
          </a:bodyPr>
          <a:lstStyle/>
          <a:p>
            <a:r>
              <a:rPr lang="en-US" altLang="zh-CN" sz="16600" dirty="0">
                <a:solidFill>
                  <a:schemeClr val="bg1">
                    <a:lumMod val="85000"/>
                    <a:alpha val="62000"/>
                  </a:schemeClr>
                </a:solidFill>
                <a:latin typeface="Impact" panose="020B0806030902050204" pitchFamily="34" charset="0"/>
                <a:cs typeface="+mn-ea"/>
              </a:rPr>
              <a:t>01</a:t>
            </a:r>
            <a:endParaRPr lang="zh-CN" altLang="en-US" sz="16600" dirty="0">
              <a:solidFill>
                <a:schemeClr val="bg1">
                  <a:lumMod val="85000"/>
                  <a:alpha val="62000"/>
                </a:schemeClr>
              </a:solidFill>
              <a:latin typeface="Impact" panose="020B0806030902050204" pitchFamily="34" charset="0"/>
              <a:cs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82158" y="407131"/>
            <a:ext cx="11608824" cy="5955500"/>
          </a:xfrm>
          <a:prstGeom prst="rect">
            <a:avLst/>
          </a:prstGeom>
          <a:solidFill>
            <a:schemeClr val="bg1"/>
          </a:solidFill>
          <a:ln>
            <a:noFill/>
          </a:ln>
          <a:effectLst>
            <a:outerShdw blurRad="1016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3828219" cy="429895"/>
            <a:chOff x="707718" y="813975"/>
            <a:chExt cx="3828219"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微软雅黑" panose="020B0503020204020204" pitchFamily="34" charset="-122"/>
                  <a:ea typeface="微软雅黑" panose="020B0503020204020204" pitchFamily="34" charset="-122"/>
                  <a:cs typeface="+mn-ea"/>
                </a:rPr>
                <a:t>设计要求</a:t>
              </a:r>
              <a:endParaRPr kumimoji="0" lang="zh-CN" altLang="en-US" sz="2200" b="1" i="0" u="none" strike="noStrike" kern="1200" cap="none" spc="0" normalizeH="0" baseline="0" noProof="0" dirty="0">
                <a:ln>
                  <a:noFill/>
                </a:ln>
                <a:solidFill>
                  <a:srgbClr val="00156C"/>
                </a:solidFill>
                <a:effectLst/>
                <a:uLnTx/>
                <a:uFillTx/>
                <a:latin typeface="微软雅黑" panose="020B0503020204020204" pitchFamily="34" charset="-122"/>
                <a:ea typeface="微软雅黑" panose="020B0503020204020204" pitchFamily="34" charset="-122"/>
                <a:cs typeface="+mn-ea"/>
              </a:endParaRPr>
            </a:p>
          </p:txBody>
        </p:sp>
      </p:grpSp>
      <p:sp>
        <p:nvSpPr>
          <p:cNvPr id="6" name="文本框 5"/>
          <p:cNvSpPr txBox="1"/>
          <p:nvPr/>
        </p:nvSpPr>
        <p:spPr>
          <a:xfrm>
            <a:off x="708025" y="1362075"/>
            <a:ext cx="10280650" cy="4246245"/>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rgbClr val="122E66"/>
                </a:solidFill>
                <a:latin typeface="楷体" panose="02010609060101010101" pitchFamily="49" charset="-122"/>
                <a:ea typeface="楷体" panose="02010609060101010101" pitchFamily="49" charset="-122"/>
              </a:rPr>
              <a:t>高端装备电静液作动器（</a:t>
            </a:r>
            <a:r>
              <a:rPr lang="en-US" altLang="zh-CN" dirty="0">
                <a:solidFill>
                  <a:srgbClr val="122E66"/>
                </a:solidFill>
                <a:latin typeface="楷体" panose="02010609060101010101" pitchFamily="49" charset="-122"/>
                <a:ea typeface="楷体" panose="02010609060101010101" pitchFamily="49" charset="-122"/>
              </a:rPr>
              <a:t>EHA</a:t>
            </a:r>
            <a:r>
              <a:rPr lang="zh-CN" altLang="en-US" dirty="0">
                <a:solidFill>
                  <a:srgbClr val="122E66"/>
                </a:solidFill>
                <a:latin typeface="楷体" panose="02010609060101010101" pitchFamily="49" charset="-122"/>
                <a:ea typeface="楷体" panose="02010609060101010101" pitchFamily="49" charset="-122"/>
              </a:rPr>
              <a:t>）是高精度、快响应、高可靠、高集成的执行机构。</a:t>
            </a:r>
            <a:endParaRPr lang="zh-CN" altLang="en-US" dirty="0">
              <a:solidFill>
                <a:srgbClr val="122E66"/>
              </a:solidFill>
              <a:latin typeface="楷体" panose="02010609060101010101" pitchFamily="49" charset="-122"/>
              <a:ea typeface="楷体" panose="02010609060101010101" pitchFamily="49" charset="-122"/>
            </a:endParaRPr>
          </a:p>
          <a:p>
            <a:r>
              <a:rPr lang="zh-CN" altLang="en-US" dirty="0">
                <a:solidFill>
                  <a:srgbClr val="122E66"/>
                </a:solidFill>
                <a:latin typeface="楷体" panose="02010609060101010101" pitchFamily="49" charset="-122"/>
                <a:ea typeface="楷体" panose="02010609060101010101" pitchFamily="49" charset="-122"/>
              </a:rPr>
              <a:t>广泛应用于航空发动机喷管控制、飞行器舵面</a:t>
            </a:r>
            <a:r>
              <a:rPr lang="en-US" altLang="zh-CN" dirty="0">
                <a:solidFill>
                  <a:srgbClr val="122E66"/>
                </a:solidFill>
                <a:latin typeface="楷体" panose="02010609060101010101" pitchFamily="49" charset="-122"/>
                <a:ea typeface="楷体" panose="02010609060101010101" pitchFamily="49" charset="-122"/>
              </a:rPr>
              <a:t>/</a:t>
            </a:r>
            <a:r>
              <a:rPr lang="zh-CN" altLang="en-US" dirty="0">
                <a:solidFill>
                  <a:srgbClr val="122E66"/>
                </a:solidFill>
                <a:latin typeface="楷体" panose="02010609060101010101" pitchFamily="49" charset="-122"/>
                <a:ea typeface="楷体" panose="02010609060101010101" pitchFamily="49" charset="-122"/>
              </a:rPr>
              <a:t>襟翼控制、卫星轨道</a:t>
            </a:r>
            <a:r>
              <a:rPr lang="en-US" altLang="zh-CN" dirty="0">
                <a:solidFill>
                  <a:srgbClr val="122E66"/>
                </a:solidFill>
                <a:latin typeface="楷体" panose="02010609060101010101" pitchFamily="49" charset="-122"/>
                <a:ea typeface="楷体" panose="02010609060101010101" pitchFamily="49" charset="-122"/>
              </a:rPr>
              <a:t>/</a:t>
            </a:r>
            <a:r>
              <a:rPr lang="zh-CN" altLang="en-US" dirty="0">
                <a:solidFill>
                  <a:srgbClr val="122E66"/>
                </a:solidFill>
                <a:latin typeface="楷体" panose="02010609060101010101" pitchFamily="49" charset="-122"/>
                <a:ea typeface="楷体" panose="02010609060101010101" pitchFamily="49" charset="-122"/>
              </a:rPr>
              <a:t>姿态调整。</a:t>
            </a:r>
            <a:endParaRPr lang="zh-CN" altLang="en-US" dirty="0">
              <a:solidFill>
                <a:srgbClr val="122E66"/>
              </a:solidFill>
              <a:latin typeface="楷体" panose="02010609060101010101" pitchFamily="49" charset="-122"/>
              <a:ea typeface="楷体" panose="02010609060101010101" pitchFamily="49" charset="-122"/>
            </a:endParaRPr>
          </a:p>
          <a:p>
            <a:endParaRPr lang="zh-CN" altLang="en-US"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dirty="0">
                <a:solidFill>
                  <a:srgbClr val="122E66"/>
                </a:solidFill>
                <a:latin typeface="楷体" panose="02010609060101010101" pitchFamily="49" charset="-122"/>
                <a:ea typeface="楷体" panose="02010609060101010101" pitchFamily="49" charset="-122"/>
              </a:rPr>
              <a:t>典型结构：双向电动机</a:t>
            </a:r>
            <a:r>
              <a:rPr lang="en-US" altLang="zh-CN" dirty="0">
                <a:solidFill>
                  <a:srgbClr val="122E66"/>
                </a:solidFill>
                <a:latin typeface="楷体" panose="02010609060101010101" pitchFamily="49" charset="-122"/>
                <a:ea typeface="楷体" panose="02010609060101010101" pitchFamily="49" charset="-122"/>
              </a:rPr>
              <a:t> + </a:t>
            </a:r>
            <a:r>
              <a:rPr lang="zh-CN" altLang="en-US" dirty="0">
                <a:solidFill>
                  <a:srgbClr val="122E66"/>
                </a:solidFill>
                <a:latin typeface="楷体" panose="02010609060101010101" pitchFamily="49" charset="-122"/>
                <a:ea typeface="楷体" panose="02010609060101010101" pitchFamily="49" charset="-122"/>
              </a:rPr>
              <a:t>双向泵</a:t>
            </a:r>
            <a:r>
              <a:rPr lang="en-US" altLang="zh-CN" dirty="0">
                <a:solidFill>
                  <a:srgbClr val="122E66"/>
                </a:solidFill>
                <a:latin typeface="楷体" panose="02010609060101010101" pitchFamily="49" charset="-122"/>
                <a:ea typeface="楷体" panose="02010609060101010101" pitchFamily="49" charset="-122"/>
              </a:rPr>
              <a:t> + </a:t>
            </a:r>
            <a:r>
              <a:rPr lang="zh-CN" altLang="en-US" dirty="0">
                <a:solidFill>
                  <a:srgbClr val="122E66"/>
                </a:solidFill>
                <a:latin typeface="楷体" panose="02010609060101010101" pitchFamily="49" charset="-122"/>
                <a:ea typeface="楷体" panose="02010609060101010101" pitchFamily="49" charset="-122"/>
              </a:rPr>
              <a:t>对称液压作动器</a:t>
            </a:r>
            <a:r>
              <a:rPr lang="en-US" altLang="zh-CN" dirty="0">
                <a:solidFill>
                  <a:srgbClr val="122E66"/>
                </a:solidFill>
                <a:latin typeface="楷体" panose="02010609060101010101" pitchFamily="49" charset="-122"/>
                <a:ea typeface="楷体" panose="02010609060101010101" pitchFamily="49" charset="-122"/>
              </a:rPr>
              <a:t> + </a:t>
            </a:r>
            <a:r>
              <a:rPr lang="zh-CN" altLang="en-US" dirty="0">
                <a:solidFill>
                  <a:srgbClr val="122E66"/>
                </a:solidFill>
                <a:latin typeface="楷体" panose="02010609060101010101" pitchFamily="49" charset="-122"/>
                <a:ea typeface="楷体" panose="02010609060101010101" pitchFamily="49" charset="-122"/>
              </a:rPr>
              <a:t>旁通阀。</a:t>
            </a:r>
            <a:endParaRPr lang="zh-CN" altLang="en-US"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endParaRPr lang="zh-CN" altLang="en-US"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dirty="0">
                <a:solidFill>
                  <a:srgbClr val="122E66"/>
                </a:solidFill>
                <a:latin typeface="楷体" panose="02010609060101010101" pitchFamily="49" charset="-122"/>
                <a:ea typeface="楷体" panose="02010609060101010101" pitchFamily="49" charset="-122"/>
              </a:rPr>
              <a:t>核心元件（齿轮泵）优势：常用动力元件：结构简单、易加工、体积小、质量轻。</a:t>
            </a:r>
            <a:endParaRPr lang="zh-CN" altLang="en-US" dirty="0">
              <a:solidFill>
                <a:srgbClr val="122E66"/>
              </a:solidFill>
              <a:latin typeface="楷体" panose="02010609060101010101" pitchFamily="49" charset="-122"/>
              <a:ea typeface="楷体" panose="02010609060101010101" pitchFamily="49" charset="-122"/>
            </a:endParaRPr>
          </a:p>
          <a:p>
            <a:r>
              <a:rPr lang="zh-CN" altLang="en-US" dirty="0">
                <a:solidFill>
                  <a:srgbClr val="122E66"/>
                </a:solidFill>
                <a:latin typeface="楷体" panose="02010609060101010101" pitchFamily="49" charset="-122"/>
                <a:ea typeface="楷体" panose="02010609060101010101" pitchFamily="49" charset="-122"/>
              </a:rPr>
              <a:t>抗污染能力强、自吸性好。</a:t>
            </a:r>
            <a:endParaRPr lang="zh-CN" altLang="en-US" dirty="0">
              <a:solidFill>
                <a:srgbClr val="122E66"/>
              </a:solidFill>
              <a:latin typeface="楷体" panose="02010609060101010101" pitchFamily="49" charset="-122"/>
              <a:ea typeface="楷体" panose="02010609060101010101" pitchFamily="49" charset="-122"/>
            </a:endParaRPr>
          </a:p>
          <a:p>
            <a:r>
              <a:rPr lang="zh-CN" altLang="en-US" dirty="0">
                <a:solidFill>
                  <a:srgbClr val="122E66"/>
                </a:solidFill>
                <a:latin typeface="楷体" panose="02010609060101010101" pitchFamily="49" charset="-122"/>
                <a:ea typeface="楷体" panose="02010609060101010101" pitchFamily="49" charset="-122"/>
              </a:rPr>
              <a:t>高压输出（可达</a:t>
            </a:r>
            <a:r>
              <a:rPr lang="en-US" altLang="zh-CN" dirty="0">
                <a:solidFill>
                  <a:srgbClr val="122E66"/>
                </a:solidFill>
                <a:latin typeface="楷体" panose="02010609060101010101" pitchFamily="49" charset="-122"/>
                <a:ea typeface="楷体" panose="02010609060101010101" pitchFamily="49" charset="-122"/>
              </a:rPr>
              <a:t>25MPa+</a:t>
            </a:r>
            <a:r>
              <a:rPr lang="zh-CN" altLang="en-US" dirty="0">
                <a:solidFill>
                  <a:srgbClr val="122E66"/>
                </a:solidFill>
                <a:latin typeface="楷体" panose="02010609060101010101" pitchFamily="49" charset="-122"/>
                <a:ea typeface="楷体" panose="02010609060101010101" pitchFamily="49" charset="-122"/>
              </a:rPr>
              <a:t>），适合中高压系统。</a:t>
            </a:r>
            <a:endParaRPr lang="zh-CN" altLang="en-US" dirty="0">
              <a:solidFill>
                <a:srgbClr val="122E66"/>
              </a:solidFill>
              <a:latin typeface="楷体" panose="02010609060101010101" pitchFamily="49" charset="-122"/>
              <a:ea typeface="楷体" panose="02010609060101010101" pitchFamily="49" charset="-122"/>
            </a:endParaRPr>
          </a:p>
          <a:p>
            <a:endParaRPr lang="zh-CN" altLang="en-US"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dirty="0">
                <a:solidFill>
                  <a:srgbClr val="122E66"/>
                </a:solidFill>
                <a:latin typeface="楷体" panose="02010609060101010101" pitchFamily="49" charset="-122"/>
                <a:ea typeface="楷体" panose="02010609060101010101" pitchFamily="49" charset="-122"/>
              </a:rPr>
              <a:t>核心元件（齿轮泵）现存问题：</a:t>
            </a:r>
            <a:endParaRPr lang="zh-CN" altLang="en-US" dirty="0">
              <a:solidFill>
                <a:srgbClr val="122E66"/>
              </a:solidFill>
              <a:latin typeface="楷体" panose="02010609060101010101" pitchFamily="49" charset="-122"/>
              <a:ea typeface="楷体" panose="02010609060101010101" pitchFamily="49" charset="-122"/>
            </a:endParaRPr>
          </a:p>
          <a:p>
            <a:r>
              <a:rPr lang="zh-CN" altLang="en-US" dirty="0">
                <a:solidFill>
                  <a:srgbClr val="122E66"/>
                </a:solidFill>
                <a:latin typeface="楷体" panose="02010609060101010101" pitchFamily="49" charset="-122"/>
                <a:ea typeface="楷体" panose="02010609060101010101" pitchFamily="49" charset="-122"/>
              </a:rPr>
              <a:t>常用渐开线直齿轮结构导致：</a:t>
            </a:r>
            <a:endParaRPr lang="zh-CN" altLang="en-US" dirty="0">
              <a:solidFill>
                <a:srgbClr val="122E66"/>
              </a:solidFill>
              <a:latin typeface="楷体" panose="02010609060101010101" pitchFamily="49" charset="-122"/>
              <a:ea typeface="楷体" panose="02010609060101010101" pitchFamily="49" charset="-122"/>
            </a:endParaRPr>
          </a:p>
          <a:p>
            <a:r>
              <a:rPr lang="zh-CN" altLang="en-US" dirty="0">
                <a:solidFill>
                  <a:srgbClr val="122E66"/>
                </a:solidFill>
                <a:latin typeface="楷体" panose="02010609060101010101" pitchFamily="49" charset="-122"/>
                <a:ea typeface="楷体" panose="02010609060101010101" pitchFamily="49" charset="-122"/>
              </a:rPr>
              <a:t>困油现象、径向不平衡力、显著的流量</a:t>
            </a:r>
            <a:r>
              <a:rPr lang="en-US" altLang="zh-CN" dirty="0">
                <a:solidFill>
                  <a:srgbClr val="122E66"/>
                </a:solidFill>
                <a:latin typeface="楷体" panose="02010609060101010101" pitchFamily="49" charset="-122"/>
                <a:ea typeface="楷体" panose="02010609060101010101" pitchFamily="49" charset="-122"/>
              </a:rPr>
              <a:t>/</a:t>
            </a:r>
            <a:r>
              <a:rPr lang="zh-CN" altLang="en-US" dirty="0">
                <a:solidFill>
                  <a:srgbClr val="122E66"/>
                </a:solidFill>
                <a:latin typeface="楷体" panose="02010609060101010101" pitchFamily="49" charset="-122"/>
                <a:ea typeface="楷体" panose="02010609060101010101" pitchFamily="49" charset="-122"/>
              </a:rPr>
              <a:t>压力脉动、高噪声</a:t>
            </a:r>
            <a:endParaRPr lang="zh-CN" altLang="en-US" dirty="0">
              <a:solidFill>
                <a:srgbClr val="122E66"/>
              </a:solidFill>
              <a:latin typeface="楷体" panose="02010609060101010101" pitchFamily="49" charset="-122"/>
              <a:ea typeface="楷体" panose="02010609060101010101" pitchFamily="49" charset="-122"/>
            </a:endParaRPr>
          </a:p>
          <a:p>
            <a:r>
              <a:rPr lang="zh-CN" altLang="en-US" dirty="0">
                <a:solidFill>
                  <a:srgbClr val="122E66"/>
                </a:solidFill>
                <a:latin typeface="楷体" panose="02010609060101010101" pitchFamily="49" charset="-122"/>
                <a:ea typeface="楷体" panose="02010609060101010101" pitchFamily="49" charset="-122"/>
              </a:rPr>
              <a:t>严重影响液压系统工作平稳性。</a:t>
            </a:r>
            <a:endParaRPr lang="zh-CN" altLang="en-US" dirty="0">
              <a:solidFill>
                <a:srgbClr val="122E66"/>
              </a:solidFill>
              <a:latin typeface="楷体" panose="02010609060101010101" pitchFamily="49" charset="-122"/>
              <a:ea typeface="楷体" panose="02010609060101010101" pitchFamily="49" charset="-122"/>
            </a:endParaRPr>
          </a:p>
          <a:p>
            <a:endParaRPr lang="zh-CN" altLang="en-US" dirty="0">
              <a:solidFill>
                <a:srgbClr val="122E66"/>
              </a:solidFill>
              <a:latin typeface="楷体" panose="02010609060101010101" pitchFamily="49" charset="-122"/>
              <a:ea typeface="楷体" panose="02010609060101010101" pitchFamily="49" charset="-122"/>
            </a:endParaRPr>
          </a:p>
          <a:p>
            <a:r>
              <a:rPr lang="zh-CN" altLang="en-US" b="1" dirty="0">
                <a:solidFill>
                  <a:srgbClr val="122E66"/>
                </a:solidFill>
                <a:latin typeface="楷体" panose="02010609060101010101" pitchFamily="49" charset="-122"/>
                <a:ea typeface="楷体" panose="02010609060101010101" pitchFamily="49" charset="-122"/>
              </a:rPr>
              <a:t>因此，研究设计一种高压、低噪和运行平稳的高性能齿轮液压泵极为重要。</a:t>
            </a:r>
            <a:endParaRPr lang="zh-CN" altLang="en-US" b="1" dirty="0">
              <a:solidFill>
                <a:srgbClr val="122E66"/>
              </a:solidFill>
              <a:latin typeface="楷体" panose="02010609060101010101" pitchFamily="49" charset="-122"/>
              <a:ea typeface="楷体" panose="02010609060101010101" pitchFamily="49" charset="-122"/>
            </a:endParaRPr>
          </a:p>
        </p:txBody>
      </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23124" y="454744"/>
            <a:ext cx="903676" cy="907227"/>
          </a:xfrm>
          <a:prstGeom prst="rect">
            <a:avLst/>
          </a:prstGeom>
        </p:spPr>
      </p:pic>
      <p:grpSp>
        <p:nvGrpSpPr>
          <p:cNvPr id="2" name="组合 1"/>
          <p:cNvGrpSpPr/>
          <p:nvPr/>
        </p:nvGrpSpPr>
        <p:grpSpPr>
          <a:xfrm>
            <a:off x="282158" y="6414405"/>
            <a:ext cx="9142676" cy="410488"/>
            <a:chOff x="282158" y="6414405"/>
            <a:chExt cx="9142676" cy="410488"/>
          </a:xfrm>
        </p:grpSpPr>
        <p:sp>
          <p:nvSpPr>
            <p:cNvPr id="12" name="箭头: 五边形 11"/>
            <p:cNvSpPr/>
            <p:nvPr/>
          </p:nvSpPr>
          <p:spPr>
            <a:xfrm>
              <a:off x="282158" y="6414405"/>
              <a:ext cx="1166007" cy="367807"/>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0" name="组合 19"/>
            <p:cNvGrpSpPr/>
            <p:nvPr/>
          </p:nvGrpSpPr>
          <p:grpSpPr>
            <a:xfrm>
              <a:off x="282158" y="6450869"/>
              <a:ext cx="9142676" cy="361315"/>
              <a:chOff x="3496021" y="338920"/>
              <a:chExt cx="9142676" cy="361315"/>
            </a:xfrm>
          </p:grpSpPr>
          <p:sp>
            <p:nvSpPr>
              <p:cNvPr id="23" name="文本框 22"/>
              <p:cNvSpPr txBox="1"/>
              <p:nvPr/>
            </p:nvSpPr>
            <p:spPr>
              <a:xfrm>
                <a:off x="9321028" y="3630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25" name="文本框 24"/>
              <p:cNvSpPr txBox="1"/>
              <p:nvPr/>
            </p:nvSpPr>
            <p:spPr>
              <a:xfrm>
                <a:off x="3496021" y="338920"/>
                <a:ext cx="1000760" cy="337185"/>
              </a:xfrm>
              <a:prstGeom prst="rect">
                <a:avLst/>
              </a:prstGeom>
              <a:noFill/>
            </p:spPr>
            <p:txBody>
              <a:bodyPr wrap="none" rtlCol="0">
                <a:spAutoFit/>
              </a:bodyPr>
              <a:lstStyle/>
              <a:p>
                <a:r>
                  <a:rPr lang="zh-CN" altLang="en-US" sz="1600" b="1" dirty="0">
                    <a:solidFill>
                      <a:schemeClr val="bg1"/>
                    </a:solidFill>
                    <a:latin typeface="+mn-ea"/>
                    <a:cs typeface="+mn-ea"/>
                  </a:rPr>
                  <a:t>设计</a:t>
                </a:r>
                <a:r>
                  <a:rPr lang="zh-CN" altLang="en-US" sz="1600" b="1" dirty="0">
                    <a:solidFill>
                      <a:schemeClr val="bg1"/>
                    </a:solidFill>
                    <a:latin typeface="+mn-ea"/>
                    <a:cs typeface="+mn-ea"/>
                  </a:rPr>
                  <a:t>任务</a:t>
                </a:r>
                <a:endParaRPr lang="zh-CN" altLang="en-US" sz="1600" b="1" dirty="0">
                  <a:solidFill>
                    <a:schemeClr val="bg1"/>
                  </a:solidFill>
                  <a:latin typeface="+mn-ea"/>
                  <a:cs typeface="+mn-ea"/>
                </a:endParaRPr>
              </a:p>
            </p:txBody>
          </p:sp>
          <p:cxnSp>
            <p:nvCxnSpPr>
              <p:cNvPr id="26" name="直接连接符 25"/>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9082223"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2638697" y="3630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33" name="文本框 9"/>
            <p:cNvSpPr txBox="1"/>
            <p:nvPr/>
          </p:nvSpPr>
          <p:spPr>
            <a:xfrm>
              <a:off x="3408730" y="6487708"/>
              <a:ext cx="23545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34" name="文本框 38"/>
            <p:cNvSpPr txBox="1"/>
            <p:nvPr/>
          </p:nvSpPr>
          <p:spPr>
            <a:xfrm>
              <a:off x="1916548" y="6474997"/>
              <a:ext cx="11480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研究现状</a:t>
              </a:r>
              <a:endParaRPr lang="zh-CN" altLang="en-US" sz="1600" b="1" dirty="0">
                <a:solidFill>
                  <a:schemeClr val="bg1">
                    <a:lumMod val="65000"/>
                  </a:schemeClr>
                </a:solidFill>
                <a:latin typeface="+mn-ea"/>
                <a:cs typeface="+mn-ea"/>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82158" y="407131"/>
            <a:ext cx="11608824" cy="5955500"/>
          </a:xfrm>
          <a:prstGeom prst="rect">
            <a:avLst/>
          </a:prstGeom>
          <a:solidFill>
            <a:schemeClr val="bg1"/>
          </a:solidFill>
          <a:ln>
            <a:noFill/>
          </a:ln>
          <a:effectLst>
            <a:outerShdw blurRad="1016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3828219" cy="429895"/>
            <a:chOff x="707718" y="813975"/>
            <a:chExt cx="3828219"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微软雅黑" panose="020B0503020204020204" pitchFamily="34" charset="-122"/>
                  <a:ea typeface="微软雅黑" panose="020B0503020204020204" pitchFamily="34" charset="-122"/>
                  <a:cs typeface="+mn-ea"/>
                </a:rPr>
                <a:t>技术指标</a:t>
              </a:r>
              <a:endParaRPr kumimoji="0" lang="zh-CN" altLang="en-US" sz="2200" b="1" i="0" u="none" strike="noStrike" kern="1200" cap="none" spc="0" normalizeH="0" baseline="0" noProof="0" dirty="0">
                <a:ln>
                  <a:noFill/>
                </a:ln>
                <a:solidFill>
                  <a:srgbClr val="00156C"/>
                </a:solidFill>
                <a:effectLst/>
                <a:uLnTx/>
                <a:uFillTx/>
                <a:latin typeface="微软雅黑" panose="020B0503020204020204" pitchFamily="34" charset="-122"/>
                <a:ea typeface="微软雅黑" panose="020B0503020204020204" pitchFamily="34" charset="-122"/>
                <a:cs typeface="+mn-ea"/>
              </a:endParaRPr>
            </a:p>
          </p:txBody>
        </p:sp>
      </p:grpSp>
      <p:sp>
        <p:nvSpPr>
          <p:cNvPr id="6" name="文本框 5"/>
          <p:cNvSpPr txBox="1"/>
          <p:nvPr/>
        </p:nvSpPr>
        <p:spPr>
          <a:xfrm>
            <a:off x="708025" y="1447800"/>
            <a:ext cx="10280650" cy="3107690"/>
          </a:xfrm>
          <a:prstGeom prst="rect">
            <a:avLst/>
          </a:prstGeom>
          <a:noFill/>
        </p:spPr>
        <p:txBody>
          <a:bodyPr wrap="square" rtlCol="0">
            <a:spAutoFit/>
          </a:bodyPr>
          <a:lstStyle/>
          <a:p>
            <a:pPr marL="285750" indent="-285750">
              <a:buFont typeface="Arial" panose="020B0604020202020204" pitchFamily="34" charset="0"/>
              <a:buChar char="•"/>
            </a:pPr>
            <a:r>
              <a:rPr lang="zh-CN" altLang="en-US" sz="2800" b="1" dirty="0">
                <a:solidFill>
                  <a:srgbClr val="122E66"/>
                </a:solidFill>
                <a:latin typeface="楷体" panose="02010609060101010101" pitchFamily="49" charset="-122"/>
                <a:ea typeface="楷体" panose="02010609060101010101" pitchFamily="49" charset="-122"/>
              </a:rPr>
              <a:t>额定压力：</a:t>
            </a:r>
            <a:r>
              <a:rPr lang="en-US" altLang="zh-CN" sz="2800" b="1" dirty="0">
                <a:solidFill>
                  <a:srgbClr val="122E66"/>
                </a:solidFill>
                <a:latin typeface="楷体" panose="02010609060101010101" pitchFamily="49" charset="-122"/>
                <a:ea typeface="楷体" panose="02010609060101010101" pitchFamily="49" charset="-122"/>
              </a:rPr>
              <a:t>25MPa</a:t>
            </a:r>
            <a:r>
              <a:rPr lang="zh-CN" altLang="en-US" sz="2800" b="1" dirty="0">
                <a:solidFill>
                  <a:srgbClr val="122E66"/>
                </a:solidFill>
                <a:latin typeface="楷体" panose="02010609060101010101" pitchFamily="49" charset="-122"/>
                <a:ea typeface="楷体" panose="02010609060101010101" pitchFamily="49" charset="-122"/>
              </a:rPr>
              <a:t>；</a:t>
            </a:r>
            <a:endParaRPr lang="zh-CN" altLang="en-US" sz="2800" b="1"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endParaRPr lang="zh-CN" altLang="en-US" sz="2800" b="1"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800" b="1" dirty="0">
                <a:solidFill>
                  <a:srgbClr val="122E66"/>
                </a:solidFill>
                <a:latin typeface="楷体" panose="02010609060101010101" pitchFamily="49" charset="-122"/>
                <a:ea typeface="楷体" panose="02010609060101010101" pitchFamily="49" charset="-122"/>
              </a:rPr>
              <a:t>流量：</a:t>
            </a:r>
            <a:r>
              <a:rPr lang="en-US" altLang="zh-CN" sz="2800" b="1" dirty="0">
                <a:solidFill>
                  <a:srgbClr val="122E66"/>
                </a:solidFill>
                <a:latin typeface="楷体" panose="02010609060101010101" pitchFamily="49" charset="-122"/>
                <a:ea typeface="楷体" panose="02010609060101010101" pitchFamily="49" charset="-122"/>
              </a:rPr>
              <a:t>70L/min</a:t>
            </a:r>
            <a:r>
              <a:rPr lang="zh-CN" altLang="en-US" sz="2800" b="1" dirty="0">
                <a:solidFill>
                  <a:srgbClr val="122E66"/>
                </a:solidFill>
                <a:latin typeface="楷体" panose="02010609060101010101" pitchFamily="49" charset="-122"/>
                <a:ea typeface="楷体" panose="02010609060101010101" pitchFamily="49" charset="-122"/>
              </a:rPr>
              <a:t>；</a:t>
            </a:r>
            <a:endParaRPr lang="zh-CN" altLang="en-US" sz="2800" b="1"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endParaRPr lang="zh-CN" altLang="en-US" sz="2800" b="1"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800" b="1" dirty="0">
                <a:solidFill>
                  <a:srgbClr val="122E66"/>
                </a:solidFill>
                <a:latin typeface="楷体" panose="02010609060101010101" pitchFamily="49" charset="-122"/>
                <a:ea typeface="楷体" panose="02010609060101010101" pitchFamily="49" charset="-122"/>
              </a:rPr>
              <a:t>环境温度：</a:t>
            </a:r>
            <a:r>
              <a:rPr lang="en-US" altLang="zh-CN" sz="2800" b="1" dirty="0">
                <a:solidFill>
                  <a:srgbClr val="122E66"/>
                </a:solidFill>
                <a:latin typeface="楷体" panose="02010609060101010101" pitchFamily="49" charset="-122"/>
                <a:ea typeface="楷体" panose="02010609060101010101" pitchFamily="49" charset="-122"/>
              </a:rPr>
              <a:t>-55</a:t>
            </a:r>
            <a:r>
              <a:rPr lang="en-US" altLang="en-US" sz="2800" b="1" dirty="0">
                <a:solidFill>
                  <a:srgbClr val="122E66"/>
                </a:solidFill>
                <a:latin typeface="楷体" panose="02010609060101010101" pitchFamily="49" charset="-122"/>
                <a:ea typeface="楷体" panose="02010609060101010101" pitchFamily="49" charset="-122"/>
              </a:rPr>
              <a:t>℃</a:t>
            </a:r>
            <a:r>
              <a:rPr lang="zh-CN" altLang="en-US" sz="2800" b="1" dirty="0">
                <a:solidFill>
                  <a:srgbClr val="122E66"/>
                </a:solidFill>
                <a:latin typeface="楷体" panose="02010609060101010101" pitchFamily="49" charset="-122"/>
                <a:ea typeface="楷体" panose="02010609060101010101" pitchFamily="49" charset="-122"/>
              </a:rPr>
              <a:t>～﹢</a:t>
            </a:r>
            <a:r>
              <a:rPr lang="en-US" altLang="zh-CN" sz="2800" b="1" dirty="0">
                <a:solidFill>
                  <a:srgbClr val="122E66"/>
                </a:solidFill>
                <a:latin typeface="楷体" panose="02010609060101010101" pitchFamily="49" charset="-122"/>
                <a:ea typeface="楷体" panose="02010609060101010101" pitchFamily="49" charset="-122"/>
              </a:rPr>
              <a:t>205</a:t>
            </a:r>
            <a:r>
              <a:rPr lang="en-US" altLang="en-US" sz="2800" b="1" dirty="0">
                <a:solidFill>
                  <a:srgbClr val="122E66"/>
                </a:solidFill>
                <a:latin typeface="楷体" panose="02010609060101010101" pitchFamily="49" charset="-122"/>
                <a:ea typeface="楷体" panose="02010609060101010101" pitchFamily="49" charset="-122"/>
              </a:rPr>
              <a:t>℃</a:t>
            </a:r>
            <a:r>
              <a:rPr lang="zh-CN" altLang="en-US" sz="2800" b="1" dirty="0">
                <a:solidFill>
                  <a:srgbClr val="122E66"/>
                </a:solidFill>
                <a:latin typeface="楷体" panose="02010609060101010101" pitchFamily="49" charset="-122"/>
                <a:ea typeface="楷体" panose="02010609060101010101" pitchFamily="49" charset="-122"/>
              </a:rPr>
              <a:t>；</a:t>
            </a:r>
            <a:endParaRPr lang="zh-CN" altLang="en-US" sz="2800" b="1"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endParaRPr lang="zh-CN" altLang="en-US" sz="2800" b="1" dirty="0">
              <a:solidFill>
                <a:srgbClr val="122E66"/>
              </a:solidFill>
              <a:latin typeface="楷体" panose="02010609060101010101" pitchFamily="49" charset="-122"/>
              <a:ea typeface="楷体" panose="02010609060101010101" pitchFamily="49" charset="-122"/>
            </a:endParaRPr>
          </a:p>
          <a:p>
            <a:pPr marL="285750" indent="-285750">
              <a:buFont typeface="Arial" panose="020B0604020202020204" pitchFamily="34" charset="0"/>
              <a:buChar char="•"/>
            </a:pPr>
            <a:r>
              <a:rPr lang="zh-CN" altLang="en-US" sz="2800" b="1" dirty="0">
                <a:solidFill>
                  <a:srgbClr val="122E66"/>
                </a:solidFill>
                <a:latin typeface="楷体" panose="02010609060101010101" pitchFamily="49" charset="-122"/>
                <a:ea typeface="楷体" panose="02010609060101010101" pitchFamily="49" charset="-122"/>
              </a:rPr>
              <a:t>额定转速：</a:t>
            </a:r>
            <a:r>
              <a:rPr lang="en-US" altLang="zh-CN" sz="2800" b="1" dirty="0">
                <a:solidFill>
                  <a:srgbClr val="122E66"/>
                </a:solidFill>
                <a:latin typeface="楷体" panose="02010609060101010101" pitchFamily="49" charset="-122"/>
                <a:ea typeface="楷体" panose="02010609060101010101" pitchFamily="49" charset="-122"/>
              </a:rPr>
              <a:t>10000rpm</a:t>
            </a:r>
            <a:endParaRPr lang="en-US" altLang="zh-CN" sz="2800" b="1" dirty="0">
              <a:solidFill>
                <a:srgbClr val="122E66"/>
              </a:solidFill>
              <a:latin typeface="楷体" panose="02010609060101010101" pitchFamily="49" charset="-122"/>
              <a:ea typeface="楷体" panose="02010609060101010101" pitchFamily="49" charset="-122"/>
            </a:endParaRPr>
          </a:p>
        </p:txBody>
      </p:sp>
      <p:pic>
        <p:nvPicPr>
          <p:cNvPr id="32" name="图片 3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23124" y="454744"/>
            <a:ext cx="903676" cy="907227"/>
          </a:xfrm>
          <a:prstGeom prst="rect">
            <a:avLst/>
          </a:prstGeom>
        </p:spPr>
      </p:pic>
      <p:grpSp>
        <p:nvGrpSpPr>
          <p:cNvPr id="2" name="组合 1"/>
          <p:cNvGrpSpPr/>
          <p:nvPr/>
        </p:nvGrpSpPr>
        <p:grpSpPr>
          <a:xfrm>
            <a:off x="282158" y="6414405"/>
            <a:ext cx="9142676" cy="410488"/>
            <a:chOff x="282158" y="6414405"/>
            <a:chExt cx="9142676" cy="410488"/>
          </a:xfrm>
        </p:grpSpPr>
        <p:sp>
          <p:nvSpPr>
            <p:cNvPr id="12" name="箭头: 五边形 11"/>
            <p:cNvSpPr/>
            <p:nvPr/>
          </p:nvSpPr>
          <p:spPr>
            <a:xfrm>
              <a:off x="282158" y="6414405"/>
              <a:ext cx="1166007" cy="367807"/>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0" name="组合 19"/>
            <p:cNvGrpSpPr/>
            <p:nvPr/>
          </p:nvGrpSpPr>
          <p:grpSpPr>
            <a:xfrm>
              <a:off x="282158" y="6450869"/>
              <a:ext cx="9142676" cy="361315"/>
              <a:chOff x="3496021" y="338920"/>
              <a:chExt cx="9142676" cy="361315"/>
            </a:xfrm>
          </p:grpSpPr>
          <p:sp>
            <p:nvSpPr>
              <p:cNvPr id="23" name="文本框 22"/>
              <p:cNvSpPr txBox="1"/>
              <p:nvPr/>
            </p:nvSpPr>
            <p:spPr>
              <a:xfrm>
                <a:off x="9321028" y="3630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25" name="文本框 24"/>
              <p:cNvSpPr txBox="1"/>
              <p:nvPr/>
            </p:nvSpPr>
            <p:spPr>
              <a:xfrm>
                <a:off x="3496021" y="338920"/>
                <a:ext cx="1000760" cy="337185"/>
              </a:xfrm>
              <a:prstGeom prst="rect">
                <a:avLst/>
              </a:prstGeom>
              <a:noFill/>
            </p:spPr>
            <p:txBody>
              <a:bodyPr wrap="none" rtlCol="0">
                <a:spAutoFit/>
              </a:bodyPr>
              <a:lstStyle/>
              <a:p>
                <a:r>
                  <a:rPr lang="zh-CN" altLang="en-US" sz="1600" b="1" dirty="0">
                    <a:solidFill>
                      <a:schemeClr val="bg1"/>
                    </a:solidFill>
                    <a:latin typeface="+mn-ea"/>
                    <a:cs typeface="+mn-ea"/>
                  </a:rPr>
                  <a:t>设计</a:t>
                </a:r>
                <a:r>
                  <a:rPr lang="zh-CN" altLang="en-US" sz="1600" b="1" dirty="0">
                    <a:solidFill>
                      <a:schemeClr val="bg1"/>
                    </a:solidFill>
                    <a:latin typeface="+mn-ea"/>
                    <a:cs typeface="+mn-ea"/>
                  </a:rPr>
                  <a:t>任务</a:t>
                </a:r>
                <a:endParaRPr lang="zh-CN" altLang="en-US" sz="1600" b="1" dirty="0">
                  <a:solidFill>
                    <a:schemeClr val="bg1"/>
                  </a:solidFill>
                  <a:latin typeface="+mn-ea"/>
                  <a:cs typeface="+mn-ea"/>
                </a:endParaRPr>
              </a:p>
            </p:txBody>
          </p:sp>
          <p:cxnSp>
            <p:nvCxnSpPr>
              <p:cNvPr id="26" name="直接连接符 25"/>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9082223"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12638697" y="3630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33" name="文本框 9"/>
            <p:cNvSpPr txBox="1"/>
            <p:nvPr/>
          </p:nvSpPr>
          <p:spPr>
            <a:xfrm>
              <a:off x="3408730" y="6487708"/>
              <a:ext cx="23545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34" name="文本框 38"/>
            <p:cNvSpPr txBox="1"/>
            <p:nvPr/>
          </p:nvSpPr>
          <p:spPr>
            <a:xfrm>
              <a:off x="1916548" y="6474997"/>
              <a:ext cx="11480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研究现状</a:t>
              </a:r>
              <a:endParaRPr lang="zh-CN" altLang="en-US" sz="1600" b="1" dirty="0">
                <a:solidFill>
                  <a:schemeClr val="bg1">
                    <a:lumMod val="65000"/>
                  </a:schemeClr>
                </a:solidFill>
                <a:latin typeface="+mn-ea"/>
                <a:cs typeface="+mn-ea"/>
              </a:endParaRPr>
            </a:p>
          </p:txBody>
        </p:sp>
      </p:grpSp>
      <p:pic>
        <p:nvPicPr>
          <p:cNvPr id="3" name="图片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5763895" y="2141855"/>
            <a:ext cx="5887085" cy="32670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960642" y="2497257"/>
            <a:ext cx="8853168" cy="1816661"/>
            <a:chOff x="2377440" y="2692400"/>
            <a:chExt cx="2915942" cy="589280"/>
          </a:xfrm>
        </p:grpSpPr>
        <p:sp>
          <p:nvSpPr>
            <p:cNvPr id="26" name="矩形: 圆角 25"/>
            <p:cNvSpPr/>
            <p:nvPr/>
          </p:nvSpPr>
          <p:spPr>
            <a:xfrm>
              <a:off x="2377440" y="2692400"/>
              <a:ext cx="2741369" cy="589280"/>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28" name="文本框 27"/>
            <p:cNvSpPr txBox="1"/>
            <p:nvPr/>
          </p:nvSpPr>
          <p:spPr>
            <a:xfrm>
              <a:off x="3229509" y="2785296"/>
              <a:ext cx="2063873" cy="428847"/>
            </a:xfrm>
            <a:prstGeom prst="rect">
              <a:avLst/>
            </a:prstGeom>
            <a:noFill/>
          </p:spPr>
          <p:txBody>
            <a:bodyPr wrap="square" rtlCol="0">
              <a:spAutoFit/>
            </a:bodyPr>
            <a:lstStyle/>
            <a:p>
              <a:r>
                <a:rPr lang="zh-CN" altLang="en-US" sz="4000" spc="300" dirty="0">
                  <a:latin typeface="+mn-ea"/>
                  <a:cs typeface="+mn-ea"/>
                  <a:sym typeface="+mn-ea"/>
                </a:rPr>
                <a:t>国内外研究现状</a:t>
              </a:r>
              <a:endParaRPr lang="zh-CN" altLang="en-US" sz="4000" spc="300" dirty="0">
                <a:latin typeface="+mn-ea"/>
                <a:cs typeface="+mn-ea"/>
                <a:sym typeface="+mn-ea"/>
              </a:endParaRPr>
            </a:p>
            <a:p>
              <a:r>
                <a:rPr lang="zh-CN" altLang="en-US" sz="4000" spc="300" dirty="0">
                  <a:latin typeface="+mn-ea"/>
                  <a:cs typeface="+mn-ea"/>
                  <a:sym typeface="+mn-ea"/>
                </a:rPr>
                <a:t>及本文主要研究内容</a:t>
              </a:r>
              <a:endParaRPr lang="zh-CN" altLang="en-US" sz="4000" spc="600" dirty="0">
                <a:solidFill>
                  <a:srgbClr val="122E66"/>
                </a:solidFill>
                <a:latin typeface="思源黑体 CN Heavy" panose="020B0A00000000000000" pitchFamily="34" charset="-122"/>
                <a:ea typeface="思源黑体 CN Heavy" panose="020B0A00000000000000" pitchFamily="34" charset="-122"/>
                <a:cs typeface="+mn-ea"/>
              </a:endParaRPr>
            </a:p>
          </p:txBody>
        </p:sp>
      </p:grpSp>
      <p:sp>
        <p:nvSpPr>
          <p:cNvPr id="34" name="文本框 33"/>
          <p:cNvSpPr txBox="1"/>
          <p:nvPr/>
        </p:nvSpPr>
        <p:spPr>
          <a:xfrm>
            <a:off x="1960642" y="2121849"/>
            <a:ext cx="2587647" cy="2646045"/>
          </a:xfrm>
          <a:prstGeom prst="rect">
            <a:avLst/>
          </a:prstGeom>
          <a:noFill/>
          <a:ln>
            <a:noFill/>
          </a:ln>
        </p:spPr>
        <p:txBody>
          <a:bodyPr wrap="square" rtlCol="0">
            <a:spAutoFit/>
          </a:bodyPr>
          <a:lstStyle/>
          <a:p>
            <a:r>
              <a:rPr lang="en-US" altLang="zh-CN" sz="16600" dirty="0">
                <a:solidFill>
                  <a:schemeClr val="bg1">
                    <a:lumMod val="85000"/>
                    <a:alpha val="62000"/>
                  </a:schemeClr>
                </a:solidFill>
                <a:latin typeface="Impact" panose="020B0806030902050204" pitchFamily="34" charset="0"/>
                <a:cs typeface="+mn-ea"/>
              </a:rPr>
              <a:t>02</a:t>
            </a:r>
            <a:endParaRPr lang="zh-CN" altLang="en-US" sz="16600" dirty="0">
              <a:solidFill>
                <a:schemeClr val="bg1">
                  <a:lumMod val="85000"/>
                  <a:alpha val="62000"/>
                </a:schemeClr>
              </a:solidFill>
              <a:latin typeface="Impact" panose="020B0806030902050204" pitchFamily="34" charset="0"/>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203190" cy="429895"/>
            <a:chOff x="707718" y="813975"/>
            <a:chExt cx="520319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06920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b="1" kern="100" dirty="0">
                  <a:effectLst/>
                  <a:latin typeface="Calibri" panose="020F0502020204030204" charset="0"/>
                  <a:ea typeface="宋体" panose="02010600030101010101" pitchFamily="2" charset="-122"/>
                  <a:cs typeface="Times New Roman" panose="02020603050405020304" charset="0"/>
                  <a:sym typeface="+mn-ea"/>
                </a:rPr>
                <a:t>国外</a:t>
              </a:r>
              <a:r>
                <a:rPr lang="en-US" altLang="zh-CN" sz="2200" b="1" kern="100" dirty="0">
                  <a:effectLst/>
                  <a:latin typeface="Calibri" panose="020F0502020204030204" charset="0"/>
                  <a:ea typeface="宋体" panose="02010600030101010101" pitchFamily="2" charset="-122"/>
                  <a:cs typeface="Times New Roman" panose="02020603050405020304" charset="0"/>
                  <a:sym typeface="+mn-ea"/>
                </a:rPr>
                <a:t>EHA</a:t>
              </a:r>
              <a:r>
                <a:rPr lang="zh-CN" altLang="en-US" sz="2200" b="1" kern="100" dirty="0">
                  <a:effectLst/>
                  <a:latin typeface="Calibri" panose="020F0502020204030204" charset="0"/>
                  <a:ea typeface="宋体" panose="02010600030101010101" pitchFamily="2" charset="-122"/>
                  <a:cs typeface="Times New Roman" panose="02020603050405020304" charset="0"/>
                  <a:sym typeface="+mn-ea"/>
                </a:rPr>
                <a:t>齿轮泵技术突破与趋势</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19" name="图形 18" descr="客户评价 纯色填充"/>
          <p:cNvPicPr>
            <a:picLocks noChangeAspect="1"/>
          </p:cNvPicPr>
          <p:nvPr/>
        </p:nvPicPr>
        <p:blipFill>
          <a:blip/>
          <a:stretch>
            <a:fillRect/>
          </a:stretch>
        </p:blipFill>
        <p:spPr>
          <a:xfrm>
            <a:off x="905915" y="2043236"/>
            <a:ext cx="544513" cy="544513"/>
          </a:xfrm>
          <a:prstGeom prst="rect">
            <a:avLst/>
          </a:prstGeom>
        </p:spPr>
      </p:pic>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72874"/>
            <a:chOff x="420718" y="6449599"/>
            <a:chExt cx="8887482" cy="372874"/>
          </a:xfrm>
        </p:grpSpPr>
        <p:sp>
          <p:nvSpPr>
            <p:cNvPr id="20" name="箭头: 五边形 19"/>
            <p:cNvSpPr/>
            <p:nvPr/>
          </p:nvSpPr>
          <p:spPr>
            <a:xfrm>
              <a:off x="1896721" y="6454666"/>
              <a:ext cx="1166007" cy="367807"/>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3545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16548" y="6474997"/>
              <a:ext cx="100076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bg1"/>
                  </a:solidFill>
                  <a:latin typeface="+mn-ea"/>
                  <a:cs typeface="+mn-ea"/>
                </a:rPr>
                <a:t>研究</a:t>
              </a:r>
              <a:r>
                <a:rPr lang="zh-CN" altLang="en-US" sz="1600" b="1" dirty="0">
                  <a:solidFill>
                    <a:schemeClr val="bg1"/>
                  </a:solidFill>
                  <a:latin typeface="+mn-ea"/>
                  <a:cs typeface="+mn-ea"/>
                </a:rPr>
                <a:t>现状</a:t>
              </a:r>
              <a:endParaRPr lang="zh-CN" altLang="en-US" sz="1600" b="1" dirty="0">
                <a:solidFill>
                  <a:schemeClr val="bg1"/>
                </a:solidFill>
                <a:latin typeface="+mn-ea"/>
                <a:cs typeface="+mn-ea"/>
              </a:endParaRPr>
            </a:p>
          </p:txBody>
        </p:sp>
      </p:grpSp>
      <p:sp>
        <p:nvSpPr>
          <p:cNvPr id="3" name="内容占位符 2"/>
          <p:cNvSpPr>
            <a:spLocks noGrp="1"/>
          </p:cNvSpPr>
          <p:nvPr>
            <p:ph sz="half" idx="1"/>
          </p:nvPr>
        </p:nvSpPr>
        <p:spPr>
          <a:xfrm>
            <a:off x="1079500" y="1656715"/>
            <a:ext cx="9829800" cy="5052060"/>
          </a:xfrm>
        </p:spPr>
        <p:txBody>
          <a:bodyPr>
            <a:normAutofit/>
          </a:bodyPr>
          <a:p>
            <a:pPr algn="l">
              <a:buFont typeface="+mj-lt"/>
              <a:buAutoNum type="arabicPeriod"/>
            </a:pPr>
            <a:r>
              <a:rPr lang="zh-CN" altLang="en-US" sz="2400" b="1" i="0" dirty="0">
                <a:ln w="22225">
                  <a:solidFill>
                    <a:schemeClr val="accent2"/>
                  </a:solidFill>
                  <a:prstDash val="solid"/>
                </a:ln>
                <a:solidFill>
                  <a:schemeClr val="accent2">
                    <a:lumMod val="40000"/>
                    <a:lumOff val="60000"/>
                  </a:schemeClr>
                </a:solidFill>
                <a:effectLst/>
                <a:latin typeface="Inter"/>
              </a:rPr>
              <a:t>制造工艺领先</a:t>
            </a:r>
            <a:endParaRPr lang="zh-CN" altLang="en-US" sz="2400" b="0" i="0" dirty="0">
              <a:ln w="22225">
                <a:solidFill>
                  <a:schemeClr val="accent2"/>
                </a:solidFill>
                <a:prstDash val="solid"/>
              </a:ln>
              <a:solidFill>
                <a:schemeClr val="accent2">
                  <a:lumMod val="40000"/>
                  <a:lumOff val="60000"/>
                </a:schemeClr>
              </a:solidFill>
              <a:effectLst/>
              <a:latin typeface="Inter"/>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德国博世力士乐：3D 打印砂模铸造，壳体精度 CT6 级</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瑞士马格：KAPP NILES 磨齿机，齿轮精度 DIN 3 级</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日本油研：等离子渗氮技术，齿轮表面硬度 1200HV，寿命超 10000 小时</a:t>
            </a:r>
            <a:endParaRPr lang="zh-CN" altLang="en-US" b="0" i="0" dirty="0">
              <a:solidFill>
                <a:srgbClr val="000000"/>
              </a:solidFill>
              <a:effectLst/>
              <a:latin typeface="Inter"/>
            </a:endParaRPr>
          </a:p>
          <a:p>
            <a:pPr algn="l">
              <a:buFont typeface="+mj-lt"/>
              <a:buAutoNum type="arabicPeriod"/>
            </a:pPr>
            <a:r>
              <a:rPr lang="zh-CN" altLang="en-US" sz="2400" b="1" i="0" dirty="0">
                <a:ln w="22225">
                  <a:solidFill>
                    <a:schemeClr val="accent2"/>
                  </a:solidFill>
                  <a:prstDash val="solid"/>
                </a:ln>
                <a:solidFill>
                  <a:schemeClr val="accent2">
                    <a:lumMod val="40000"/>
                    <a:lumOff val="60000"/>
                  </a:schemeClr>
                </a:solidFill>
                <a:effectLst/>
                <a:latin typeface="Inter"/>
              </a:rPr>
              <a:t>高压与效率优势</a:t>
            </a:r>
            <a:endParaRPr lang="zh-CN" altLang="en-US" sz="2400" b="0" i="0" dirty="0">
              <a:ln w="22225">
                <a:solidFill>
                  <a:schemeClr val="accent2"/>
                </a:solidFill>
                <a:prstDash val="solid"/>
              </a:ln>
              <a:solidFill>
                <a:schemeClr val="accent2">
                  <a:lumMod val="40000"/>
                  <a:lumOff val="60000"/>
                </a:schemeClr>
              </a:solidFill>
              <a:effectLst/>
              <a:latin typeface="Inter"/>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美国派克 PGP500：工作压力 35MPa（提升 40%）</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意大利阿托斯 PGH：容积效率 95%，总效率超 90%</a:t>
            </a:r>
            <a:endParaRPr lang="en-US" altLang="zh-CN" b="0" i="0" dirty="0">
              <a:solidFill>
                <a:srgbClr val="000000"/>
              </a:solidFill>
              <a:effectLst/>
              <a:latin typeface="Inter"/>
            </a:endParaRPr>
          </a:p>
          <a:p>
            <a:pPr algn="l">
              <a:buFont typeface="+mj-lt"/>
              <a:buAutoNum type="arabicPeriod"/>
            </a:pPr>
            <a:r>
              <a:rPr lang="zh-CN" altLang="en-US" sz="2400" b="1" i="0" dirty="0">
                <a:ln w="22225">
                  <a:solidFill>
                    <a:schemeClr val="accent2"/>
                  </a:solidFill>
                  <a:prstDash val="solid"/>
                </a:ln>
                <a:solidFill>
                  <a:schemeClr val="accent2">
                    <a:lumMod val="40000"/>
                    <a:lumOff val="60000"/>
                  </a:schemeClr>
                </a:solidFill>
                <a:effectLst/>
                <a:latin typeface="Inter"/>
              </a:rPr>
              <a:t>技术趋势</a:t>
            </a:r>
            <a:endParaRPr lang="zh-CN" altLang="en-US" sz="2400" b="0" i="0" dirty="0">
              <a:ln w="22225">
                <a:solidFill>
                  <a:schemeClr val="accent2"/>
                </a:solidFill>
                <a:prstDash val="solid"/>
              </a:ln>
              <a:solidFill>
                <a:schemeClr val="accent2">
                  <a:lumMod val="40000"/>
                  <a:lumOff val="60000"/>
                </a:schemeClr>
              </a:solidFill>
              <a:effectLst/>
              <a:latin typeface="Inter"/>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低噪声：德国林德斜齿轮泵噪声降 15dB</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智能化：美国派克 Smart Pump 集成 IoT 模块，德国力士乐数字化工厂自动化率 85%</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材料创新：纳米复合材料 / 陶瓷轴承应用</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203190" cy="429895"/>
            <a:chOff x="707718" y="813975"/>
            <a:chExt cx="520319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069205" cy="429895"/>
            </a:xfrm>
            <a:prstGeom prst="rect">
              <a:avLst/>
            </a:prstGeom>
            <a:noFill/>
          </p:spPr>
          <p:txBody>
            <a:bodyPr wrap="square">
              <a:spAutoFit/>
            </a:bodyPr>
            <a:lstStyle/>
            <a:p>
              <a:r>
                <a:rPr lang="zh-CN" altLang="en-US" sz="2200" b="1" kern="100" dirty="0">
                  <a:effectLst/>
                  <a:latin typeface="Calibri" panose="020F0502020204030204" charset="0"/>
                  <a:ea typeface="宋体" panose="02010600030101010101" pitchFamily="2" charset="-122"/>
                  <a:cs typeface="Times New Roman" panose="02020603050405020304" charset="0"/>
                  <a:sym typeface="+mn-ea"/>
                </a:rPr>
                <a:t>国内 EHA 齿轮泵技术进展与挑战</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19" name="图形 18" descr="客户评价 纯色填充"/>
          <p:cNvPicPr>
            <a:picLocks noChangeAspect="1"/>
          </p:cNvPicPr>
          <p:nvPr/>
        </p:nvPicPr>
        <p:blipFill>
          <a:blip/>
          <a:stretch>
            <a:fillRect/>
          </a:stretch>
        </p:blipFill>
        <p:spPr>
          <a:xfrm>
            <a:off x="905915" y="2043236"/>
            <a:ext cx="544513" cy="544513"/>
          </a:xfrm>
          <a:prstGeom prst="rect">
            <a:avLst/>
          </a:prstGeom>
        </p:spPr>
      </p:pic>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72874"/>
            <a:chOff x="420718" y="6449599"/>
            <a:chExt cx="8887482" cy="372874"/>
          </a:xfrm>
        </p:grpSpPr>
        <p:sp>
          <p:nvSpPr>
            <p:cNvPr id="20" name="箭头: 五边形 19"/>
            <p:cNvSpPr/>
            <p:nvPr/>
          </p:nvSpPr>
          <p:spPr>
            <a:xfrm>
              <a:off x="1896721" y="6454666"/>
              <a:ext cx="1166007" cy="367807"/>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3545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16548" y="6474997"/>
              <a:ext cx="100076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bg1"/>
                  </a:solidFill>
                  <a:latin typeface="+mn-ea"/>
                  <a:cs typeface="+mn-ea"/>
                </a:rPr>
                <a:t>研究</a:t>
              </a:r>
              <a:r>
                <a:rPr lang="zh-CN" altLang="en-US" sz="1600" b="1" dirty="0">
                  <a:solidFill>
                    <a:schemeClr val="bg1"/>
                  </a:solidFill>
                  <a:latin typeface="+mn-ea"/>
                  <a:cs typeface="+mn-ea"/>
                </a:rPr>
                <a:t>现状</a:t>
              </a:r>
              <a:endParaRPr lang="zh-CN" altLang="en-US" sz="1600" b="1" dirty="0">
                <a:solidFill>
                  <a:schemeClr val="bg1"/>
                </a:solidFill>
                <a:latin typeface="+mn-ea"/>
                <a:cs typeface="+mn-ea"/>
              </a:endParaRPr>
            </a:p>
          </p:txBody>
        </p:sp>
      </p:grpSp>
      <p:sp>
        <p:nvSpPr>
          <p:cNvPr id="2" name="内容占位符 2"/>
          <p:cNvSpPr>
            <a:spLocks noGrp="1"/>
          </p:cNvSpPr>
          <p:nvPr/>
        </p:nvSpPr>
        <p:spPr>
          <a:xfrm>
            <a:off x="906145" y="1545590"/>
            <a:ext cx="10435590" cy="52800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80000"/>
              </a:lnSpc>
              <a:buFont typeface="+mj-lt"/>
              <a:buAutoNum type="arabicPeriod"/>
            </a:pPr>
            <a:r>
              <a:rPr lang="zh-CN" altLang="en-US" sz="2400" b="1" i="0" dirty="0">
                <a:ln w="22225">
                  <a:solidFill>
                    <a:schemeClr val="accent2"/>
                  </a:solidFill>
                  <a:prstDash val="solid"/>
                </a:ln>
                <a:solidFill>
                  <a:schemeClr val="accent2">
                    <a:lumMod val="40000"/>
                    <a:lumOff val="60000"/>
                  </a:schemeClr>
                </a:solidFill>
                <a:effectLst/>
                <a:latin typeface="Inter"/>
              </a:rPr>
              <a:t>关键技术突破</a:t>
            </a:r>
            <a:endParaRPr lang="zh-CN" altLang="en-US" sz="2400" b="0" i="0" dirty="0">
              <a:ln w="22225">
                <a:solidFill>
                  <a:schemeClr val="accent2"/>
                </a:solidFill>
                <a:prstDash val="solid"/>
              </a:ln>
              <a:solidFill>
                <a:schemeClr val="accent2">
                  <a:lumMod val="40000"/>
                  <a:lumOff val="60000"/>
                </a:schemeClr>
              </a:solidFill>
              <a:effectLst/>
              <a:latin typeface="Inter"/>
            </a:endParaRPr>
          </a:p>
          <a:p>
            <a:pPr marL="285750" lvl="1" indent="-285750" algn="just">
              <a:lnSpc>
                <a:spcPct val="80000"/>
              </a:lnSpc>
              <a:buClrTx/>
              <a:buSzTx/>
            </a:pPr>
            <a:r>
              <a:rPr lang="zh-CN" altLang="en-US" sz="1800" b="1" i="1" kern="100" dirty="0">
                <a:effectLst/>
                <a:latin typeface="Calibri" panose="020F0502020204030204" charset="0"/>
                <a:ea typeface="宋体" panose="02010600030101010101" pitchFamily="2" charset="-122"/>
                <a:cs typeface="Times New Roman" panose="02020603050405020304" charset="0"/>
              </a:rPr>
              <a:t>齿形优化：</a:t>
            </a:r>
            <a:endParaRPr lang="zh-CN" altLang="en-US" sz="1800" b="0" i="1" kern="100" dirty="0">
              <a:effectLst/>
              <a:latin typeface="Calibri" panose="020F0502020204030204" charset="0"/>
              <a:ea typeface="宋体" panose="02010600030101010101" pitchFamily="2" charset="-122"/>
              <a:cs typeface="Times New Roman" panose="02020603050405020304" charset="0"/>
            </a:endParaRPr>
          </a:p>
          <a:p>
            <a:pPr marL="0" lvl="1" indent="0" algn="just">
              <a:lnSpc>
                <a:spcPct val="80000"/>
              </a:lnSpc>
              <a:buClrTx/>
              <a:buSzTx/>
              <a:buNone/>
            </a:pPr>
            <a:r>
              <a:rPr lang="zh-CN" altLang="en-US" sz="1800" b="0" i="0" kern="100" dirty="0">
                <a:effectLst/>
                <a:latin typeface="Calibri" panose="020F0502020204030204" charset="0"/>
                <a:ea typeface="宋体" panose="02010600030101010101" pitchFamily="2" charset="-122"/>
                <a:cs typeface="Times New Roman" panose="02020603050405020304" charset="0"/>
              </a:rPr>
              <a:t>浙大 “非对称双圆弧齿形”，流量均匀性提升 12%</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0" lvl="1" indent="0" algn="just">
              <a:lnSpc>
                <a:spcPct val="80000"/>
              </a:lnSpc>
              <a:buClrTx/>
              <a:buSzTx/>
              <a:buNone/>
            </a:pPr>
            <a:r>
              <a:rPr lang="zh-CN" altLang="en-US" sz="1800" b="0" i="0" kern="100" dirty="0">
                <a:effectLst/>
                <a:latin typeface="Calibri" panose="020F0502020204030204" charset="0"/>
                <a:ea typeface="宋体" panose="02010600030101010101" pitchFamily="2" charset="-122"/>
                <a:cs typeface="Times New Roman" panose="02020603050405020304" charset="0"/>
              </a:rPr>
              <a:t>太原理工 “抛物线 - 渐开线复合齿形”，噪声降 8dB</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80000"/>
              </a:lnSpc>
              <a:buClrTx/>
              <a:buSzTx/>
            </a:pPr>
            <a:r>
              <a:rPr lang="zh-CN" altLang="en-US" sz="1800" b="1" i="1" kern="100" dirty="0">
                <a:effectLst/>
                <a:latin typeface="Calibri" panose="020F0502020204030204" charset="0"/>
                <a:ea typeface="宋体" panose="02010600030101010101" pitchFamily="2" charset="-122"/>
                <a:cs typeface="Times New Roman" panose="02020603050405020304" charset="0"/>
              </a:rPr>
              <a:t>间隙补偿：</a:t>
            </a:r>
            <a:endParaRPr lang="zh-CN" altLang="en-US" sz="1800" b="1" i="1" kern="100" dirty="0">
              <a:effectLst/>
              <a:latin typeface="Calibri" panose="020F0502020204030204" charset="0"/>
              <a:ea typeface="宋体" panose="02010600030101010101" pitchFamily="2" charset="-122"/>
              <a:cs typeface="Times New Roman" panose="02020603050405020304" charset="0"/>
            </a:endParaRPr>
          </a:p>
          <a:p>
            <a:pPr marL="0" lvl="1" indent="0" algn="just">
              <a:lnSpc>
                <a:spcPct val="80000"/>
              </a:lnSpc>
              <a:buClrTx/>
              <a:buSzTx/>
              <a:buNone/>
            </a:pPr>
            <a:r>
              <a:rPr lang="zh-CN" altLang="en-US" sz="1800" b="0" i="0" kern="100" dirty="0">
                <a:effectLst/>
                <a:latin typeface="Calibri" panose="020F0502020204030204" charset="0"/>
                <a:ea typeface="宋体" panose="02010600030101010101" pitchFamily="2" charset="-122"/>
                <a:cs typeface="Times New Roman" panose="02020603050405020304" charset="0"/>
              </a:rPr>
              <a:t>北京华德 “弹性浮动侧板”，容积效率 93%</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0" lvl="1" indent="0" algn="just">
              <a:lnSpc>
                <a:spcPct val="80000"/>
              </a:lnSpc>
              <a:buClrTx/>
              <a:buSzTx/>
              <a:buNone/>
            </a:pPr>
            <a:r>
              <a:rPr lang="zh-CN" altLang="en-US" sz="1800" b="0" i="0" kern="100" dirty="0">
                <a:effectLst/>
                <a:latin typeface="Calibri" panose="020F0502020204030204" charset="0"/>
                <a:ea typeface="宋体" panose="02010600030101010101" pitchFamily="2" charset="-122"/>
                <a:cs typeface="Times New Roman" panose="02020603050405020304" charset="0"/>
              </a:rPr>
              <a:t>流量脉动控制：双齿轮泵错相位并联，脉动降 75.56%</a:t>
            </a:r>
            <a:endParaRPr lang="en-US" altLang="zh-CN" b="0" i="0" dirty="0">
              <a:solidFill>
                <a:srgbClr val="000000"/>
              </a:solidFill>
              <a:effectLst/>
              <a:latin typeface="Inter"/>
            </a:endParaRPr>
          </a:p>
          <a:p>
            <a:pPr algn="l">
              <a:lnSpc>
                <a:spcPct val="80000"/>
              </a:lnSpc>
              <a:buFont typeface="+mj-lt"/>
              <a:buAutoNum type="arabicPeriod"/>
            </a:pPr>
            <a:r>
              <a:rPr lang="zh-CN" altLang="en-US" sz="2400" b="1" i="0" dirty="0">
                <a:ln w="22225">
                  <a:solidFill>
                    <a:schemeClr val="accent2"/>
                  </a:solidFill>
                  <a:prstDash val="solid"/>
                </a:ln>
                <a:solidFill>
                  <a:schemeClr val="accent2">
                    <a:lumMod val="40000"/>
                    <a:lumOff val="60000"/>
                  </a:schemeClr>
                </a:solidFill>
                <a:effectLst/>
                <a:latin typeface="Inter"/>
              </a:rPr>
              <a:t>产学研成果</a:t>
            </a:r>
            <a:endParaRPr lang="zh-CN" altLang="en-US" sz="2400" b="0" i="0" dirty="0">
              <a:ln w="22225">
                <a:solidFill>
                  <a:schemeClr val="accent2"/>
                </a:solidFill>
                <a:prstDash val="solid"/>
              </a:ln>
              <a:solidFill>
                <a:schemeClr val="accent2">
                  <a:lumMod val="40000"/>
                  <a:lumOff val="60000"/>
                </a:schemeClr>
              </a:solidFill>
              <a:effectLst/>
              <a:latin typeface="Inter"/>
            </a:endParaRPr>
          </a:p>
          <a:p>
            <a:pPr marL="57150" lvl="1" indent="-285750" algn="just">
              <a:lnSpc>
                <a:spcPct val="8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浙大 + 恒立液压：HLP-V 系列齿轮泵，压力脉动降 30%</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57150" lvl="1" indent="-285750" algn="just">
              <a:lnSpc>
                <a:spcPct val="8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太原理工 + 太重榆液：齿轮泵 CFD 仿真系统，设计周期缩短 40%</a:t>
            </a:r>
            <a:endParaRPr lang="en-US" altLang="zh-CN" b="0" i="0" dirty="0">
              <a:solidFill>
                <a:srgbClr val="000000"/>
              </a:solidFill>
              <a:effectLst/>
              <a:latin typeface="Inter"/>
            </a:endParaRPr>
          </a:p>
          <a:p>
            <a:pPr algn="l">
              <a:lnSpc>
                <a:spcPct val="80000"/>
              </a:lnSpc>
              <a:buFont typeface="+mj-lt"/>
              <a:buAutoNum type="arabicPeriod"/>
            </a:pPr>
            <a:r>
              <a:rPr lang="zh-CN" altLang="en-US" sz="2400" b="1" i="0" dirty="0">
                <a:ln w="22225">
                  <a:solidFill>
                    <a:schemeClr val="accent2"/>
                  </a:solidFill>
                  <a:prstDash val="solid"/>
                </a:ln>
                <a:solidFill>
                  <a:schemeClr val="accent2">
                    <a:lumMod val="40000"/>
                    <a:lumOff val="60000"/>
                  </a:schemeClr>
                </a:solidFill>
                <a:effectLst/>
                <a:latin typeface="Inter"/>
              </a:rPr>
              <a:t>差距与目标</a:t>
            </a:r>
            <a:endParaRPr lang="zh-CN" altLang="en-US" sz="2400" b="0" i="0" dirty="0">
              <a:ln w="22225">
                <a:solidFill>
                  <a:schemeClr val="accent2"/>
                </a:solidFill>
                <a:prstDash val="solid"/>
              </a:ln>
              <a:solidFill>
                <a:schemeClr val="accent2">
                  <a:lumMod val="40000"/>
                  <a:lumOff val="60000"/>
                </a:schemeClr>
              </a:solidFill>
              <a:effectLst/>
              <a:latin typeface="Inter"/>
            </a:endParaRPr>
          </a:p>
          <a:p>
            <a:pPr marL="57150" lvl="1" indent="-285750" algn="just">
              <a:lnSpc>
                <a:spcPct val="8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压力差距：国内 25-31MPa vs 国外 35-42MPa</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57150" lvl="1" indent="-285750" algn="just">
              <a:lnSpc>
                <a:spcPct val="8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可靠性：国内平均无故障时间 5000 小时</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80000"/>
              </a:lnSpc>
              <a:buClrTx/>
              <a:buSzTx/>
            </a:pPr>
            <a:r>
              <a:rPr lang="zh-CN" altLang="en-US" sz="1800" b="0" i="0" kern="100" dirty="0">
                <a:effectLst/>
                <a:latin typeface="Calibri" panose="020F0502020204030204" charset="0"/>
                <a:ea typeface="宋体" panose="02010600030101010101" pitchFamily="2" charset="-122"/>
                <a:cs typeface="Times New Roman" panose="02020603050405020304" charset="0"/>
              </a:rPr>
              <a:t>智能化规划：2025 年 50% 工业齿轮泵配状态监测功能</a:t>
            </a:r>
            <a:endParaRPr lang="zh-CN" altLang="en-US" sz="1800" b="0" i="0" kern="100" dirty="0">
              <a:effectLst/>
              <a:latin typeface="Calibri" panose="020F0502020204030204" charset="0"/>
              <a:ea typeface="宋体" panose="02010600030101010101" pitchFamily="2" charset="-122"/>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203190" cy="429895"/>
            <a:chOff x="707718" y="813975"/>
            <a:chExt cx="520319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069205" cy="429895"/>
            </a:xfrm>
            <a:prstGeom prst="rect">
              <a:avLst/>
            </a:prstGeom>
            <a:noFill/>
          </p:spPr>
          <p:txBody>
            <a:bodyPr wrap="square">
              <a:spAutoFit/>
            </a:bodyPr>
            <a:lstStyle/>
            <a:p>
              <a:r>
                <a:rPr lang="zh-CN" altLang="en-US" sz="2200" dirty="0">
                  <a:solidFill>
                    <a:srgbClr val="404040"/>
                  </a:solidFill>
                  <a:effectLst/>
                  <a:latin typeface="quote-cjk-patch"/>
                  <a:sym typeface="+mn-ea"/>
                </a:rPr>
                <a:t>核心指标对比</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19" name="图形 18" descr="客户评价 纯色填充"/>
          <p:cNvPicPr>
            <a:picLocks noChangeAspect="1"/>
          </p:cNvPicPr>
          <p:nvPr/>
        </p:nvPicPr>
        <p:blipFill>
          <a:blip/>
          <a:stretch>
            <a:fillRect/>
          </a:stretch>
        </p:blipFill>
        <p:spPr>
          <a:xfrm>
            <a:off x="905915" y="2043236"/>
            <a:ext cx="544513" cy="544513"/>
          </a:xfrm>
          <a:prstGeom prst="rect">
            <a:avLst/>
          </a:prstGeom>
        </p:spPr>
      </p:pic>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72874"/>
            <a:chOff x="420718" y="6449599"/>
            <a:chExt cx="8887482" cy="372874"/>
          </a:xfrm>
        </p:grpSpPr>
        <p:sp>
          <p:nvSpPr>
            <p:cNvPr id="20" name="箭头: 五边形 19"/>
            <p:cNvSpPr/>
            <p:nvPr/>
          </p:nvSpPr>
          <p:spPr>
            <a:xfrm>
              <a:off x="1896721" y="6454666"/>
              <a:ext cx="1166007" cy="367807"/>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3545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16548" y="6474997"/>
              <a:ext cx="100076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bg1"/>
                  </a:solidFill>
                  <a:latin typeface="+mn-ea"/>
                  <a:cs typeface="+mn-ea"/>
                </a:rPr>
                <a:t>研究</a:t>
              </a:r>
              <a:r>
                <a:rPr lang="zh-CN" altLang="en-US" sz="1600" b="1" dirty="0">
                  <a:solidFill>
                    <a:schemeClr val="bg1"/>
                  </a:solidFill>
                  <a:latin typeface="+mn-ea"/>
                  <a:cs typeface="+mn-ea"/>
                </a:rPr>
                <a:t>现状</a:t>
              </a:r>
              <a:endParaRPr lang="zh-CN" altLang="en-US" sz="1600" b="1" dirty="0">
                <a:solidFill>
                  <a:schemeClr val="bg1"/>
                </a:solidFill>
                <a:latin typeface="+mn-ea"/>
                <a:cs typeface="+mn-ea"/>
              </a:endParaRPr>
            </a:p>
          </p:txBody>
        </p:sp>
      </p:grpSp>
      <p:graphicFrame>
        <p:nvGraphicFramePr>
          <p:cNvPr id="6" name="图表 5"/>
          <p:cNvGraphicFramePr/>
          <p:nvPr/>
        </p:nvGraphicFramePr>
        <p:xfrm>
          <a:off x="4908550" y="1604010"/>
          <a:ext cx="5933440" cy="4485640"/>
        </p:xfrm>
        <a:graphic>
          <a:graphicData uri="http://schemas.openxmlformats.org/drawingml/2006/chart">
            <c:chart xmlns:c="http://schemas.openxmlformats.org/drawingml/2006/chart" xmlns:r="http://schemas.openxmlformats.org/officeDocument/2006/relationships" r:id="rId1"/>
          </a:graphicData>
        </a:graphic>
      </p:graphicFrame>
      <p:sp>
        <p:nvSpPr>
          <p:cNvPr id="3" name="文本框 2"/>
          <p:cNvSpPr txBox="1"/>
          <p:nvPr/>
        </p:nvSpPr>
        <p:spPr>
          <a:xfrm>
            <a:off x="1896745" y="2023110"/>
            <a:ext cx="4064000" cy="3061335"/>
          </a:xfrm>
          <a:prstGeom prst="rect">
            <a:avLst/>
          </a:prstGeom>
          <a:noFill/>
        </p:spPr>
        <p:txBody>
          <a:bodyPr wrap="square" rtlCol="0">
            <a:spAutoFit/>
          </a:bodyPr>
          <a:p>
            <a:pPr marL="285750" lvl="1" indent="-285750" algn="just">
              <a:lnSpc>
                <a:spcPct val="100000"/>
              </a:lnSpc>
              <a:spcBef>
                <a:spcPts val="500"/>
              </a:spcBef>
              <a:buClrTx/>
              <a:buSzTx/>
              <a:buFont typeface="Arial" panose="020B0604020202020204" pitchFamily="34" charset="0"/>
              <a:buChar char="•"/>
            </a:pPr>
            <a:r>
              <a:rPr lang="zh-CN" altLang="en-US" sz="2400" kern="100" dirty="0">
                <a:ln w="22225">
                  <a:solidFill>
                    <a:schemeClr val="accent2"/>
                  </a:solidFill>
                  <a:prstDash val="solid"/>
                </a:ln>
                <a:solidFill>
                  <a:schemeClr val="accent2">
                    <a:lumMod val="40000"/>
                    <a:lumOff val="60000"/>
                  </a:schemeClr>
                </a:solidFill>
                <a:effectLst/>
                <a:latin typeface="Calibri" panose="020F0502020204030204" charset="0"/>
                <a:ea typeface="宋体" panose="02010600030101010101" pitchFamily="2" charset="-122"/>
                <a:cs typeface="Times New Roman" panose="02020603050405020304" charset="0"/>
                <a:sym typeface="+mn-ea"/>
              </a:rPr>
              <a:t>压力等级：</a:t>
            </a:r>
            <a:endParaRPr lang="zh-CN" altLang="en-US" sz="2400" i="0" kern="100" dirty="0">
              <a:ln w="22225">
                <a:solidFill>
                  <a:schemeClr val="accent2"/>
                </a:solidFill>
                <a:prstDash val="solid"/>
              </a:ln>
              <a:solidFill>
                <a:schemeClr val="accent2">
                  <a:lumMod val="40000"/>
                  <a:lumOff val="60000"/>
                </a:schemeClr>
              </a:solidFill>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spcBef>
                <a:spcPts val="500"/>
              </a:spcBef>
              <a:buClrTx/>
              <a:buSzTx/>
              <a:buFont typeface="Arial" panose="020B0604020202020204" pitchFamily="34" charset="0"/>
              <a:buChar char="•"/>
            </a:pPr>
            <a:r>
              <a:rPr lang="zh-CN" altLang="en-US" sz="2400" kern="100" dirty="0">
                <a:effectLst/>
                <a:latin typeface="Calibri" panose="020F0502020204030204" charset="0"/>
                <a:ea typeface="宋体" panose="02010600030101010101" pitchFamily="2" charset="-122"/>
                <a:cs typeface="Times New Roman" panose="02020603050405020304" charset="0"/>
                <a:sym typeface="+mn-ea"/>
              </a:rPr>
              <a:t>国内31MP </a:t>
            </a:r>
            <a:endParaRPr lang="zh-CN" altLang="en-US" sz="240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spcBef>
                <a:spcPts val="500"/>
              </a:spcBef>
              <a:buClrTx/>
              <a:buSzTx/>
              <a:buFont typeface="Arial" panose="020B0604020202020204" pitchFamily="34" charset="0"/>
              <a:buChar char="•"/>
            </a:pPr>
            <a:r>
              <a:rPr lang="zh-CN" altLang="en-US" sz="2400" kern="100" dirty="0">
                <a:effectLst/>
                <a:latin typeface="Calibri" panose="020F0502020204030204" charset="0"/>
                <a:ea typeface="宋体" panose="02010600030101010101" pitchFamily="2" charset="-122"/>
                <a:cs typeface="Times New Roman" panose="02020603050405020304" charset="0"/>
                <a:sym typeface="+mn-ea"/>
              </a:rPr>
              <a:t>国外42MP</a:t>
            </a:r>
            <a:endParaRPr lang="zh-CN" altLang="en-US" sz="2400" kern="100" dirty="0">
              <a:effectLst/>
              <a:latin typeface="Calibri" panose="020F0502020204030204" charset="0"/>
              <a:ea typeface="宋体" panose="02010600030101010101" pitchFamily="2" charset="-122"/>
              <a:cs typeface="Times New Roman" panose="02020603050405020304" charset="0"/>
              <a:sym typeface="+mn-ea"/>
            </a:endParaRPr>
          </a:p>
          <a:p>
            <a:pPr marL="285750" lvl="1" indent="-285750" algn="just">
              <a:lnSpc>
                <a:spcPct val="100000"/>
              </a:lnSpc>
              <a:spcBef>
                <a:spcPts val="500"/>
              </a:spcBef>
              <a:buClrTx/>
              <a:buSzTx/>
              <a:buFont typeface="Arial" panose="020B0604020202020204" pitchFamily="34" charset="0"/>
              <a:buChar char="•"/>
            </a:pPr>
            <a:endParaRPr lang="zh-CN" altLang="en-US" sz="240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spcBef>
                <a:spcPts val="500"/>
              </a:spcBef>
              <a:buClrTx/>
              <a:buSzTx/>
              <a:buFont typeface="Arial" panose="020B0604020202020204" pitchFamily="34" charset="0"/>
              <a:buChar char="•"/>
            </a:pPr>
            <a:r>
              <a:rPr lang="zh-CN" altLang="en-US" sz="2400" kern="100" dirty="0">
                <a:ln w="22225">
                  <a:solidFill>
                    <a:schemeClr val="accent2"/>
                  </a:solidFill>
                  <a:prstDash val="solid"/>
                </a:ln>
                <a:solidFill>
                  <a:schemeClr val="accent2">
                    <a:lumMod val="40000"/>
                    <a:lumOff val="60000"/>
                  </a:schemeClr>
                </a:solidFill>
                <a:effectLst/>
                <a:latin typeface="Calibri" panose="020F0502020204030204" charset="0"/>
                <a:ea typeface="宋体" panose="02010600030101010101" pitchFamily="2" charset="-122"/>
                <a:cs typeface="Times New Roman" panose="02020603050405020304" charset="0"/>
                <a:sym typeface="+mn-ea"/>
              </a:rPr>
              <a:t>2.寿命：</a:t>
            </a:r>
            <a:endParaRPr lang="zh-CN" altLang="en-US" sz="2400" i="0" kern="100" dirty="0">
              <a:ln w="22225">
                <a:solidFill>
                  <a:schemeClr val="accent2"/>
                </a:solidFill>
                <a:prstDash val="solid"/>
              </a:ln>
              <a:solidFill>
                <a:schemeClr val="accent2">
                  <a:lumMod val="40000"/>
                  <a:lumOff val="60000"/>
                </a:schemeClr>
              </a:solidFill>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spcBef>
                <a:spcPts val="500"/>
              </a:spcBef>
              <a:buClrTx/>
              <a:buSzTx/>
              <a:buFont typeface="Arial" panose="020B0604020202020204" pitchFamily="34" charset="0"/>
              <a:buChar char="•"/>
            </a:pPr>
            <a:r>
              <a:rPr lang="zh-CN" altLang="en-US" sz="2400" kern="100" dirty="0">
                <a:effectLst/>
                <a:latin typeface="Calibri" panose="020F0502020204030204" charset="0"/>
                <a:ea typeface="宋体" panose="02010600030101010101" pitchFamily="2" charset="-122"/>
                <a:cs typeface="Times New Roman" panose="02020603050405020304" charset="0"/>
                <a:sym typeface="+mn-ea"/>
              </a:rPr>
              <a:t>国内5000</a:t>
            </a:r>
            <a:r>
              <a:rPr lang="en-US" altLang="zh-CN" sz="2400" kern="100" dirty="0">
                <a:effectLst/>
                <a:latin typeface="Calibri" panose="020F0502020204030204" charset="0"/>
                <a:ea typeface="宋体" panose="02010600030101010101" pitchFamily="2" charset="-122"/>
                <a:cs typeface="Times New Roman" panose="02020603050405020304" charset="0"/>
                <a:sym typeface="+mn-ea"/>
              </a:rPr>
              <a:t>h</a:t>
            </a:r>
            <a:endParaRPr lang="zh-CN" altLang="en-US" sz="2400" i="0" kern="100" dirty="0">
              <a:effectLst/>
              <a:latin typeface="Calibri" panose="020F0502020204030204" charset="0"/>
              <a:ea typeface="宋体" panose="02010600030101010101" pitchFamily="2" charset="-122"/>
              <a:cs typeface="Times New Roman" panose="02020603050405020304" charset="0"/>
            </a:endParaRPr>
          </a:p>
          <a:p>
            <a:pPr marL="285750" lvl="1" indent="-285750" algn="just">
              <a:lnSpc>
                <a:spcPct val="100000"/>
              </a:lnSpc>
              <a:spcBef>
                <a:spcPts val="500"/>
              </a:spcBef>
              <a:buClrTx/>
              <a:buSzTx/>
              <a:buFont typeface="Arial" panose="020B0604020202020204" pitchFamily="34" charset="0"/>
              <a:buChar char="•"/>
            </a:pPr>
            <a:r>
              <a:rPr lang="zh-CN" altLang="en-US" sz="2400" kern="100" dirty="0">
                <a:effectLst/>
                <a:latin typeface="Calibri" panose="020F0502020204030204" charset="0"/>
                <a:ea typeface="宋体" panose="02010600030101010101" pitchFamily="2" charset="-122"/>
                <a:cs typeface="Times New Roman" panose="02020603050405020304" charset="0"/>
                <a:sym typeface="+mn-ea"/>
              </a:rPr>
              <a:t>国外10000</a:t>
            </a:r>
            <a:r>
              <a:rPr lang="en-US" altLang="zh-CN" sz="2400" kern="100" dirty="0">
                <a:effectLst/>
                <a:latin typeface="Calibri" panose="020F0502020204030204" charset="0"/>
                <a:ea typeface="宋体" panose="02010600030101010101" pitchFamily="2" charset="-122"/>
                <a:cs typeface="Times New Roman" panose="02020603050405020304" charset="0"/>
                <a:sym typeface="+mn-ea"/>
              </a:rPr>
              <a:t>h</a:t>
            </a:r>
            <a:endParaRPr lang="en-US" altLang="zh-CN" sz="2400" kern="100" dirty="0">
              <a:effectLst/>
              <a:latin typeface="Calibri" panose="020F0502020204030204" charset="0"/>
              <a:ea typeface="宋体" panose="02010600030101010101" pitchFamily="2" charset="-122"/>
              <a:cs typeface="Times New Roman" panose="02020603050405020304" charset="0"/>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3828219" cy="429895"/>
            <a:chOff x="707718" y="813975"/>
            <a:chExt cx="3828219"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本文主要研究内容</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sp>
        <p:nvSpPr>
          <p:cNvPr id="25" name="矩形 24"/>
          <p:cNvSpPr/>
          <p:nvPr/>
        </p:nvSpPr>
        <p:spPr>
          <a:xfrm>
            <a:off x="3945190" y="1483192"/>
            <a:ext cx="7260043" cy="20381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Clr>
                <a:srgbClr val="0E419C"/>
              </a:buClr>
            </a:pPr>
            <a:endParaRPr kumimoji="0" lang="en-US" altLang="zh-CN" sz="1400" b="0" i="0" u="none" strike="noStrike" kern="1200" cap="none" spc="0" normalizeH="0" baseline="0" noProof="1">
              <a:ln>
                <a:noFill/>
              </a:ln>
              <a:solidFill>
                <a:schemeClr val="bg1">
                  <a:lumMod val="75000"/>
                </a:schemeClr>
              </a:solidFill>
              <a:effectLst/>
              <a:uLnTx/>
              <a:uFillTx/>
              <a:latin typeface="Arial" panose="020B0604020202020204" pitchFamily="34" charset="0"/>
              <a:ea typeface="Open Sans Light" panose="020B0306030504020204" pitchFamily="34" charset="0"/>
              <a:cs typeface="Arial" panose="020B0604020202020204" pitchFamily="34" charset="0"/>
              <a:sym typeface="Segoe UI Symbol" panose="020B0502040204020203" pitchFamily="34" charset="0"/>
            </a:endParaRPr>
          </a:p>
        </p:txBody>
      </p:sp>
      <p:sp>
        <p:nvSpPr>
          <p:cNvPr id="26" name="矩形 25"/>
          <p:cNvSpPr/>
          <p:nvPr/>
        </p:nvSpPr>
        <p:spPr>
          <a:xfrm>
            <a:off x="905915" y="3850812"/>
            <a:ext cx="7260043" cy="20381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Clr>
                <a:srgbClr val="0E419C"/>
              </a:buClr>
            </a:pPr>
            <a:endParaRPr kumimoji="0" lang="en-US" altLang="zh-CN" sz="1400" b="0" i="0" u="none" strike="noStrike" kern="1200" cap="none" spc="0" normalizeH="0" baseline="0" noProof="1">
              <a:ln>
                <a:noFill/>
              </a:ln>
              <a:solidFill>
                <a:schemeClr val="bg1">
                  <a:lumMod val="75000"/>
                </a:schemeClr>
              </a:solidFill>
              <a:effectLst/>
              <a:uLnTx/>
              <a:uFillTx/>
              <a:latin typeface="Arial" panose="020B0604020202020204" pitchFamily="34" charset="0"/>
              <a:ea typeface="Open Sans Light" panose="020B0306030504020204" pitchFamily="34" charset="0"/>
              <a:cs typeface="Arial" panose="020B0604020202020204" pitchFamily="34" charset="0"/>
              <a:sym typeface="Segoe UI Symbol" panose="020B0502040204020203" pitchFamily="34" charset="0"/>
            </a:endParaRPr>
          </a:p>
        </p:txBody>
      </p:sp>
      <p:sp>
        <p:nvSpPr>
          <p:cNvPr id="27" name="矩形: 圆角 26"/>
          <p:cNvSpPr/>
          <p:nvPr/>
        </p:nvSpPr>
        <p:spPr>
          <a:xfrm>
            <a:off x="841375" y="1972945"/>
            <a:ext cx="3310890" cy="751205"/>
          </a:xfrm>
          <a:prstGeom prst="roundRect">
            <a:avLst>
              <a:gd name="adj" fmla="val 0"/>
            </a:avLst>
          </a:prstGeom>
          <a:gradFill>
            <a:gsLst>
              <a:gs pos="100000">
                <a:srgbClr val="0E419C"/>
              </a:gs>
              <a:gs pos="0">
                <a:srgbClr val="0E419C">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600" dirty="0"/>
              <a:t>仿真分析模型</a:t>
            </a:r>
            <a:endParaRPr lang="zh-CN" altLang="en-US" sz="2000" b="1" spc="600" dirty="0"/>
          </a:p>
        </p:txBody>
      </p:sp>
      <p:sp>
        <p:nvSpPr>
          <p:cNvPr id="31" name="矩形: 圆角 30"/>
          <p:cNvSpPr/>
          <p:nvPr/>
        </p:nvSpPr>
        <p:spPr>
          <a:xfrm>
            <a:off x="7898765" y="4466590"/>
            <a:ext cx="3700780" cy="825500"/>
          </a:xfrm>
          <a:prstGeom prst="roundRect">
            <a:avLst>
              <a:gd name="adj" fmla="val 0"/>
            </a:avLst>
          </a:prstGeom>
          <a:gradFill>
            <a:gsLst>
              <a:gs pos="100000">
                <a:srgbClr val="0E419C">
                  <a:alpha val="0"/>
                </a:srgbClr>
              </a:gs>
              <a:gs pos="0">
                <a:srgbClr val="0E419C"/>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600" dirty="0"/>
              <a:t>仿双圆弧斜齿</a:t>
            </a:r>
            <a:endParaRPr lang="zh-CN" altLang="en-US" sz="2000" b="1" spc="600" dirty="0"/>
          </a:p>
          <a:p>
            <a:pPr algn="ctr"/>
            <a:r>
              <a:rPr lang="zh-CN" altLang="en-US" sz="2000" b="1" spc="600" dirty="0"/>
              <a:t>齿轮泵轴向力分析</a:t>
            </a:r>
            <a:endParaRPr lang="zh-CN" altLang="en-US" sz="2000" b="1" spc="600" dirty="0"/>
          </a:p>
        </p:txBody>
      </p:sp>
      <p:sp>
        <p:nvSpPr>
          <p:cNvPr id="34" name="文本框 33"/>
          <p:cNvSpPr txBox="1"/>
          <p:nvPr/>
        </p:nvSpPr>
        <p:spPr>
          <a:xfrm>
            <a:off x="4315620" y="1698965"/>
            <a:ext cx="6582181" cy="829945"/>
          </a:xfrm>
          <a:prstGeom prst="rect">
            <a:avLst/>
          </a:prstGeom>
          <a:noFill/>
        </p:spPr>
        <p:txBody>
          <a:bodyPr wrap="square" rtlCol="0">
            <a:spAutoFit/>
          </a:bodyPr>
          <a:lstStyle/>
          <a:p>
            <a:pPr marL="285750" indent="-285750" algn="l">
              <a:lnSpc>
                <a:spcPct val="150000"/>
              </a:lnSpc>
              <a:buClr>
                <a:srgbClr val="122E66"/>
              </a:buClr>
              <a:buFont typeface="Wingdings" panose="05000000000000000000" pitchFamily="2" charset="2"/>
              <a:buChar char="l"/>
            </a:pPr>
            <a:r>
              <a:rPr lang="zh-CN" altLang="en-US" sz="1600" dirty="0">
                <a:solidFill>
                  <a:schemeClr val="tx1">
                    <a:lumMod val="50000"/>
                    <a:lumOff val="50000"/>
                  </a:schemeClr>
                </a:solidFill>
                <a:latin typeface="思源黑体 CN Bold"/>
                <a:ea typeface="思源宋体 CN" panose="02020400000000000000" pitchFamily="18" charset="-122"/>
                <a:cs typeface="+mn-ea"/>
                <a:sym typeface="+mn-lt"/>
              </a:rPr>
              <a:t>通过设计并建立双圆弧斜齿齿轮泵的</a:t>
            </a:r>
            <a:r>
              <a:rPr lang="en-US" altLang="zh-CN" sz="1600" dirty="0">
                <a:solidFill>
                  <a:schemeClr val="tx1">
                    <a:lumMod val="50000"/>
                    <a:lumOff val="50000"/>
                  </a:schemeClr>
                </a:solidFill>
                <a:latin typeface="思源黑体 CN Bold"/>
                <a:ea typeface="思源宋体 CN" panose="02020400000000000000" pitchFamily="18" charset="-122"/>
                <a:cs typeface="+mn-ea"/>
                <a:sym typeface="+mn-lt"/>
              </a:rPr>
              <a:t>CAD</a:t>
            </a:r>
            <a:r>
              <a:rPr lang="zh-CN" altLang="en-US" sz="1600" dirty="0">
                <a:solidFill>
                  <a:schemeClr val="tx1">
                    <a:lumMod val="50000"/>
                    <a:lumOff val="50000"/>
                  </a:schemeClr>
                </a:solidFill>
                <a:latin typeface="思源黑体 CN Bold"/>
                <a:ea typeface="思源宋体 CN" panose="02020400000000000000" pitchFamily="18" charset="-122"/>
                <a:cs typeface="+mn-ea"/>
                <a:sym typeface="+mn-lt"/>
              </a:rPr>
              <a:t>二维模型和</a:t>
            </a:r>
            <a:r>
              <a:rPr lang="en-US" altLang="zh-CN" sz="1600" dirty="0">
                <a:solidFill>
                  <a:schemeClr val="tx1">
                    <a:lumMod val="50000"/>
                    <a:lumOff val="50000"/>
                  </a:schemeClr>
                </a:solidFill>
                <a:latin typeface="思源黑体 CN Bold"/>
                <a:ea typeface="思源宋体 CN" panose="02020400000000000000" pitchFamily="18" charset="-122"/>
                <a:cs typeface="+mn-ea"/>
                <a:sym typeface="+mn-lt"/>
              </a:rPr>
              <a:t>soildworks</a:t>
            </a:r>
            <a:r>
              <a:rPr lang="zh-CN" altLang="en-US" sz="1600" dirty="0">
                <a:solidFill>
                  <a:schemeClr val="tx1">
                    <a:lumMod val="50000"/>
                    <a:lumOff val="50000"/>
                  </a:schemeClr>
                </a:solidFill>
                <a:latin typeface="思源黑体 CN Bold"/>
                <a:ea typeface="思源宋体 CN" panose="02020400000000000000" pitchFamily="18" charset="-122"/>
                <a:cs typeface="+mn-ea"/>
                <a:sym typeface="+mn-lt"/>
              </a:rPr>
              <a:t>三维模型并导入</a:t>
            </a:r>
            <a:r>
              <a:rPr lang="en-US" altLang="zh-CN" sz="1600" dirty="0">
                <a:solidFill>
                  <a:schemeClr val="tx1">
                    <a:lumMod val="50000"/>
                    <a:lumOff val="50000"/>
                  </a:schemeClr>
                </a:solidFill>
                <a:latin typeface="思源黑体 CN Bold"/>
                <a:ea typeface="思源宋体 CN" panose="02020400000000000000" pitchFamily="18" charset="-122"/>
                <a:cs typeface="+mn-ea"/>
                <a:sym typeface="+mn-lt"/>
              </a:rPr>
              <a:t>fluent</a:t>
            </a:r>
            <a:r>
              <a:rPr lang="zh-CN" altLang="en-US" sz="1600" dirty="0">
                <a:solidFill>
                  <a:schemeClr val="tx1">
                    <a:lumMod val="50000"/>
                    <a:lumOff val="50000"/>
                  </a:schemeClr>
                </a:solidFill>
                <a:latin typeface="思源黑体 CN Bold"/>
                <a:ea typeface="思源宋体 CN" panose="02020400000000000000" pitchFamily="18" charset="-122"/>
                <a:cs typeface="+mn-ea"/>
                <a:sym typeface="+mn-lt"/>
              </a:rPr>
              <a:t>，我们建立了仿真分析模型来进行后续的力学分析。</a:t>
            </a:r>
            <a:endParaRPr lang="zh-CN" altLang="en-US" sz="1600" dirty="0">
              <a:solidFill>
                <a:schemeClr val="tx1">
                  <a:lumMod val="50000"/>
                  <a:lumOff val="50000"/>
                </a:schemeClr>
              </a:solidFill>
              <a:latin typeface="思源黑体 CN Bold"/>
              <a:ea typeface="思源宋体 CN" panose="02020400000000000000" pitchFamily="18" charset="-122"/>
              <a:cs typeface="+mn-ea"/>
              <a:sym typeface="+mn-lt"/>
            </a:endParaRPr>
          </a:p>
        </p:txBody>
      </p:sp>
      <p:sp>
        <p:nvSpPr>
          <p:cNvPr id="35" name="文本框 34"/>
          <p:cNvSpPr txBox="1"/>
          <p:nvPr/>
        </p:nvSpPr>
        <p:spPr>
          <a:xfrm>
            <a:off x="1174531" y="4172616"/>
            <a:ext cx="6582181" cy="829945"/>
          </a:xfrm>
          <a:prstGeom prst="rect">
            <a:avLst/>
          </a:prstGeom>
          <a:noFill/>
        </p:spPr>
        <p:txBody>
          <a:bodyPr wrap="square" rtlCol="0">
            <a:spAutoFit/>
          </a:bodyPr>
          <a:lstStyle/>
          <a:p>
            <a:pPr marL="285750" indent="-285750" algn="l">
              <a:lnSpc>
                <a:spcPct val="150000"/>
              </a:lnSpc>
              <a:buClr>
                <a:srgbClr val="122E66"/>
              </a:buClr>
              <a:buFont typeface="Wingdings" panose="05000000000000000000" pitchFamily="2" charset="2"/>
              <a:buChar char="l"/>
            </a:pPr>
            <a:r>
              <a:rPr lang="zh-CN" altLang="en-US" sz="1600" dirty="0">
                <a:solidFill>
                  <a:schemeClr val="tx1">
                    <a:lumMod val="50000"/>
                    <a:lumOff val="50000"/>
                  </a:schemeClr>
                </a:solidFill>
                <a:latin typeface="思源黑体 CN Bold"/>
                <a:ea typeface="思源宋体 CN" panose="02020400000000000000" pitchFamily="18" charset="-122"/>
                <a:cs typeface="+mn-ea"/>
                <a:sym typeface="+mn-lt"/>
              </a:rPr>
              <a:t>我们通过</a:t>
            </a:r>
            <a:r>
              <a:rPr lang="en-US" altLang="zh-CN" sz="1600" dirty="0">
                <a:solidFill>
                  <a:schemeClr val="tx1">
                    <a:lumMod val="50000"/>
                    <a:lumOff val="50000"/>
                  </a:schemeClr>
                </a:solidFill>
                <a:latin typeface="思源黑体 CN Bold"/>
                <a:ea typeface="思源宋体 CN" panose="02020400000000000000" pitchFamily="18" charset="-122"/>
                <a:cs typeface="+mn-ea"/>
                <a:sym typeface="+mn-lt"/>
              </a:rPr>
              <a:t>fluent</a:t>
            </a:r>
            <a:r>
              <a:rPr lang="zh-CN" altLang="en-US" sz="1600" dirty="0">
                <a:solidFill>
                  <a:schemeClr val="tx1">
                    <a:lumMod val="50000"/>
                    <a:lumOff val="50000"/>
                  </a:schemeClr>
                </a:solidFill>
                <a:latin typeface="思源黑体 CN Bold"/>
                <a:ea typeface="思源宋体 CN" panose="02020400000000000000" pitchFamily="18" charset="-122"/>
                <a:cs typeface="+mn-ea"/>
                <a:sym typeface="+mn-lt"/>
              </a:rPr>
              <a:t>仿真对出口压力作出了一系列仿真，从而进行力学分析得到了齿轮泵轴向力与出口压力之间的关系并进行了一系列分析。</a:t>
            </a:r>
            <a:endParaRPr lang="zh-CN" altLang="en-US" sz="1600" dirty="0">
              <a:solidFill>
                <a:schemeClr val="tx1">
                  <a:lumMod val="50000"/>
                  <a:lumOff val="50000"/>
                </a:schemeClr>
              </a:solidFill>
              <a:latin typeface="思源黑体 CN Bold"/>
              <a:ea typeface="思源宋体 CN" panose="02020400000000000000" pitchFamily="18" charset="-122"/>
              <a:cs typeface="+mn-ea"/>
              <a:sym typeface="+mn-lt"/>
            </a:endParaRPr>
          </a:p>
        </p:txBody>
      </p:sp>
      <p:pic>
        <p:nvPicPr>
          <p:cNvPr id="19" name="图形 18" descr="客户评价 纯色填充"/>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05915" y="2043236"/>
            <a:ext cx="544513" cy="544513"/>
          </a:xfrm>
          <a:prstGeom prst="rect">
            <a:avLst/>
          </a:prstGeom>
        </p:spPr>
      </p:pic>
      <p:pic>
        <p:nvPicPr>
          <p:cNvPr id="28" name="图片 2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72874"/>
            <a:chOff x="420718" y="6449599"/>
            <a:chExt cx="8887482" cy="372874"/>
          </a:xfrm>
        </p:grpSpPr>
        <p:sp>
          <p:nvSpPr>
            <p:cNvPr id="20" name="箭头: 五边形 19"/>
            <p:cNvSpPr/>
            <p:nvPr/>
          </p:nvSpPr>
          <p:spPr>
            <a:xfrm>
              <a:off x="1896721" y="6454666"/>
              <a:ext cx="1166007" cy="367807"/>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35458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spc="300" dirty="0">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16548" y="6474997"/>
              <a:ext cx="100076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bg1"/>
                  </a:solidFill>
                  <a:latin typeface="+mn-ea"/>
                  <a:cs typeface="+mn-ea"/>
                </a:rPr>
                <a:t>研究</a:t>
              </a:r>
              <a:r>
                <a:rPr lang="zh-CN" altLang="en-US" sz="1600" b="1" dirty="0">
                  <a:solidFill>
                    <a:schemeClr val="bg1"/>
                  </a:solidFill>
                  <a:latin typeface="+mn-ea"/>
                  <a:cs typeface="+mn-ea"/>
                </a:rPr>
                <a:t>现状</a:t>
              </a:r>
              <a:endParaRPr lang="zh-CN" altLang="en-US" sz="1600" b="1" dirty="0">
                <a:solidFill>
                  <a:schemeClr val="bg1"/>
                </a:solidFill>
                <a:latin typeface="+mn-ea"/>
                <a:cs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960642" y="2497257"/>
            <a:ext cx="8853168" cy="1816661"/>
            <a:chOff x="2377440" y="2692400"/>
            <a:chExt cx="2915942" cy="589280"/>
          </a:xfrm>
        </p:grpSpPr>
        <p:sp>
          <p:nvSpPr>
            <p:cNvPr id="26" name="矩形: 圆角 25"/>
            <p:cNvSpPr/>
            <p:nvPr/>
          </p:nvSpPr>
          <p:spPr>
            <a:xfrm>
              <a:off x="2377440" y="2692400"/>
              <a:ext cx="2741369" cy="589280"/>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28" name="文本框 27"/>
            <p:cNvSpPr txBox="1"/>
            <p:nvPr/>
          </p:nvSpPr>
          <p:spPr>
            <a:xfrm>
              <a:off x="3229509" y="2785296"/>
              <a:ext cx="2063873" cy="428847"/>
            </a:xfrm>
            <a:prstGeom prst="rect">
              <a:avLst/>
            </a:prstGeom>
            <a:noFill/>
          </p:spPr>
          <p:txBody>
            <a:bodyPr wrap="square" rtlCol="0">
              <a:spAutoFit/>
            </a:bodyPr>
            <a:lstStyle/>
            <a:p>
              <a:r>
                <a:rPr lang="zh-CN" altLang="en-US" sz="4000" spc="600" dirty="0">
                  <a:solidFill>
                    <a:srgbClr val="122E66"/>
                  </a:solidFill>
                  <a:latin typeface="思源黑体 CN Heavy" panose="020B0A00000000000000" pitchFamily="34" charset="-122"/>
                  <a:ea typeface="思源黑体 CN Heavy" panose="020B0A00000000000000" pitchFamily="34" charset="-122"/>
                  <a:cs typeface="+mn-ea"/>
                </a:rPr>
                <a:t>双圆弧斜齿齿轮泵</a:t>
              </a:r>
              <a:endParaRPr lang="zh-CN" altLang="en-US" sz="4000" spc="600" dirty="0">
                <a:solidFill>
                  <a:srgbClr val="122E66"/>
                </a:solidFill>
                <a:latin typeface="思源黑体 CN Heavy" panose="020B0A00000000000000" pitchFamily="34" charset="-122"/>
                <a:ea typeface="思源黑体 CN Heavy" panose="020B0A00000000000000" pitchFamily="34" charset="-122"/>
                <a:cs typeface="+mn-ea"/>
              </a:endParaRPr>
            </a:p>
            <a:p>
              <a:r>
                <a:rPr lang="zh-CN" altLang="en-US" sz="4000" spc="600" dirty="0">
                  <a:solidFill>
                    <a:srgbClr val="122E66"/>
                  </a:solidFill>
                  <a:latin typeface="思源黑体 CN Heavy" panose="020B0A00000000000000" pitchFamily="34" charset="-122"/>
                  <a:ea typeface="思源黑体 CN Heavy" panose="020B0A00000000000000" pitchFamily="34" charset="-122"/>
                  <a:cs typeface="+mn-ea"/>
                </a:rPr>
                <a:t>齿形及齿轮参数设计</a:t>
              </a:r>
              <a:endParaRPr lang="zh-CN" altLang="en-US" sz="4000" spc="600" dirty="0">
                <a:solidFill>
                  <a:srgbClr val="122E66"/>
                </a:solidFill>
                <a:latin typeface="思源黑体 CN Heavy" panose="020B0A00000000000000" pitchFamily="34" charset="-122"/>
                <a:ea typeface="思源黑体 CN Heavy" panose="020B0A00000000000000" pitchFamily="34" charset="-122"/>
                <a:cs typeface="+mn-ea"/>
              </a:endParaRPr>
            </a:p>
          </p:txBody>
        </p:sp>
      </p:grpSp>
      <p:sp>
        <p:nvSpPr>
          <p:cNvPr id="34" name="文本框 33"/>
          <p:cNvSpPr txBox="1"/>
          <p:nvPr/>
        </p:nvSpPr>
        <p:spPr>
          <a:xfrm>
            <a:off x="1960642" y="2121849"/>
            <a:ext cx="2587647" cy="2646045"/>
          </a:xfrm>
          <a:prstGeom prst="rect">
            <a:avLst/>
          </a:prstGeom>
          <a:noFill/>
          <a:ln>
            <a:noFill/>
          </a:ln>
        </p:spPr>
        <p:txBody>
          <a:bodyPr wrap="square" rtlCol="0">
            <a:spAutoFit/>
          </a:bodyPr>
          <a:lstStyle/>
          <a:p>
            <a:r>
              <a:rPr lang="en-US" altLang="zh-CN" sz="16600" dirty="0">
                <a:solidFill>
                  <a:schemeClr val="bg1">
                    <a:lumMod val="85000"/>
                    <a:alpha val="62000"/>
                  </a:schemeClr>
                </a:solidFill>
                <a:latin typeface="Impact" panose="020B0806030902050204" pitchFamily="34" charset="0"/>
                <a:cs typeface="+mn-ea"/>
              </a:rPr>
              <a:t>03</a:t>
            </a:r>
            <a:endParaRPr lang="zh-CN" altLang="en-US" sz="16600" dirty="0">
              <a:solidFill>
                <a:schemeClr val="bg1">
                  <a:lumMod val="85000"/>
                  <a:alpha val="62000"/>
                </a:schemeClr>
              </a:solidFill>
              <a:latin typeface="Impact" panose="020B0806030902050204" pitchFamily="34" charset="0"/>
              <a:cs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3828219" cy="429895"/>
            <a:chOff x="707718" y="813975"/>
            <a:chExt cx="3828219"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齿形曲线设计</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sp>
        <p:nvSpPr>
          <p:cNvPr id="25" name="矩形 24"/>
          <p:cNvSpPr/>
          <p:nvPr/>
        </p:nvSpPr>
        <p:spPr>
          <a:xfrm>
            <a:off x="3945255" y="1555115"/>
            <a:ext cx="7259955" cy="8642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Clr>
                <a:srgbClr val="0E419C"/>
              </a:buClr>
            </a:pPr>
            <a:endParaRPr kumimoji="0" lang="en-US" altLang="zh-CN" sz="1400" b="0" i="0" u="none" strike="noStrike" kern="1200" cap="none" spc="0" normalizeH="0" baseline="0" noProof="1">
              <a:ln>
                <a:noFill/>
              </a:ln>
              <a:solidFill>
                <a:schemeClr val="bg1">
                  <a:lumMod val="75000"/>
                </a:schemeClr>
              </a:solidFill>
              <a:effectLst/>
              <a:uLnTx/>
              <a:uFillTx/>
              <a:latin typeface="Arial" panose="020B0604020202020204" pitchFamily="34" charset="0"/>
              <a:ea typeface="Open Sans Light" panose="020B0306030504020204" pitchFamily="34" charset="0"/>
              <a:cs typeface="Arial" panose="020B0604020202020204" pitchFamily="34" charset="0"/>
              <a:sym typeface="Segoe UI Symbol" panose="020B0502040204020203" pitchFamily="34" charset="0"/>
            </a:endParaRPr>
          </a:p>
        </p:txBody>
      </p:sp>
      <p:sp>
        <p:nvSpPr>
          <p:cNvPr id="27" name="矩形: 圆角 26"/>
          <p:cNvSpPr/>
          <p:nvPr/>
        </p:nvSpPr>
        <p:spPr>
          <a:xfrm>
            <a:off x="1089660" y="1551305"/>
            <a:ext cx="3062605" cy="860425"/>
          </a:xfrm>
          <a:prstGeom prst="roundRect">
            <a:avLst>
              <a:gd name="adj" fmla="val 0"/>
            </a:avLst>
          </a:prstGeom>
          <a:gradFill>
            <a:gsLst>
              <a:gs pos="100000">
                <a:srgbClr val="0E419C"/>
              </a:gs>
              <a:gs pos="0">
                <a:srgbClr val="0E419C">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spc="600" dirty="0"/>
              <a:t>齿形曲线</a:t>
            </a:r>
            <a:endParaRPr lang="zh-CN" altLang="en-US" sz="2000" b="1" spc="600" dirty="0"/>
          </a:p>
          <a:p>
            <a:pPr algn="ctr"/>
            <a:r>
              <a:rPr lang="zh-CN" altLang="en-US" sz="2000" b="1" spc="600" dirty="0"/>
              <a:t>类型确定</a:t>
            </a:r>
            <a:endParaRPr lang="zh-CN" altLang="en-US" sz="2000" b="1" spc="600" dirty="0"/>
          </a:p>
        </p:txBody>
      </p:sp>
      <p:sp>
        <p:nvSpPr>
          <p:cNvPr id="34" name="文本框 33"/>
          <p:cNvSpPr txBox="1"/>
          <p:nvPr/>
        </p:nvSpPr>
        <p:spPr>
          <a:xfrm>
            <a:off x="4315460" y="1555115"/>
            <a:ext cx="6582410" cy="704850"/>
          </a:xfrm>
          <a:prstGeom prst="rect">
            <a:avLst/>
          </a:prstGeom>
          <a:noFill/>
        </p:spPr>
        <p:txBody>
          <a:bodyPr wrap="square" rtlCol="0">
            <a:noAutofit/>
          </a:bodyPr>
          <a:lstStyle/>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选择</a:t>
            </a:r>
            <a:r>
              <a:rPr lang="en-US" altLang="zh-CN" sz="1600" dirty="0">
                <a:solidFill>
                  <a:schemeClr val="tx1"/>
                </a:solidFill>
                <a:latin typeface="思源黑体 CN Bold"/>
                <a:ea typeface="思源宋体 CN" panose="02020400000000000000" pitchFamily="18" charset="-122"/>
                <a:cs typeface="+mn-ea"/>
                <a:sym typeface="+mn-lt"/>
              </a:rPr>
              <a:t>“</a:t>
            </a:r>
            <a:r>
              <a:rPr lang="zh-CN" altLang="en-US" sz="1600" dirty="0">
                <a:solidFill>
                  <a:schemeClr val="tx1"/>
                </a:solidFill>
                <a:latin typeface="思源黑体 CN Bold"/>
                <a:ea typeface="思源宋体 CN" panose="02020400000000000000" pitchFamily="18" charset="-122"/>
                <a:cs typeface="+mn-ea"/>
                <a:sym typeface="+mn-lt"/>
              </a:rPr>
              <a:t>圆弧</a:t>
            </a:r>
            <a:r>
              <a:rPr lang="en-US" altLang="zh-CN" sz="1600" dirty="0">
                <a:solidFill>
                  <a:schemeClr val="tx1"/>
                </a:solidFill>
                <a:latin typeface="思源黑体 CN Bold"/>
                <a:ea typeface="思源宋体 CN" panose="02020400000000000000" pitchFamily="18" charset="-122"/>
                <a:cs typeface="+mn-ea"/>
                <a:sym typeface="+mn-lt"/>
              </a:rPr>
              <a:t>—</a:t>
            </a:r>
            <a:r>
              <a:rPr lang="zh-CN" altLang="en-US" sz="1600" dirty="0">
                <a:solidFill>
                  <a:schemeClr val="tx1"/>
                </a:solidFill>
                <a:latin typeface="思源黑体 CN Bold"/>
                <a:ea typeface="思源宋体 CN" panose="02020400000000000000" pitchFamily="18" charset="-122"/>
                <a:cs typeface="+mn-ea"/>
                <a:sym typeface="+mn-lt"/>
              </a:rPr>
              <a:t>渐开线</a:t>
            </a:r>
            <a:r>
              <a:rPr lang="en-US" altLang="zh-CN" sz="1600" dirty="0">
                <a:solidFill>
                  <a:schemeClr val="tx1"/>
                </a:solidFill>
                <a:latin typeface="思源黑体 CN Bold"/>
                <a:ea typeface="思源宋体 CN" panose="02020400000000000000" pitchFamily="18" charset="-122"/>
                <a:cs typeface="+mn-ea"/>
                <a:sym typeface="+mn-lt"/>
              </a:rPr>
              <a:t>—</a:t>
            </a:r>
            <a:r>
              <a:rPr lang="zh-CN" altLang="en-US" sz="1600" dirty="0">
                <a:solidFill>
                  <a:schemeClr val="tx1"/>
                </a:solidFill>
                <a:latin typeface="思源黑体 CN Bold"/>
                <a:ea typeface="思源宋体 CN" panose="02020400000000000000" pitchFamily="18" charset="-122"/>
                <a:cs typeface="+mn-ea"/>
                <a:sym typeface="+mn-lt"/>
              </a:rPr>
              <a:t>圆弧</a:t>
            </a:r>
            <a:r>
              <a:rPr lang="en-US" altLang="zh-CN" sz="1600" dirty="0">
                <a:solidFill>
                  <a:schemeClr val="tx1"/>
                </a:solidFill>
                <a:latin typeface="思源黑体 CN Bold"/>
                <a:ea typeface="思源宋体 CN" panose="02020400000000000000" pitchFamily="18" charset="-122"/>
                <a:cs typeface="+mn-ea"/>
                <a:sym typeface="+mn-lt"/>
              </a:rPr>
              <a:t>”</a:t>
            </a:r>
            <a:r>
              <a:rPr lang="zh-CN" altLang="en-US" sz="1600" dirty="0">
                <a:solidFill>
                  <a:schemeClr val="tx1"/>
                </a:solidFill>
                <a:latin typeface="思源黑体 CN Bold"/>
                <a:ea typeface="思源宋体 CN" panose="02020400000000000000" pitchFamily="18" charset="-122"/>
                <a:cs typeface="+mn-ea"/>
                <a:sym typeface="+mn-lt"/>
              </a:rPr>
              <a:t>曲线作为齿形曲线能使齿轮传动更加平稳，故选择此曲线作为本次设计的齿形曲线</a:t>
            </a:r>
            <a:endParaRPr lang="zh-CN" altLang="en-US" sz="1600" dirty="0">
              <a:solidFill>
                <a:schemeClr val="tx1"/>
              </a:solidFill>
              <a:latin typeface="思源黑体 CN Bold"/>
              <a:ea typeface="思源宋体 CN" panose="02020400000000000000" pitchFamily="18" charset="-122"/>
              <a:cs typeface="+mn-ea"/>
              <a:sym typeface="+mn-lt"/>
            </a:endParaRPr>
          </a:p>
        </p:txBody>
      </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68935"/>
            <a:chOff x="420718" y="6449599"/>
            <a:chExt cx="8887482" cy="368935"/>
          </a:xfrm>
        </p:grpSpPr>
        <p:sp>
          <p:nvSpPr>
            <p:cNvPr id="20" name="箭头: 五边形 19"/>
            <p:cNvSpPr/>
            <p:nvPr/>
          </p:nvSpPr>
          <p:spPr>
            <a:xfrm>
              <a:off x="3555713" y="6450869"/>
              <a:ext cx="2203450"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02311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b="1" dirty="0">
                  <a:solidFill>
                    <a:schemeClr val="bg1"/>
                  </a:solidFill>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sp>
        <p:nvSpPr>
          <p:cNvPr id="3" name="矩形: 圆角 26"/>
          <p:cNvSpPr/>
          <p:nvPr/>
        </p:nvSpPr>
        <p:spPr>
          <a:xfrm>
            <a:off x="1089660" y="2635250"/>
            <a:ext cx="3062605" cy="673735"/>
          </a:xfrm>
          <a:prstGeom prst="roundRect">
            <a:avLst>
              <a:gd name="adj" fmla="val 0"/>
            </a:avLst>
          </a:prstGeom>
          <a:gradFill>
            <a:gsLst>
              <a:gs pos="100000">
                <a:srgbClr val="0E419C"/>
              </a:gs>
              <a:gs pos="0">
                <a:srgbClr val="0E419C">
                  <a:alpha val="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2000" b="1" spc="600" dirty="0"/>
              <a:t>齿形曲线</a:t>
            </a:r>
            <a:endParaRPr lang="zh-CN" altLang="en-US" sz="2000" b="1" spc="600" dirty="0"/>
          </a:p>
          <a:p>
            <a:pPr algn="ctr"/>
            <a:r>
              <a:rPr lang="zh-CN" altLang="en-US" sz="2000" b="1" spc="600" dirty="0"/>
              <a:t>方程建立</a:t>
            </a:r>
            <a:endParaRPr lang="zh-CN" altLang="en-US" sz="2000" b="1" spc="600" dirty="0"/>
          </a:p>
        </p:txBody>
      </p:sp>
      <p:pic>
        <p:nvPicPr>
          <p:cNvPr id="6" name="图片 1"/>
          <p:cNvPicPr>
            <a:picLocks noChangeAspect="1"/>
          </p:cNvPicPr>
          <p:nvPr/>
        </p:nvPicPr>
        <p:blipFill>
          <a:blip r:embed="rId2"/>
          <a:stretch>
            <a:fillRect/>
          </a:stretch>
        </p:blipFill>
        <p:spPr>
          <a:xfrm>
            <a:off x="4911725" y="2678430"/>
            <a:ext cx="4820285" cy="358711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3828219" cy="429895"/>
            <a:chOff x="707718" y="813975"/>
            <a:chExt cx="3828219"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齿形曲线设计</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68935"/>
            <a:chOff x="420718" y="6449599"/>
            <a:chExt cx="8887482" cy="368935"/>
          </a:xfrm>
        </p:grpSpPr>
        <p:sp>
          <p:nvSpPr>
            <p:cNvPr id="20" name="箭头: 五边形 19"/>
            <p:cNvSpPr/>
            <p:nvPr/>
          </p:nvSpPr>
          <p:spPr>
            <a:xfrm>
              <a:off x="3555713" y="6450869"/>
              <a:ext cx="2203450"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02311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b="1" dirty="0">
                  <a:solidFill>
                    <a:schemeClr val="bg1"/>
                  </a:solidFill>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6" name="图片 1"/>
          <p:cNvPicPr>
            <a:picLocks noChangeAspect="1"/>
          </p:cNvPicPr>
          <p:nvPr/>
        </p:nvPicPr>
        <p:blipFill>
          <a:blip r:embed="rId2"/>
          <a:stretch>
            <a:fillRect/>
          </a:stretch>
        </p:blipFill>
        <p:spPr>
          <a:xfrm>
            <a:off x="549275" y="1437640"/>
            <a:ext cx="4820285" cy="3587115"/>
          </a:xfrm>
          <a:prstGeom prst="rect">
            <a:avLst/>
          </a:prstGeom>
        </p:spPr>
      </p:pic>
      <p:sp>
        <p:nvSpPr>
          <p:cNvPr id="31" name="文本框 30"/>
          <p:cNvSpPr txBox="1"/>
          <p:nvPr/>
        </p:nvSpPr>
        <p:spPr>
          <a:xfrm>
            <a:off x="4799330" y="1029335"/>
            <a:ext cx="4515485" cy="5205730"/>
          </a:xfrm>
          <a:prstGeom prst="rect">
            <a:avLst/>
          </a:prstGeom>
          <a:noFill/>
        </p:spPr>
        <p:txBody>
          <a:bodyPr wrap="square" rtlCol="0">
            <a:noAutofit/>
          </a:bodyPr>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圆弧</a:t>
            </a:r>
            <a:r>
              <a:rPr lang="en-US" altLang="zh-CN" sz="1800" kern="100" dirty="0">
                <a:effectLst/>
                <a:latin typeface="Calibri" panose="020F0502020204030204" charset="0"/>
                <a:ea typeface="宋体" panose="02010600030101010101" pitchFamily="2" charset="-122"/>
                <a:cs typeface="Times New Roman" panose="02020603050405020304" charset="0"/>
              </a:rPr>
              <a:t>AB</a:t>
            </a:r>
            <a:r>
              <a:rPr lang="zh-CN" altLang="en-US" sz="1800" kern="100" dirty="0">
                <a:effectLst/>
                <a:latin typeface="Calibri" panose="020F0502020204030204" charset="0"/>
                <a:ea typeface="宋体" panose="02010600030101010101" pitchFamily="2" charset="-122"/>
                <a:cs typeface="Times New Roman" panose="02020603050405020304" charset="0"/>
              </a:rPr>
              <a:t>段的参数表达式</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建立渐开线</a:t>
            </a:r>
            <a:r>
              <a:rPr lang="en-US" altLang="zh-CN" sz="1800" kern="100" dirty="0">
                <a:effectLst/>
                <a:latin typeface="Calibri" panose="020F0502020204030204" charset="0"/>
                <a:ea typeface="宋体" panose="02010600030101010101" pitchFamily="2" charset="-122"/>
                <a:cs typeface="Times New Roman" panose="02020603050405020304" charset="0"/>
              </a:rPr>
              <a:t>BC</a:t>
            </a:r>
            <a:r>
              <a:rPr lang="zh-CN" altLang="en-US" sz="1800" kern="100" dirty="0">
                <a:effectLst/>
                <a:latin typeface="Calibri" panose="020F0502020204030204" charset="0"/>
                <a:ea typeface="宋体" panose="02010600030101010101" pitchFamily="2" charset="-122"/>
                <a:cs typeface="Times New Roman" panose="02020603050405020304" charset="0"/>
              </a:rPr>
              <a:t>的参数方程</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建立圆弧</a:t>
            </a:r>
            <a:r>
              <a:rPr lang="en-US" altLang="zh-CN" sz="1800" kern="100" dirty="0">
                <a:effectLst/>
                <a:latin typeface="Calibri" panose="020F0502020204030204" charset="0"/>
                <a:ea typeface="宋体" panose="02010600030101010101" pitchFamily="2" charset="-122"/>
                <a:cs typeface="Times New Roman" panose="02020603050405020304" charset="0"/>
              </a:rPr>
              <a:t>CD</a:t>
            </a:r>
            <a:r>
              <a:rPr lang="zh-CN" altLang="en-US" sz="1800" kern="100" dirty="0">
                <a:effectLst/>
                <a:latin typeface="Calibri" panose="020F0502020204030204" charset="0"/>
                <a:ea typeface="宋体" panose="02010600030101010101" pitchFamily="2" charset="-122"/>
                <a:cs typeface="Times New Roman" panose="02020603050405020304" charset="0"/>
              </a:rPr>
              <a:t>的参数方程</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圆弧与渐开线在</a:t>
            </a:r>
            <a:r>
              <a:rPr lang="en-US" altLang="zh-CN" sz="1800" kern="100" dirty="0">
                <a:effectLst/>
                <a:latin typeface="Calibri" panose="020F0502020204030204" charset="0"/>
                <a:ea typeface="宋体" panose="02010600030101010101" pitchFamily="2" charset="-122"/>
                <a:cs typeface="Times New Roman" panose="02020603050405020304" charset="0"/>
              </a:rPr>
              <a:t>B</a:t>
            </a:r>
            <a:r>
              <a:rPr lang="zh-CN" altLang="en-US" sz="1800" kern="100" dirty="0">
                <a:effectLst/>
                <a:latin typeface="Calibri" panose="020F0502020204030204" charset="0"/>
                <a:ea typeface="宋体" panose="02010600030101010101" pitchFamily="2" charset="-122"/>
                <a:cs typeface="Times New Roman" panose="02020603050405020304" charset="0"/>
              </a:rPr>
              <a:t>点的连续条件：</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圆弧与渐开线在</a:t>
            </a:r>
            <a:r>
              <a:rPr lang="en-US" altLang="zh-CN" sz="1800" kern="100" dirty="0">
                <a:effectLst/>
                <a:latin typeface="Calibri" panose="020F0502020204030204" charset="0"/>
                <a:ea typeface="宋体" panose="02010600030101010101" pitchFamily="2" charset="-122"/>
                <a:cs typeface="Times New Roman" panose="02020603050405020304" charset="0"/>
              </a:rPr>
              <a:t>C</a:t>
            </a:r>
            <a:r>
              <a:rPr lang="zh-CN" altLang="en-US" sz="1800" kern="100" dirty="0">
                <a:effectLst/>
                <a:latin typeface="Calibri" panose="020F0502020204030204" charset="0"/>
                <a:ea typeface="宋体" panose="02010600030101010101" pitchFamily="2" charset="-122"/>
                <a:cs typeface="Times New Roman" panose="02020603050405020304" charset="0"/>
              </a:rPr>
              <a:t>点的连续条件：</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algn="just"/>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求得连续性条件如下</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algn="just"/>
            <a:endParaRPr lang="zh-CN" altLang="en-US" sz="1800" kern="100" dirty="0">
              <a:effectLst/>
              <a:latin typeface="Calibri" panose="020F0502020204030204" charset="0"/>
              <a:ea typeface="宋体" panose="02010600030101010101" pitchFamily="2" charset="-122"/>
              <a:cs typeface="Times New Roman" panose="02020603050405020304" charset="0"/>
            </a:endParaRPr>
          </a:p>
        </p:txBody>
      </p:sp>
      <p:pic>
        <p:nvPicPr>
          <p:cNvPr id="2" name="图片 1"/>
          <p:cNvPicPr>
            <a:picLocks noChangeAspect="1"/>
          </p:cNvPicPr>
          <p:nvPr/>
        </p:nvPicPr>
        <p:blipFill>
          <a:blip r:embed="rId3"/>
          <a:stretch>
            <a:fillRect/>
          </a:stretch>
        </p:blipFill>
        <p:spPr>
          <a:xfrm>
            <a:off x="7519670" y="932180"/>
            <a:ext cx="1977390" cy="570865"/>
          </a:xfrm>
          <a:prstGeom prst="rect">
            <a:avLst/>
          </a:prstGeom>
        </p:spPr>
      </p:pic>
      <p:pic>
        <p:nvPicPr>
          <p:cNvPr id="8" name="图片 7"/>
          <p:cNvPicPr>
            <a:picLocks noChangeAspect="1"/>
          </p:cNvPicPr>
          <p:nvPr/>
        </p:nvPicPr>
        <p:blipFill>
          <a:blip r:embed="rId4"/>
          <a:stretch>
            <a:fillRect/>
          </a:stretch>
        </p:blipFill>
        <p:spPr>
          <a:xfrm>
            <a:off x="7846060" y="1725930"/>
            <a:ext cx="4017645" cy="587375"/>
          </a:xfrm>
          <a:prstGeom prst="rect">
            <a:avLst/>
          </a:prstGeom>
        </p:spPr>
      </p:pic>
      <p:pic>
        <p:nvPicPr>
          <p:cNvPr id="10" name="图片 9"/>
          <p:cNvPicPr>
            <a:picLocks noChangeAspect="1"/>
          </p:cNvPicPr>
          <p:nvPr/>
        </p:nvPicPr>
        <p:blipFill>
          <a:blip r:embed="rId5"/>
          <a:stretch>
            <a:fillRect/>
          </a:stretch>
        </p:blipFill>
        <p:spPr>
          <a:xfrm>
            <a:off x="7519670" y="2536190"/>
            <a:ext cx="2816860" cy="538480"/>
          </a:xfrm>
          <a:prstGeom prst="rect">
            <a:avLst/>
          </a:prstGeom>
        </p:spPr>
      </p:pic>
      <p:pic>
        <p:nvPicPr>
          <p:cNvPr id="11" name="图片 10"/>
          <p:cNvPicPr>
            <a:picLocks noChangeAspect="1"/>
          </p:cNvPicPr>
          <p:nvPr/>
        </p:nvPicPr>
        <p:blipFill>
          <a:blip r:embed="rId6"/>
          <a:stretch>
            <a:fillRect/>
          </a:stretch>
        </p:blipFill>
        <p:spPr>
          <a:xfrm>
            <a:off x="8460105" y="3518535"/>
            <a:ext cx="1513840" cy="1101090"/>
          </a:xfrm>
          <a:prstGeom prst="rect">
            <a:avLst/>
          </a:prstGeom>
        </p:spPr>
      </p:pic>
      <p:pic>
        <p:nvPicPr>
          <p:cNvPr id="12" name="图片 11"/>
          <p:cNvPicPr>
            <a:picLocks noChangeAspect="1"/>
          </p:cNvPicPr>
          <p:nvPr/>
        </p:nvPicPr>
        <p:blipFill>
          <a:blip r:embed="rId7"/>
          <a:stretch>
            <a:fillRect/>
          </a:stretch>
        </p:blipFill>
        <p:spPr>
          <a:xfrm>
            <a:off x="10164445" y="3590925"/>
            <a:ext cx="1635760" cy="1093470"/>
          </a:xfrm>
          <a:prstGeom prst="rect">
            <a:avLst/>
          </a:prstGeom>
        </p:spPr>
      </p:pic>
      <p:pic>
        <p:nvPicPr>
          <p:cNvPr id="13" name="图片 12"/>
          <p:cNvPicPr>
            <a:picLocks noChangeAspect="1"/>
          </p:cNvPicPr>
          <p:nvPr/>
        </p:nvPicPr>
        <p:blipFill>
          <a:blip r:embed="rId8"/>
          <a:stretch>
            <a:fillRect/>
          </a:stretch>
        </p:blipFill>
        <p:spPr>
          <a:xfrm>
            <a:off x="7280275" y="4812030"/>
            <a:ext cx="2693035" cy="110363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3828219" cy="429895"/>
            <a:chOff x="707718" y="813975"/>
            <a:chExt cx="3828219"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齿轮液压泵中齿轮参数确定</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68935"/>
            <a:chOff x="420718" y="6449599"/>
            <a:chExt cx="8887482" cy="368935"/>
          </a:xfrm>
        </p:grpSpPr>
        <p:sp>
          <p:nvSpPr>
            <p:cNvPr id="20" name="箭头: 五边形 19"/>
            <p:cNvSpPr/>
            <p:nvPr/>
          </p:nvSpPr>
          <p:spPr>
            <a:xfrm>
              <a:off x="3555713" y="6450869"/>
              <a:ext cx="2203450"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02311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b="1" dirty="0">
                  <a:solidFill>
                    <a:schemeClr val="bg1"/>
                  </a:solidFill>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graphicFrame>
        <p:nvGraphicFramePr>
          <p:cNvPr id="3" name="表格 2"/>
          <p:cNvGraphicFramePr/>
          <p:nvPr>
            <p:custDataLst>
              <p:tags r:id="rId2"/>
            </p:custDataLst>
          </p:nvPr>
        </p:nvGraphicFramePr>
        <p:xfrm>
          <a:off x="906145" y="1482725"/>
          <a:ext cx="6289040" cy="2073275"/>
        </p:xfrm>
        <a:graphic>
          <a:graphicData uri="http://schemas.openxmlformats.org/drawingml/2006/table">
            <a:tbl>
              <a:tblPr firstRow="1" bandRow="1">
                <a:tableStyleId>{94CD6C1C-00FA-4D2E-B7AE-DEBF31797662}</a:tableStyleId>
              </a:tblPr>
              <a:tblGrid>
                <a:gridCol w="3144520"/>
                <a:gridCol w="3144520"/>
              </a:tblGrid>
              <a:tr h="414655">
                <a:tc>
                  <a:txBody>
                    <a:bodyPr/>
                    <a:p>
                      <a:pPr marL="0" indent="0" algn="ctr">
                        <a:spcBef>
                          <a:spcPct val="0"/>
                        </a:spcBef>
                        <a:spcAft>
                          <a:spcPct val="0"/>
                        </a:spcAft>
                      </a:pPr>
                      <a:r>
                        <a:rPr lang="zh-CN" sz="1400"/>
                        <a:t>排量（</a:t>
                      </a:r>
                      <a:r>
                        <a:rPr lang="en-US" altLang="zh-CN" sz="1400"/>
                        <a:t>ml/r</a:t>
                      </a:r>
                      <a:r>
                        <a:rPr lang="zh-CN" sz="1400"/>
                        <a:t>）</a:t>
                      </a:r>
                      <a:endParaRPr lang="zh-CN" sz="1400"/>
                    </a:p>
                  </a:txBody>
                  <a:tcPr marL="68580" marR="68580" marT="0" marB="0" anchor="ctr" anchorCtr="0"/>
                </a:tc>
                <a:tc>
                  <a:txBody>
                    <a:bodyPr/>
                    <a:p>
                      <a:pPr marL="0" indent="0" algn="ctr">
                        <a:spcBef>
                          <a:spcPct val="0"/>
                        </a:spcBef>
                        <a:spcAft>
                          <a:spcPct val="0"/>
                        </a:spcAft>
                      </a:pPr>
                      <a:r>
                        <a:rPr lang="zh-CN" sz="1400"/>
                        <a:t>端面模数（</a:t>
                      </a:r>
                      <a:r>
                        <a:rPr lang="en-US" altLang="zh-CN" sz="1400"/>
                        <a:t>mm</a:t>
                      </a:r>
                      <a:r>
                        <a:rPr lang="zh-CN" sz="1400"/>
                        <a:t>）</a:t>
                      </a:r>
                      <a:endParaRPr lang="zh-CN" sz="1400"/>
                    </a:p>
                  </a:txBody>
                  <a:tcPr marL="68580" marR="68580" marT="0" marB="0" anchor="ctr" anchorCtr="0"/>
                </a:tc>
              </a:tr>
              <a:tr h="414655">
                <a:tc>
                  <a:txBody>
                    <a:bodyPr/>
                    <a:p>
                      <a:pPr marL="0" indent="0" algn="ctr">
                        <a:spcBef>
                          <a:spcPct val="0"/>
                        </a:spcBef>
                        <a:spcAft>
                          <a:spcPct val="0"/>
                        </a:spcAft>
                      </a:pPr>
                      <a:r>
                        <a:rPr lang="en-US" altLang="zh-CN" sz="1100"/>
                        <a:t>4-16</a:t>
                      </a:r>
                      <a:endParaRPr lang="en-US" altLang="zh-CN" sz="1100"/>
                    </a:p>
                  </a:txBody>
                  <a:tcPr marL="68580" marR="68580" marT="0" marB="0" anchor="ctr" anchorCtr="0"/>
                </a:tc>
                <a:tc>
                  <a:txBody>
                    <a:bodyPr/>
                    <a:p>
                      <a:pPr marL="0" indent="0" algn="ctr">
                        <a:spcBef>
                          <a:spcPct val="0"/>
                        </a:spcBef>
                        <a:spcAft>
                          <a:spcPct val="0"/>
                        </a:spcAft>
                      </a:pPr>
                      <a:r>
                        <a:rPr lang="en-US" altLang="zh-CN" sz="1100"/>
                        <a:t>3</a:t>
                      </a:r>
                      <a:endParaRPr lang="en-US" altLang="zh-CN" sz="1100"/>
                    </a:p>
                  </a:txBody>
                  <a:tcPr marL="68580" marR="68580" marT="0" marB="0" anchor="ctr" anchorCtr="0"/>
                </a:tc>
              </a:tr>
              <a:tr h="414655">
                <a:tc>
                  <a:txBody>
                    <a:bodyPr/>
                    <a:p>
                      <a:pPr marL="0" indent="0" algn="ctr">
                        <a:spcBef>
                          <a:spcPct val="0"/>
                        </a:spcBef>
                        <a:spcAft>
                          <a:spcPct val="0"/>
                        </a:spcAft>
                      </a:pPr>
                      <a:r>
                        <a:rPr lang="en-US" altLang="zh-CN" sz="1100"/>
                        <a:t>10-40</a:t>
                      </a:r>
                      <a:endParaRPr lang="en-US" altLang="zh-CN" sz="1100"/>
                    </a:p>
                  </a:txBody>
                  <a:tcPr marL="68580" marR="68580" marT="0" marB="0" anchor="ctr" anchorCtr="0"/>
                </a:tc>
                <a:tc>
                  <a:txBody>
                    <a:bodyPr/>
                    <a:p>
                      <a:pPr marL="0" indent="0" algn="ctr">
                        <a:spcBef>
                          <a:spcPct val="0"/>
                        </a:spcBef>
                        <a:spcAft>
                          <a:spcPct val="0"/>
                        </a:spcAft>
                      </a:pPr>
                      <a:r>
                        <a:rPr lang="en-US" altLang="zh-CN" sz="1100"/>
                        <a:t>4</a:t>
                      </a:r>
                      <a:endParaRPr lang="en-US" altLang="zh-CN" sz="1100"/>
                    </a:p>
                  </a:txBody>
                  <a:tcPr marL="68580" marR="68580" marT="0" marB="0" anchor="ctr" anchorCtr="0"/>
                </a:tc>
              </a:tr>
              <a:tr h="414655">
                <a:tc>
                  <a:txBody>
                    <a:bodyPr/>
                    <a:p>
                      <a:pPr marL="0" indent="0" algn="ctr">
                        <a:spcBef>
                          <a:spcPct val="0"/>
                        </a:spcBef>
                        <a:spcAft>
                          <a:spcPct val="0"/>
                        </a:spcAft>
                      </a:pPr>
                      <a:r>
                        <a:rPr lang="en-US" altLang="zh-CN" sz="1100"/>
                        <a:t>32-100</a:t>
                      </a:r>
                      <a:endParaRPr lang="en-US" altLang="zh-CN" sz="1100"/>
                    </a:p>
                  </a:txBody>
                  <a:tcPr marL="68580" marR="68580" marT="0" marB="0" anchor="ctr" anchorCtr="0"/>
                </a:tc>
                <a:tc>
                  <a:txBody>
                    <a:bodyPr/>
                    <a:p>
                      <a:pPr marL="0" indent="0" algn="ctr">
                        <a:spcBef>
                          <a:spcPct val="0"/>
                        </a:spcBef>
                        <a:spcAft>
                          <a:spcPct val="0"/>
                        </a:spcAft>
                      </a:pPr>
                      <a:r>
                        <a:rPr lang="en-US" altLang="zh-CN" sz="1100"/>
                        <a:t>5</a:t>
                      </a:r>
                      <a:endParaRPr lang="en-US" altLang="zh-CN" sz="1100"/>
                    </a:p>
                  </a:txBody>
                  <a:tcPr marL="68580" marR="68580" marT="0" marB="0" anchor="ctr" anchorCtr="0"/>
                </a:tc>
              </a:tr>
              <a:tr h="414655">
                <a:tc>
                  <a:txBody>
                    <a:bodyPr/>
                    <a:p>
                      <a:pPr marL="0" indent="0" algn="ctr">
                        <a:spcBef>
                          <a:spcPct val="0"/>
                        </a:spcBef>
                        <a:spcAft>
                          <a:spcPct val="0"/>
                        </a:spcAft>
                      </a:pPr>
                      <a:r>
                        <a:rPr lang="en-US" altLang="zh-CN" sz="1100"/>
                        <a:t>80-140</a:t>
                      </a:r>
                      <a:endParaRPr lang="en-US" altLang="zh-CN" sz="1100"/>
                    </a:p>
                  </a:txBody>
                  <a:tcPr marL="68580" marR="68580" marT="0" marB="0" anchor="ctr" anchorCtr="0"/>
                </a:tc>
                <a:tc>
                  <a:txBody>
                    <a:bodyPr/>
                    <a:p>
                      <a:pPr marL="0" indent="0" algn="ctr">
                        <a:spcBef>
                          <a:spcPct val="0"/>
                        </a:spcBef>
                        <a:spcAft>
                          <a:spcPct val="0"/>
                        </a:spcAft>
                      </a:pPr>
                      <a:r>
                        <a:rPr lang="en-US" altLang="zh-CN" sz="1100"/>
                        <a:t>6</a:t>
                      </a:r>
                      <a:endParaRPr lang="en-US" altLang="zh-CN" sz="1100"/>
                    </a:p>
                  </a:txBody>
                  <a:tcPr marL="68580" marR="68580" marT="0" marB="0" anchor="ctr" anchorCtr="0"/>
                </a:tc>
              </a:tr>
            </a:tbl>
          </a:graphicData>
        </a:graphic>
      </p:graphicFrame>
      <mc:AlternateContent xmlns:mc="http://schemas.openxmlformats.org/markup-compatibility/2006">
        <mc:Choice xmlns:a14="http://schemas.microsoft.com/office/drawing/2010/main" Requires="a14">
          <p:sp>
            <p:nvSpPr>
              <p:cNvPr id="14" name="文本框 13"/>
              <p:cNvSpPr txBox="1"/>
              <p:nvPr/>
            </p:nvSpPr>
            <p:spPr>
              <a:xfrm>
                <a:off x="615950" y="3794760"/>
                <a:ext cx="10926445" cy="2565400"/>
              </a:xfrm>
              <a:prstGeom prst="rect">
                <a:avLst/>
              </a:prstGeom>
              <a:noFill/>
            </p:spPr>
            <p:txBody>
              <a:bodyPr wrap="square" rtlCol="0">
                <a:noAutofit/>
              </a:bodyPr>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a:t>
                </a:r>
                <a:r>
                  <a:rPr lang="en-US" altLang="zh-CN" sz="1800" kern="100" dirty="0">
                    <a:effectLst/>
                    <a:latin typeface="Calibri" panose="020F0502020204030204" charset="0"/>
                    <a:ea typeface="宋体" panose="02010600030101010101" pitchFamily="2" charset="-122"/>
                    <a:cs typeface="Times New Roman" panose="02020603050405020304" charset="0"/>
                  </a:rPr>
                  <a:t>1</a:t>
                </a:r>
                <a:r>
                  <a:rPr lang="zh-CN" altLang="en-US" sz="1800" kern="100" dirty="0">
                    <a:effectLst/>
                    <a:latin typeface="Calibri" panose="020F0502020204030204" charset="0"/>
                    <a:ea typeface="宋体" panose="02010600030101010101" pitchFamily="2" charset="-122"/>
                    <a:cs typeface="Times New Roman" panose="02020603050405020304" charset="0"/>
                  </a:rPr>
                  <a:t>）由于本次设计中所需排量为</a:t>
                </a:r>
                <a:r>
                  <a:rPr lang="en-US" altLang="zh-CN" sz="1800" b="1" u="sng" kern="100" dirty="0">
                    <a:effectLst/>
                    <a:latin typeface="Calibri" panose="020F0502020204030204" charset="0"/>
                    <a:ea typeface="宋体" panose="02010600030101010101" pitchFamily="2" charset="-122"/>
                    <a:cs typeface="Times New Roman" panose="02020603050405020304" charset="0"/>
                  </a:rPr>
                  <a:t>7ml/r</a:t>
                </a:r>
                <a:r>
                  <a:rPr lang="zh-CN" altLang="en-US" sz="1800" kern="100" dirty="0">
                    <a:effectLst/>
                    <a:latin typeface="Calibri" panose="020F0502020204030204" charset="0"/>
                    <a:ea typeface="宋体" panose="02010600030101010101" pitchFamily="2" charset="-122"/>
                    <a:cs typeface="Times New Roman" panose="02020603050405020304" charset="0"/>
                  </a:rPr>
                  <a:t>，因此参照表</a:t>
                </a:r>
                <a:r>
                  <a:rPr lang="en-US" altLang="zh-CN" sz="1800" kern="100" dirty="0">
                    <a:effectLst/>
                    <a:latin typeface="Calibri" panose="020F0502020204030204" charset="0"/>
                    <a:ea typeface="宋体" panose="02010600030101010101" pitchFamily="2" charset="-122"/>
                    <a:cs typeface="Times New Roman" panose="02020603050405020304" charset="0"/>
                  </a:rPr>
                  <a:t>3-1</a:t>
                </a:r>
                <a:r>
                  <a:rPr lang="zh-CN" altLang="en-US" sz="1800" kern="100" dirty="0">
                    <a:effectLst/>
                    <a:latin typeface="Calibri" panose="020F0502020204030204" charset="0"/>
                    <a:ea typeface="宋体" panose="02010600030101010101" pitchFamily="2" charset="-122"/>
                    <a:cs typeface="Times New Roman" panose="02020603050405020304" charset="0"/>
                  </a:rPr>
                  <a:t>，端面模数应为</a:t>
                </a:r>
                <a:r>
                  <a:rPr lang="en-US" altLang="zh-CN" sz="1800" b="1" u="sng" kern="100" dirty="0">
                    <a:effectLst/>
                    <a:latin typeface="Calibri" panose="020F0502020204030204" charset="0"/>
                    <a:ea typeface="宋体" panose="02010600030101010101" pitchFamily="2" charset="-122"/>
                    <a:cs typeface="Times New Roman" panose="02020603050405020304" charset="0"/>
                  </a:rPr>
                  <a:t>3mm</a:t>
                </a:r>
                <a:r>
                  <a:rPr lang="zh-CN" altLang="en-US" sz="1800" kern="100" dirty="0">
                    <a:effectLst/>
                    <a:latin typeface="Calibri" panose="020F0502020204030204" charset="0"/>
                    <a:ea typeface="宋体" panose="02010600030101010101" pitchFamily="2" charset="-122"/>
                    <a:cs typeface="Times New Roman" panose="02020603050405020304" charset="0"/>
                  </a:rPr>
                  <a:t>。</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a:t>
                </a:r>
                <a:r>
                  <a:rPr lang="en-US" altLang="zh-CN" sz="1800" kern="100" dirty="0">
                    <a:effectLst/>
                    <a:latin typeface="Calibri" panose="020F0502020204030204" charset="0"/>
                    <a:ea typeface="宋体" panose="02010600030101010101" pitchFamily="2" charset="-122"/>
                    <a:cs typeface="Times New Roman" panose="02020603050405020304" charset="0"/>
                  </a:rPr>
                  <a:t>2</a:t>
                </a:r>
                <a:r>
                  <a:rPr lang="zh-CN" altLang="en-US" sz="1800" kern="100" dirty="0">
                    <a:effectLst/>
                    <a:latin typeface="Calibri" panose="020F0502020204030204" charset="0"/>
                    <a:ea typeface="宋体" panose="02010600030101010101" pitchFamily="2" charset="-122"/>
                    <a:cs typeface="Times New Roman" panose="02020603050405020304" charset="0"/>
                  </a:rPr>
                  <a:t>）依据斜齿圆弧齿轮设计经验，齿数一般选在</a:t>
                </a:r>
                <a:r>
                  <a:rPr lang="en-US" altLang="zh-CN" sz="1800" b="1" kern="100" dirty="0">
                    <a:effectLst/>
                    <a:latin typeface="Calibri" panose="020F0502020204030204" charset="0"/>
                    <a:ea typeface="宋体" panose="02010600030101010101" pitchFamily="2" charset="-122"/>
                    <a:cs typeface="Times New Roman" panose="02020603050405020304" charset="0"/>
                  </a:rPr>
                  <a:t>5</a:t>
                </a:r>
                <a:r>
                  <a:rPr lang="zh-CN" altLang="en-US" sz="1800" b="1" kern="100" dirty="0">
                    <a:effectLst/>
                    <a:latin typeface="Calibri" panose="020F0502020204030204" charset="0"/>
                    <a:ea typeface="宋体" panose="02010600030101010101" pitchFamily="2" charset="-122"/>
                    <a:cs typeface="Times New Roman" panose="02020603050405020304" charset="0"/>
                  </a:rPr>
                  <a:t>齿至</a:t>
                </a:r>
                <a:r>
                  <a:rPr lang="en-US" altLang="zh-CN" sz="1800" b="1" kern="100" dirty="0">
                    <a:effectLst/>
                    <a:latin typeface="Calibri" panose="020F0502020204030204" charset="0"/>
                    <a:ea typeface="宋体" panose="02010600030101010101" pitchFamily="2" charset="-122"/>
                    <a:cs typeface="Times New Roman" panose="02020603050405020304" charset="0"/>
                  </a:rPr>
                  <a:t>8</a:t>
                </a:r>
                <a:r>
                  <a:rPr lang="zh-CN" altLang="en-US" sz="1800" b="1" kern="100" dirty="0">
                    <a:effectLst/>
                    <a:latin typeface="Calibri" panose="020F0502020204030204" charset="0"/>
                    <a:ea typeface="宋体" panose="02010600030101010101" pitchFamily="2" charset="-122"/>
                    <a:cs typeface="Times New Roman" panose="02020603050405020304" charset="0"/>
                  </a:rPr>
                  <a:t>齿</a:t>
                </a:r>
                <a:r>
                  <a:rPr lang="zh-CN" altLang="en-US" sz="1800" kern="100" dirty="0">
                    <a:effectLst/>
                    <a:latin typeface="Calibri" panose="020F0502020204030204" charset="0"/>
                    <a:ea typeface="宋体" panose="02010600030101010101" pitchFamily="2" charset="-122"/>
                    <a:cs typeface="Times New Roman" panose="02020603050405020304" charset="0"/>
                  </a:rPr>
                  <a:t>之间，故初选齿数为</a:t>
                </a:r>
                <a:r>
                  <a:rPr lang="en-US" altLang="zh-CN" sz="1800" b="1" u="sng" kern="100" dirty="0">
                    <a:effectLst/>
                    <a:latin typeface="Calibri" panose="020F0502020204030204" charset="0"/>
                    <a:ea typeface="宋体" panose="02010600030101010101" pitchFamily="2" charset="-122"/>
                    <a:cs typeface="Times New Roman" panose="02020603050405020304" charset="0"/>
                  </a:rPr>
                  <a:t>5</a:t>
                </a:r>
                <a:r>
                  <a:rPr lang="zh-CN" altLang="en-US" sz="1800" b="1" u="sng" kern="100" dirty="0">
                    <a:effectLst/>
                    <a:latin typeface="Calibri" panose="020F0502020204030204" charset="0"/>
                    <a:ea typeface="宋体" panose="02010600030101010101" pitchFamily="2" charset="-122"/>
                    <a:cs typeface="Times New Roman" panose="02020603050405020304" charset="0"/>
                  </a:rPr>
                  <a:t>齿</a:t>
                </a:r>
                <a:r>
                  <a:rPr lang="zh-CN" altLang="en-US" sz="1800" kern="100" dirty="0">
                    <a:effectLst/>
                    <a:latin typeface="Calibri" panose="020F0502020204030204" charset="0"/>
                    <a:ea typeface="宋体" panose="02010600030101010101" pitchFamily="2" charset="-122"/>
                    <a:cs typeface="Times New Roman" panose="02020603050405020304" charset="0"/>
                  </a:rPr>
                  <a:t>。</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kern="100" dirty="0">
                    <a:effectLst/>
                    <a:latin typeface="Calibri" panose="020F0502020204030204" charset="0"/>
                    <a:ea typeface="宋体" panose="02010600030101010101" pitchFamily="2" charset="-122"/>
                    <a:cs typeface="Times New Roman" panose="02020603050405020304" charset="0"/>
                  </a:rPr>
                  <a:t>（</a:t>
                </a:r>
                <a:r>
                  <a:rPr lang="en-US" altLang="zh-CN" sz="1800" kern="100" dirty="0">
                    <a:effectLst/>
                    <a:latin typeface="Calibri" panose="020F0502020204030204" charset="0"/>
                    <a:ea typeface="宋体" panose="02010600030101010101" pitchFamily="2" charset="-122"/>
                    <a:cs typeface="Times New Roman" panose="02020603050405020304" charset="0"/>
                  </a:rPr>
                  <a:t>3</a:t>
                </a:r>
                <a:r>
                  <a:rPr lang="zh-CN" altLang="en-US" sz="1800" kern="100" dirty="0">
                    <a:effectLst/>
                    <a:latin typeface="Calibri" panose="020F0502020204030204" charset="0"/>
                    <a:ea typeface="宋体" panose="02010600030101010101" pitchFamily="2" charset="-122"/>
                    <a:cs typeface="Times New Roman" panose="02020603050405020304" charset="0"/>
                  </a:rPr>
                  <a:t>）在齿轮液压泵中，主、被动齿轮所用的端面压力角一般为</a:t>
                </a:r>
                <a:r>
                  <a:rPr lang="en-US" altLang="zh-CN" sz="1800" kern="100" dirty="0">
                    <a:effectLst/>
                    <a:latin typeface="Calibri" panose="020F0502020204030204" charset="0"/>
                    <a:ea typeface="宋体" panose="02010600030101010101" pitchFamily="2" charset="-122"/>
                    <a:cs typeface="Times New Roman" panose="02020603050405020304" charset="0"/>
                  </a:rPr>
                  <a:t>14.5</a:t>
                </a:r>
                <a14:m>
                  <m:oMath xmlns:m="http://schemas.openxmlformats.org/officeDocument/2006/math">
                    <m:r>
                      <a:rPr lang="en-US" altLang="zh-CN" sz="1800" i="1" kern="100" dirty="0">
                        <a:effectLst/>
                        <a:latin typeface="Cambria Math" panose="02040503050406030204" charset="0"/>
                        <a:ea typeface="宋体" panose="02010600030101010101" pitchFamily="2" charset="-122"/>
                        <a:cs typeface="Cambria Math" panose="02040503050406030204" charset="0"/>
                      </a:rPr>
                      <m:t>°</m:t>
                    </m:r>
                  </m:oMath>
                </a14:m>
                <a:r>
                  <a:rPr lang="zh-CN" altLang="en-US" sz="1800" kern="100" dirty="0">
                    <a:effectLst/>
                    <a:latin typeface="Calibri" panose="020F0502020204030204" charset="0"/>
                    <a:ea typeface="宋体" panose="02010600030101010101" pitchFamily="2" charset="-122"/>
                    <a:cs typeface="Times New Roman" panose="02020603050405020304" charset="0"/>
                  </a:rPr>
                  <a:t>、</a:t>
                </a:r>
                <a:r>
                  <a:rPr lang="en-US" altLang="zh-CN" kern="100" dirty="0">
                    <a:effectLst/>
                    <a:latin typeface="Calibri" panose="020F0502020204030204" charset="0"/>
                    <a:ea typeface="宋体" panose="02010600030101010101" pitchFamily="2" charset="-122"/>
                    <a:cs typeface="Times New Roman" panose="02020603050405020304" charset="0"/>
                    <a:sym typeface="+mn-ea"/>
                  </a:rPr>
                  <a:t>20</a:t>
                </a:r>
                <a14:m>
                  <m:oMath xmlns:m="http://schemas.openxmlformats.org/officeDocument/2006/math">
                    <m:r>
                      <a:rPr lang="en-US" altLang="zh-CN" i="1" kern="100" dirty="0">
                        <a:effectLst/>
                        <a:latin typeface="Cambria Math" panose="02040503050406030204" charset="0"/>
                        <a:ea typeface="宋体" panose="02010600030101010101" pitchFamily="2" charset="-122"/>
                        <a:cs typeface="Cambria Math" panose="02040503050406030204" charset="0"/>
                      </a:rPr>
                      <m:t>°</m:t>
                    </m:r>
                  </m:oMath>
                </a14:m>
                <a:r>
                  <a:rPr lang="zh-CN" altLang="en-US" sz="1800" kern="100" dirty="0">
                    <a:effectLst/>
                    <a:latin typeface="Calibri" panose="020F0502020204030204" charset="0"/>
                    <a:ea typeface="宋体" panose="02010600030101010101" pitchFamily="2" charset="-122"/>
                    <a:cs typeface="Times New Roman" panose="02020603050405020304" charset="0"/>
                  </a:rPr>
                  <a:t>、</a:t>
                </a:r>
                <a:r>
                  <a:rPr lang="en-US" altLang="zh-CN" sz="1800" kern="100" dirty="0">
                    <a:effectLst/>
                    <a:latin typeface="Calibri" panose="020F0502020204030204" charset="0"/>
                    <a:ea typeface="宋体" panose="02010600030101010101" pitchFamily="2" charset="-122"/>
                    <a:cs typeface="Times New Roman" panose="02020603050405020304" charset="0"/>
                  </a:rPr>
                  <a:t>3</a:t>
                </a:r>
                <a:r>
                  <a:rPr lang="en-US" altLang="zh-CN" kern="100" dirty="0">
                    <a:effectLst/>
                    <a:latin typeface="Calibri" panose="020F0502020204030204" charset="0"/>
                    <a:ea typeface="宋体" panose="02010600030101010101" pitchFamily="2" charset="-122"/>
                    <a:cs typeface="Times New Roman" panose="02020603050405020304" charset="0"/>
                    <a:sym typeface="+mn-ea"/>
                  </a:rPr>
                  <a:t>0</a:t>
                </a:r>
                <a14:m>
                  <m:oMath xmlns:m="http://schemas.openxmlformats.org/officeDocument/2006/math">
                    <m:r>
                      <a:rPr lang="en-US" altLang="zh-CN" i="1" kern="100" dirty="0">
                        <a:effectLst/>
                        <a:latin typeface="Cambria Math" panose="02040503050406030204" charset="0"/>
                        <a:ea typeface="宋体" panose="02010600030101010101" pitchFamily="2" charset="-122"/>
                        <a:cs typeface="Cambria Math" panose="02040503050406030204" charset="0"/>
                      </a:rPr>
                      <m:t>°</m:t>
                    </m:r>
                  </m:oMath>
                </a14:m>
                <a:r>
                  <a:rPr lang="zh-CN" altLang="en-US" sz="1800" kern="100" dirty="0">
                    <a:effectLst/>
                    <a:latin typeface="Calibri" panose="020F0502020204030204" charset="0"/>
                    <a:ea typeface="宋体" panose="02010600030101010101" pitchFamily="2" charset="-122"/>
                    <a:cs typeface="Times New Roman" panose="02020603050405020304" charset="0"/>
                  </a:rPr>
                  <a:t>。常用直齿渐开线齿轮设计中通常选择较大的端面压力角以提高主、被动齿轮强度来减轻根切现象，但随着端面压力角的增加会引起不平衡径向力和流量脉动幅度的增加导致工作性能受到影响。而本次所设计的圆弧齿轮齿形特点从理论上不会产生根切现象，因此初选端面压力角为</a:t>
                </a:r>
                <a:r>
                  <a:rPr lang="en-US" altLang="zh-CN" sz="1800" b="1" u="sng" kern="100" dirty="0">
                    <a:effectLst/>
                    <a:latin typeface="Calibri" panose="020F0502020204030204" charset="0"/>
                    <a:ea typeface="宋体" panose="02010600030101010101" pitchFamily="2" charset="-122"/>
                    <a:cs typeface="Times New Roman" panose="02020603050405020304" charset="0"/>
                  </a:rPr>
                  <a:t>14.5</a:t>
                </a:r>
                <a14:m>
                  <m:oMath xmlns:m="http://schemas.openxmlformats.org/officeDocument/2006/math">
                    <m:r>
                      <a:rPr lang="en-US" altLang="zh-CN" b="1" i="1" u="sng" kern="100" dirty="0">
                        <a:effectLst/>
                        <a:latin typeface="Cambria Math" panose="02040503050406030204" charset="0"/>
                        <a:ea typeface="宋体" panose="02010600030101010101" pitchFamily="2" charset="-122"/>
                        <a:cs typeface="Cambria Math" panose="02040503050406030204" charset="0"/>
                      </a:rPr>
                      <m:t>°</m:t>
                    </m:r>
                  </m:oMath>
                </a14:m>
                <a:r>
                  <a:rPr lang="zh-CN" altLang="en-US" sz="1800" kern="100" dirty="0">
                    <a:effectLst/>
                    <a:latin typeface="Calibri" panose="020F0502020204030204" charset="0"/>
                    <a:ea typeface="宋体" panose="02010600030101010101" pitchFamily="2" charset="-122"/>
                    <a:cs typeface="Times New Roman" panose="02020603050405020304" charset="0"/>
                  </a:rPr>
                  <a:t>。</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615950" y="3794760"/>
                <a:ext cx="10926445" cy="256540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3828219" cy="429895"/>
            <a:chOff x="707718" y="813975"/>
            <a:chExt cx="3828219"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齿轮液压泵中齿轮参数确定</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68935"/>
            <a:chOff x="420718" y="6449599"/>
            <a:chExt cx="8887482" cy="368935"/>
          </a:xfrm>
        </p:grpSpPr>
        <p:sp>
          <p:nvSpPr>
            <p:cNvPr id="20" name="箭头: 五边形 19"/>
            <p:cNvSpPr/>
            <p:nvPr/>
          </p:nvSpPr>
          <p:spPr>
            <a:xfrm>
              <a:off x="3555713" y="6450869"/>
              <a:ext cx="2203450"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02311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b="1" dirty="0">
                  <a:solidFill>
                    <a:schemeClr val="bg1"/>
                  </a:solidFill>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sp>
        <p:nvSpPr>
          <p:cNvPr id="2" name="文本框 1"/>
          <p:cNvSpPr txBox="1"/>
          <p:nvPr/>
        </p:nvSpPr>
        <p:spPr>
          <a:xfrm>
            <a:off x="828675" y="1698625"/>
            <a:ext cx="10926445" cy="4084955"/>
          </a:xfrm>
          <a:prstGeom prst="rect">
            <a:avLst/>
          </a:prstGeom>
          <a:noFill/>
        </p:spPr>
        <p:txBody>
          <a:bodyPr wrap="square" rtlCol="0">
            <a:noAutofit/>
          </a:bodyPr>
          <a:p>
            <a:pPr marL="285750" indent="-285750" algn="just">
              <a:buFont typeface="Arial" panose="020B0604020202020204" pitchFamily="34" charset="0"/>
              <a:buChar char="•"/>
            </a:pPr>
            <a:r>
              <a:rPr lang="zh-CN" altLang="en-US" sz="1800" b="1" kern="100" dirty="0">
                <a:effectLst/>
                <a:latin typeface="Calibri" panose="020F0502020204030204" charset="0"/>
                <a:ea typeface="宋体" panose="02010600030101010101" pitchFamily="2" charset="-122"/>
                <a:cs typeface="Times New Roman" panose="02020603050405020304" charset="0"/>
              </a:rPr>
              <a:t>（</a:t>
            </a:r>
            <a:r>
              <a:rPr lang="en-US" altLang="zh-CN" sz="1800" b="1" kern="100" dirty="0">
                <a:effectLst/>
                <a:latin typeface="Calibri" panose="020F0502020204030204" charset="0"/>
                <a:ea typeface="宋体" panose="02010600030101010101" pitchFamily="2" charset="-122"/>
                <a:cs typeface="Times New Roman" panose="02020603050405020304" charset="0"/>
              </a:rPr>
              <a:t>4</a:t>
            </a:r>
            <a:r>
              <a:rPr lang="zh-CN" altLang="en-US" sz="1800" b="1" kern="100" dirty="0">
                <a:effectLst/>
                <a:latin typeface="Calibri" panose="020F0502020204030204" charset="0"/>
                <a:ea typeface="宋体" panose="02010600030101010101" pitchFamily="2" charset="-122"/>
                <a:cs typeface="Times New Roman" panose="02020603050405020304" charset="0"/>
              </a:rPr>
              <a:t>）齿宽的确定</a:t>
            </a: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r>
              <a:rPr lang="zh-CN" altLang="en-US" sz="1800" kern="100" dirty="0">
                <a:effectLst/>
                <a:latin typeface="Calibri" panose="020F0502020204030204" charset="0"/>
                <a:ea typeface="宋体" panose="02010600030101010101" pitchFamily="2" charset="-122"/>
                <a:cs typeface="Times New Roman" panose="02020603050405020304" charset="0"/>
              </a:rPr>
              <a:t>依据齿宽的计算公式：</a:t>
            </a: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r>
              <a:rPr lang="zh-CN" altLang="en-US" sz="1800" kern="100" dirty="0">
                <a:effectLst/>
                <a:latin typeface="Calibri" panose="020F0502020204030204" charset="0"/>
                <a:ea typeface="宋体" panose="02010600030101010101" pitchFamily="2" charset="-122"/>
                <a:cs typeface="Times New Roman" panose="02020603050405020304" charset="0"/>
              </a:rPr>
              <a:t>带入数据可得</a:t>
            </a:r>
            <a:r>
              <a:rPr lang="en-US" altLang="zh-CN" sz="1800" kern="100" dirty="0">
                <a:effectLst/>
                <a:latin typeface="Calibri" panose="020F0502020204030204" charset="0"/>
                <a:ea typeface="宋体" panose="02010600030101010101" pitchFamily="2" charset="-122"/>
                <a:cs typeface="Times New Roman" panose="02020603050405020304" charset="0"/>
              </a:rPr>
              <a:t> B=11.77mm</a:t>
            </a:r>
            <a:r>
              <a:rPr lang="zh-CN" altLang="en-US" sz="1800" kern="100" dirty="0">
                <a:effectLst/>
                <a:latin typeface="Calibri" panose="020F0502020204030204" charset="0"/>
                <a:ea typeface="宋体" panose="02010600030101010101" pitchFamily="2" charset="-122"/>
                <a:cs typeface="Times New Roman" panose="02020603050405020304" charset="0"/>
              </a:rPr>
              <a:t>，经过圆整可取</a:t>
            </a:r>
            <a:r>
              <a:rPr lang="en-US" altLang="zh-CN" sz="1800" kern="100" dirty="0">
                <a:effectLst/>
                <a:latin typeface="Calibri" panose="020F0502020204030204" charset="0"/>
                <a:ea typeface="宋体" panose="02010600030101010101" pitchFamily="2" charset="-122"/>
                <a:cs typeface="Times New Roman" panose="02020603050405020304" charset="0"/>
              </a:rPr>
              <a:t> B=12mm</a:t>
            </a:r>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en-US" altLang="zh-CN" sz="1800" kern="100" dirty="0">
              <a:effectLst/>
              <a:latin typeface="Calibri" panose="020F0502020204030204" charset="0"/>
              <a:ea typeface="宋体" panose="02010600030101010101" pitchFamily="2" charset="-122"/>
              <a:cs typeface="Times New Roman" panose="02020603050405020304" charset="0"/>
            </a:endParaRPr>
          </a:p>
          <a:p>
            <a:pPr marL="285750" indent="-285750" algn="just">
              <a:buFont typeface="Arial" panose="020B0604020202020204" pitchFamily="34" charset="0"/>
              <a:buChar char="•"/>
            </a:pPr>
            <a:r>
              <a:rPr lang="zh-CN" altLang="en-US" sz="1800" b="1" kern="100" dirty="0">
                <a:effectLst/>
                <a:latin typeface="Calibri" panose="020F0502020204030204" charset="0"/>
                <a:ea typeface="宋体" panose="02010600030101010101" pitchFamily="2" charset="-122"/>
                <a:cs typeface="Times New Roman" panose="02020603050405020304" charset="0"/>
              </a:rPr>
              <a:t>（</a:t>
            </a:r>
            <a:r>
              <a:rPr lang="en-US" altLang="zh-CN" sz="1800" b="1" kern="100" dirty="0">
                <a:effectLst/>
                <a:latin typeface="Calibri" panose="020F0502020204030204" charset="0"/>
                <a:ea typeface="宋体" panose="02010600030101010101" pitchFamily="2" charset="-122"/>
                <a:cs typeface="Times New Roman" panose="02020603050405020304" charset="0"/>
              </a:rPr>
              <a:t>5</a:t>
            </a:r>
            <a:r>
              <a:rPr lang="zh-CN" altLang="en-US" sz="1800" b="1" kern="100" dirty="0">
                <a:effectLst/>
                <a:latin typeface="Calibri" panose="020F0502020204030204" charset="0"/>
                <a:ea typeface="宋体" panose="02010600030101010101" pitchFamily="2" charset="-122"/>
                <a:cs typeface="Times New Roman" panose="02020603050405020304" charset="0"/>
              </a:rPr>
              <a:t>）齿侧间隙的确定</a:t>
            </a: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en-US" altLang="zh-CN" sz="1800" b="1" kern="100" dirty="0">
              <a:effectLst/>
              <a:latin typeface="Calibri" panose="020F0502020204030204" charset="0"/>
              <a:ea typeface="宋体" panose="02010600030101010101" pitchFamily="2" charset="-122"/>
              <a:cs typeface="Times New Roman" panose="02020603050405020304" charset="0"/>
            </a:endParaRPr>
          </a:p>
        </p:txBody>
      </p:sp>
      <p:pic>
        <p:nvPicPr>
          <p:cNvPr id="6" name="图片 5"/>
          <p:cNvPicPr>
            <a:picLocks noChangeAspect="1"/>
          </p:cNvPicPr>
          <p:nvPr/>
        </p:nvPicPr>
        <p:blipFill>
          <a:blip r:embed="rId2"/>
          <a:stretch>
            <a:fillRect/>
          </a:stretch>
        </p:blipFill>
        <p:spPr>
          <a:xfrm>
            <a:off x="970915" y="2418715"/>
            <a:ext cx="2580005" cy="842010"/>
          </a:xfrm>
          <a:prstGeom prst="rect">
            <a:avLst/>
          </a:prstGeom>
        </p:spPr>
      </p:pic>
      <p:pic>
        <p:nvPicPr>
          <p:cNvPr id="8" name="图片 7"/>
          <p:cNvPicPr>
            <a:picLocks noChangeAspect="1"/>
          </p:cNvPicPr>
          <p:nvPr/>
        </p:nvPicPr>
        <p:blipFill>
          <a:blip r:embed="rId3"/>
          <a:stretch>
            <a:fillRect/>
          </a:stretch>
        </p:blipFill>
        <p:spPr>
          <a:xfrm>
            <a:off x="708025" y="4463415"/>
            <a:ext cx="10036810" cy="100711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齿轮重合度及螺旋角的确定及排量</a:t>
              </a:r>
              <a:r>
                <a:rPr kumimoji="0" lang="zh-CN" altLang="en-US" sz="2200" b="1" i="0" u="none" strike="noStrike" kern="1200" cap="none" spc="0" normalizeH="0" baseline="0" noProof="0" dirty="0">
                  <a:ln>
                    <a:noFill/>
                  </a:ln>
                  <a:solidFill>
                    <a:srgbClr val="00156C"/>
                  </a:solidFill>
                  <a:effectLst/>
                  <a:uLnTx/>
                  <a:uFillTx/>
                  <a:latin typeface="+mn-ea"/>
                  <a:cs typeface="+mn-ea"/>
                </a:rPr>
                <a:t>验证</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68935"/>
            <a:chOff x="420718" y="6449599"/>
            <a:chExt cx="8887482" cy="368935"/>
          </a:xfrm>
        </p:grpSpPr>
        <p:sp>
          <p:nvSpPr>
            <p:cNvPr id="20" name="箭头: 五边形 19"/>
            <p:cNvSpPr/>
            <p:nvPr/>
          </p:nvSpPr>
          <p:spPr>
            <a:xfrm>
              <a:off x="3555713" y="6450869"/>
              <a:ext cx="2203450"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02311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b="1" dirty="0">
                  <a:solidFill>
                    <a:schemeClr val="bg1"/>
                  </a:solidFill>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3" name="图片 2"/>
          <p:cNvPicPr>
            <a:picLocks noChangeAspect="1"/>
          </p:cNvPicPr>
          <p:nvPr/>
        </p:nvPicPr>
        <p:blipFill>
          <a:blip r:embed="rId2"/>
          <a:srcRect b="17280"/>
          <a:stretch>
            <a:fillRect/>
          </a:stretch>
        </p:blipFill>
        <p:spPr>
          <a:xfrm>
            <a:off x="708025" y="1566545"/>
            <a:ext cx="9370060" cy="1769110"/>
          </a:xfrm>
          <a:prstGeom prst="rect">
            <a:avLst/>
          </a:prstGeom>
        </p:spPr>
      </p:pic>
      <p:pic>
        <p:nvPicPr>
          <p:cNvPr id="10" name="图片 9"/>
          <p:cNvPicPr>
            <a:picLocks noChangeAspect="1"/>
          </p:cNvPicPr>
          <p:nvPr/>
        </p:nvPicPr>
        <p:blipFill>
          <a:blip r:embed="rId3"/>
          <a:srcRect b="41934"/>
          <a:stretch>
            <a:fillRect/>
          </a:stretch>
        </p:blipFill>
        <p:spPr>
          <a:xfrm>
            <a:off x="909955" y="3863340"/>
            <a:ext cx="8327390" cy="941705"/>
          </a:xfrm>
          <a:prstGeom prst="rect">
            <a:avLst/>
          </a:prstGeom>
        </p:spPr>
      </p:pic>
      <mc:AlternateContent xmlns:mc="http://schemas.openxmlformats.org/markup-compatibility/2006">
        <mc:Choice xmlns:a14="http://schemas.microsoft.com/office/drawing/2010/main" Requires="a14">
          <p:sp>
            <p:nvSpPr>
              <p:cNvPr id="11" name="文本框 10"/>
              <p:cNvSpPr txBox="1"/>
              <p:nvPr/>
            </p:nvSpPr>
            <p:spPr>
              <a:xfrm>
                <a:off x="842010" y="2947035"/>
                <a:ext cx="10926445" cy="3848735"/>
              </a:xfrm>
              <a:prstGeom prst="rect">
                <a:avLst/>
              </a:prstGeom>
              <a:noFill/>
            </p:spPr>
            <p:txBody>
              <a:bodyPr wrap="square" rtlCol="0">
                <a:noAutofit/>
              </a:bodyPr>
              <a:p>
                <a:pPr indent="0" algn="just">
                  <a:buFont typeface="Arial" panose="020B0604020202020204" pitchFamily="34" charset="0"/>
                  <a:buNone/>
                </a:pPr>
                <a:r>
                  <a:rPr lang="zh-CN" altLang="en-US" sz="1800" b="1" kern="100" dirty="0">
                    <a:effectLst/>
                    <a:latin typeface="Calibri" panose="020F0502020204030204" charset="0"/>
                    <a:ea typeface="宋体" panose="02010600030101010101" pitchFamily="2" charset="-122"/>
                    <a:cs typeface="Times New Roman" panose="02020603050405020304" charset="0"/>
                  </a:rPr>
                  <a:t>求得螺旋角</a:t>
                </a:r>
                <a14:m>
                  <m:oMath xmlns:m="http://schemas.openxmlformats.org/officeDocument/2006/math">
                    <m:r>
                      <a:rPr lang="en-US" altLang="zh-CN" sz="1800" b="1" i="1" kern="100" dirty="0">
                        <a:effectLst/>
                        <a:latin typeface="Cambria Math" panose="02040503050406030204" charset="0"/>
                        <a:ea typeface="宋体" panose="02010600030101010101" pitchFamily="2" charset="-122"/>
                        <a:cs typeface="Cambria Math" panose="02040503050406030204" charset="0"/>
                      </a:rPr>
                      <m:t>𝜷</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r>
                      <a:rPr lang="en-US" altLang="zh-CN" sz="1800" b="1" i="1" kern="100" dirty="0">
                        <a:effectLst/>
                        <a:latin typeface="Cambria Math" panose="02040503050406030204" charset="0"/>
                        <a:ea typeface="宋体" panose="02010600030101010101" pitchFamily="2" charset="-122"/>
                        <a:cs typeface="Cambria Math" panose="02040503050406030204" charset="0"/>
                      </a:rPr>
                      <m:t>𝟑𝟖</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r>
                      <a:rPr lang="en-US" altLang="zh-CN" sz="1800" b="1" i="1" kern="100" dirty="0">
                        <a:effectLst/>
                        <a:latin typeface="Cambria Math" panose="02040503050406030204" charset="0"/>
                        <a:ea typeface="宋体" panose="02010600030101010101" pitchFamily="2" charset="-122"/>
                        <a:cs typeface="Cambria Math" panose="02040503050406030204" charset="0"/>
                      </a:rPr>
                      <m:t>𝟏𝟓</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oMath>
                </a14:m>
                <a:endParaRPr lang="en-US" altLang="zh-CN" sz="1800" b="1" i="1" kern="100" dirty="0">
                  <a:effectLst/>
                  <a:latin typeface="Cambria Math" panose="02040503050406030204" charset="0"/>
                  <a:ea typeface="宋体" panose="02010600030101010101" pitchFamily="2" charset="-122"/>
                  <a:cs typeface="Cambria Math" panose="020405030504060302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r>
                  <a:rPr lang="zh-CN" altLang="en-US" sz="1800" b="1" kern="100" dirty="0">
                    <a:effectLst/>
                    <a:latin typeface="Calibri" panose="020F0502020204030204" charset="0"/>
                    <a:ea typeface="宋体" panose="02010600030101010101" pitchFamily="2" charset="-122"/>
                    <a:cs typeface="Times New Roman" panose="02020603050405020304" charset="0"/>
                  </a:rPr>
                  <a:t>求得排量</a:t>
                </a:r>
                <a14:m>
                  <m:oMath xmlns:m="http://schemas.openxmlformats.org/officeDocument/2006/math">
                    <m:r>
                      <a:rPr lang="en-US" altLang="zh-CN" sz="1800" b="1" i="1" kern="100" dirty="0">
                        <a:effectLst/>
                        <a:latin typeface="Cambria Math" panose="02040503050406030204" charset="0"/>
                        <a:ea typeface="宋体" panose="02010600030101010101" pitchFamily="2" charset="-122"/>
                        <a:cs typeface="Cambria Math" panose="02040503050406030204" charset="0"/>
                      </a:rPr>
                      <m:t>𝑞</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r>
                      <a:rPr lang="en-US" altLang="zh-CN" sz="1800" b="1" i="1" kern="100" dirty="0">
                        <a:effectLst/>
                        <a:latin typeface="Cambria Math" panose="02040503050406030204" charset="0"/>
                        <a:ea typeface="宋体" panose="02010600030101010101" pitchFamily="2" charset="-122"/>
                        <a:cs typeface="Cambria Math" panose="02040503050406030204" charset="0"/>
                      </a:rPr>
                      <m:t>𝟕</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r>
                      <a:rPr lang="en-US" altLang="zh-CN" sz="1800" b="1" i="1" kern="100" dirty="0">
                        <a:effectLst/>
                        <a:latin typeface="Cambria Math" panose="02040503050406030204" charset="0"/>
                        <a:ea typeface="宋体" panose="02010600030101010101" pitchFamily="2" charset="-122"/>
                        <a:cs typeface="Cambria Math" panose="02040503050406030204" charset="0"/>
                      </a:rPr>
                      <m:t>𝟐𝟗</m:t>
                    </m:r>
                    <m:r>
                      <a:rPr lang="en-US" altLang="zh-CN" sz="1800" b="1" i="1" kern="100" dirty="0">
                        <a:effectLst/>
                        <a:latin typeface="Cambria Math" panose="02040503050406030204" charset="0"/>
                        <a:ea typeface="宋体" panose="02010600030101010101" pitchFamily="2" charset="-122"/>
                        <a:cs typeface="Cambria Math" panose="02040503050406030204" charset="0"/>
                      </a:rPr>
                      <m:t>𝑚𝑙</m:t>
                    </m:r>
                    <m:r>
                      <a:rPr lang="en-US" altLang="zh-CN" sz="1800" b="1" i="1" kern="100" dirty="0">
                        <a:effectLst/>
                        <a:latin typeface="Cambria Math" panose="02040503050406030204" charset="0"/>
                        <a:ea typeface="MS Mincho" panose="02020609040205080304" charset="-128"/>
                        <a:cs typeface="Cambria Math" panose="02040503050406030204" charset="0"/>
                      </a:rPr>
                      <m:t>/</m:t>
                    </m:r>
                    <m:r>
                      <a:rPr lang="en-US" altLang="zh-CN" sz="1800" b="1" i="1" kern="100" dirty="0">
                        <a:effectLst/>
                        <a:latin typeface="Cambria Math" panose="02040503050406030204" charset="0"/>
                        <a:ea typeface="MS Mincho" panose="02020609040205080304" charset="-128"/>
                        <a:cs typeface="Cambria Math" panose="02040503050406030204" charset="0"/>
                      </a:rPr>
                      <m:t>𝑟</m:t>
                    </m:r>
                  </m:oMath>
                </a14:m>
                <a:r>
                  <a:rPr lang="zh-CN" altLang="en-US" sz="1800" b="1" kern="100" dirty="0">
                    <a:effectLst/>
                    <a:latin typeface="Calibri" panose="020F0502020204030204" charset="0"/>
                    <a:ea typeface="宋体" panose="02010600030101010101" pitchFamily="2" charset="-122"/>
                    <a:cs typeface="Times New Roman" panose="02020603050405020304" charset="0"/>
                  </a:rPr>
                  <a:t>，而设计排量为</a:t>
                </a:r>
                <a14:m>
                  <m:oMath xmlns:m="http://schemas.openxmlformats.org/officeDocument/2006/math">
                    <m:r>
                      <a:rPr lang="en-US" altLang="zh-CN" sz="1800" b="1" i="1" kern="100" dirty="0">
                        <a:effectLst/>
                        <a:latin typeface="Cambria Math" panose="02040503050406030204" charset="0"/>
                        <a:ea typeface="宋体" panose="02010600030101010101" pitchFamily="2" charset="-122"/>
                        <a:cs typeface="Cambria Math" panose="02040503050406030204" charset="0"/>
                      </a:rPr>
                      <m:t>𝟕</m:t>
                    </m:r>
                    <m:r>
                      <a:rPr lang="en-US" altLang="zh-CN" sz="1800" b="1" i="1" kern="100" dirty="0">
                        <a:effectLst/>
                        <a:latin typeface="Cambria Math" panose="02040503050406030204" charset="0"/>
                        <a:ea typeface="宋体" panose="02010600030101010101" pitchFamily="2" charset="-122"/>
                        <a:cs typeface="Cambria Math" panose="02040503050406030204" charset="0"/>
                      </a:rPr>
                      <m:t>𝑚𝑙</m:t>
                    </m:r>
                    <m:r>
                      <a:rPr lang="en-US" altLang="zh-CN" sz="1800" b="1" i="1" kern="100" dirty="0">
                        <a:effectLst/>
                        <a:latin typeface="Cambria Math" panose="02040503050406030204" charset="0"/>
                        <a:ea typeface="MS Mincho" panose="02020609040205080304" charset="-128"/>
                        <a:cs typeface="Cambria Math" panose="02040503050406030204" charset="0"/>
                      </a:rPr>
                      <m:t>/</m:t>
                    </m:r>
                    <m:r>
                      <a:rPr lang="en-US" altLang="zh-CN" sz="1800" b="1" i="1" kern="100" dirty="0">
                        <a:effectLst/>
                        <a:latin typeface="Cambria Math" panose="02040503050406030204" charset="0"/>
                        <a:ea typeface="MS Mincho" panose="02020609040205080304" charset="-128"/>
                        <a:cs typeface="Cambria Math" panose="02040503050406030204" charset="0"/>
                      </a:rPr>
                      <m:t>𝑟</m:t>
                    </m:r>
                  </m:oMath>
                </a14:m>
                <a:r>
                  <a:rPr lang="zh-CN" altLang="en-US" sz="1800" b="1" kern="100" dirty="0">
                    <a:effectLst/>
                    <a:latin typeface="Calibri" panose="020F0502020204030204" charset="0"/>
                    <a:ea typeface="宋体" panose="02010600030101010101" pitchFamily="2" charset="-122"/>
                    <a:cs typeface="Times New Roman" panose="02020603050405020304" charset="0"/>
                  </a:rPr>
                  <a:t>，因此设计排量与计算排量的相对误差为：</a:t>
                </a:r>
                <a14:m>
                  <m:oMath xmlns:m="http://schemas.openxmlformats.org/officeDocument/2006/math">
                    <m:r>
                      <a:rPr lang="en-US" altLang="zh-CN" sz="1800" b="1" i="1" kern="100" dirty="0">
                        <a:effectLst/>
                        <a:latin typeface="Cambria Math" panose="02040503050406030204" charset="0"/>
                        <a:ea typeface="宋体" panose="02010600030101010101" pitchFamily="2" charset="-122"/>
                        <a:cs typeface="Cambria Math" panose="02040503050406030204" charset="0"/>
                      </a:rPr>
                      <m:t>𝜹</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r>
                      <a:rPr lang="en-US" altLang="zh-CN" sz="1800" b="1" i="1" kern="100" dirty="0">
                        <a:effectLst/>
                        <a:latin typeface="Cambria Math" panose="02040503050406030204" charset="0"/>
                        <a:ea typeface="宋体" panose="02010600030101010101" pitchFamily="2" charset="-122"/>
                        <a:cs typeface="Cambria Math" panose="02040503050406030204" charset="0"/>
                      </a:rPr>
                      <m:t>𝟒</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r>
                      <a:rPr lang="en-US" altLang="zh-CN" sz="1800" b="1" i="1" kern="100" dirty="0">
                        <a:effectLst/>
                        <a:latin typeface="Cambria Math" panose="02040503050406030204" charset="0"/>
                        <a:ea typeface="宋体" panose="02010600030101010101" pitchFamily="2" charset="-122"/>
                        <a:cs typeface="Cambria Math" panose="02040503050406030204" charset="0"/>
                      </a:rPr>
                      <m:t>𝟏𝟒</m:t>
                    </m:r>
                    <m:r>
                      <a:rPr lang="en-US" altLang="zh-CN" sz="1800" b="1" i="1" kern="100" dirty="0">
                        <a:effectLst/>
                        <a:latin typeface="Cambria Math" panose="02040503050406030204" charset="0"/>
                        <a:ea typeface="宋体" panose="02010600030101010101" pitchFamily="2" charset="-122"/>
                        <a:cs typeface="Cambria Math" panose="02040503050406030204" charset="0"/>
                      </a:rPr>
                      <m:t>%</m:t>
                    </m:r>
                  </m:oMath>
                </a14:m>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a:p>
                <a:pPr indent="0" algn="just">
                  <a:buFont typeface="Arial" panose="020B0604020202020204" pitchFamily="34" charset="0"/>
                  <a:buNone/>
                </a:pPr>
                <a:endParaRPr lang="zh-CN" altLang="en-US" sz="1800" b="1" kern="100" dirty="0">
                  <a:effectLst/>
                  <a:latin typeface="Calibri" panose="020F0502020204030204" charset="0"/>
                  <a:ea typeface="宋体" panose="02010600030101010101" pitchFamily="2" charset="-122"/>
                  <a:cs typeface="Times New Roman" panose="02020603050405020304"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842010" y="2947035"/>
                <a:ext cx="10926445" cy="3848735"/>
              </a:xfrm>
              <a:prstGeom prst="rect">
                <a:avLst/>
              </a:prstGeom>
              <a:blipFill rotWithShape="1">
                <a:blip r:embed="rId4"/>
                <a:stretch>
                  <a:fillRect/>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主、被动齿轮的二维、三维</a:t>
              </a:r>
              <a:r>
                <a:rPr kumimoji="0" lang="zh-CN" altLang="en-US" sz="2200" b="1" i="0" u="none" strike="noStrike" kern="1200" cap="none" spc="0" normalizeH="0" baseline="0" noProof="0" dirty="0">
                  <a:ln>
                    <a:noFill/>
                  </a:ln>
                  <a:solidFill>
                    <a:srgbClr val="00156C"/>
                  </a:solidFill>
                  <a:effectLst/>
                  <a:uLnTx/>
                  <a:uFillTx/>
                  <a:latin typeface="+mn-ea"/>
                  <a:cs typeface="+mn-ea"/>
                </a:rPr>
                <a:t>模型建立</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49599"/>
            <a:ext cx="8887482" cy="368935"/>
            <a:chOff x="420718" y="6449599"/>
            <a:chExt cx="8887482" cy="368935"/>
          </a:xfrm>
        </p:grpSpPr>
        <p:sp>
          <p:nvSpPr>
            <p:cNvPr id="20" name="箭头: 五边形 19"/>
            <p:cNvSpPr/>
            <p:nvPr/>
          </p:nvSpPr>
          <p:spPr>
            <a:xfrm>
              <a:off x="3555713" y="6450869"/>
              <a:ext cx="2203450"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49599"/>
              <a:ext cx="8887482" cy="339824"/>
              <a:chOff x="3634581" y="337650"/>
              <a:chExt cx="8887482" cy="339824"/>
            </a:xfrm>
          </p:grpSpPr>
          <p:sp>
            <p:nvSpPr>
              <p:cNvPr id="32" name="文本框 31"/>
              <p:cNvSpPr txBox="1"/>
              <p:nvPr/>
            </p:nvSpPr>
            <p:spPr>
              <a:xfrm>
                <a:off x="9443583" y="337650"/>
                <a:ext cx="3078480" cy="337185"/>
              </a:xfrm>
              <a:prstGeom prst="rect">
                <a:avLst/>
              </a:prstGeom>
              <a:noFill/>
            </p:spPr>
            <p:txBody>
              <a:bodyPr wrap="none" rtlCol="0">
                <a:spAutoFit/>
              </a:bodyPr>
              <a:lstStyle/>
              <a:p>
                <a:pPr algn="l"/>
                <a:r>
                  <a:rPr lang="zh-CN" altLang="en-US" sz="1600" spc="300" dirty="0">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56050" y="6458498"/>
              <a:ext cx="2023110" cy="337185"/>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600" b="1" dirty="0">
                  <a:solidFill>
                    <a:schemeClr val="bg1"/>
                  </a:solidFill>
                  <a:latin typeface="+mn-ea"/>
                  <a:cs typeface="+mn-ea"/>
                  <a:sym typeface="+mn-ea"/>
                </a:rPr>
                <a:t>齿形及齿轮参数设计</a:t>
              </a:r>
              <a:endParaRPr lang="zh-CN" altLang="en-US" sz="1600" b="1" dirty="0">
                <a:solidFill>
                  <a:schemeClr val="bg1">
                    <a:lumMod val="65000"/>
                  </a:schemeClr>
                </a:solidFill>
                <a:latin typeface="+mn-ea"/>
                <a:cs typeface="+mn-ea"/>
              </a:endParaRPr>
            </a:p>
          </p:txBody>
        </p:sp>
        <p:sp>
          <p:nvSpPr>
            <p:cNvPr id="24"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2" name="图片 5" descr="D:\wx傻逼\WeChat Files\wxid_0ik9pa6q8ngm22\FileStorage\Temp\a8eff5d627b9863d2965d81963466b7.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708025" y="1804035"/>
            <a:ext cx="5051425" cy="3883025"/>
          </a:xfrm>
          <a:prstGeom prst="rect">
            <a:avLst/>
          </a:prstGeom>
          <a:noFill/>
          <a:ln>
            <a:noFill/>
          </a:ln>
        </p:spPr>
      </p:pic>
      <p:pic>
        <p:nvPicPr>
          <p:cNvPr id="6" name="图片 6" descr="D:\wx傻逼\WeChat Files\wxid_0ik9pa6q8ngm22\FileStorage\Temp\f4c4176e32c3d52c76630613f76bae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229985" y="1739265"/>
            <a:ext cx="5314950" cy="41687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1754902" y="2497257"/>
            <a:ext cx="8788401" cy="1816735"/>
            <a:chOff x="2309676" y="2692400"/>
            <a:chExt cx="2894610" cy="589304"/>
          </a:xfrm>
        </p:grpSpPr>
        <p:sp>
          <p:nvSpPr>
            <p:cNvPr id="26" name="矩形: 圆角 25"/>
            <p:cNvSpPr/>
            <p:nvPr/>
          </p:nvSpPr>
          <p:spPr>
            <a:xfrm>
              <a:off x="2309676" y="2692400"/>
              <a:ext cx="2894610" cy="589304"/>
            </a:xfrm>
            <a:prstGeom prst="roundRect">
              <a:avLst>
                <a:gd name="adj" fmla="val 35632"/>
              </a:avLst>
            </a:prstGeom>
            <a:solidFill>
              <a:schemeClr val="bg1">
                <a:lumMod val="95000"/>
              </a:schemeClr>
            </a:solidFill>
            <a:ln>
              <a:noFill/>
            </a:ln>
            <a:effectLst>
              <a:outerShdw blurRad="381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endParaRPr>
            </a:p>
          </p:txBody>
        </p:sp>
        <p:sp>
          <p:nvSpPr>
            <p:cNvPr id="28" name="文本框 27"/>
            <p:cNvSpPr txBox="1"/>
            <p:nvPr/>
          </p:nvSpPr>
          <p:spPr>
            <a:xfrm>
              <a:off x="3165301" y="2785296"/>
              <a:ext cx="2003011" cy="388887"/>
            </a:xfrm>
            <a:prstGeom prst="rect">
              <a:avLst/>
            </a:prstGeom>
            <a:noFill/>
          </p:spPr>
          <p:txBody>
            <a:bodyPr wrap="square" rtlCol="0">
              <a:spAutoFit/>
            </a:bodyPr>
            <a:lstStyle/>
            <a:p>
              <a:r>
                <a:rPr lang="zh-CN" altLang="en-US" sz="3600" spc="600" dirty="0">
                  <a:solidFill>
                    <a:srgbClr val="122E66"/>
                  </a:solidFill>
                  <a:latin typeface="思源黑体 CN Heavy" panose="020B0A00000000000000" pitchFamily="34" charset="-122"/>
                  <a:ea typeface="思源黑体 CN Heavy" panose="020B0A00000000000000" pitchFamily="34" charset="-122"/>
                  <a:cs typeface="+mn-ea"/>
                </a:rPr>
                <a:t>双圆弧斜齿齿轮液压泵轴向力与输出压力变化规律</a:t>
              </a:r>
              <a:endParaRPr lang="zh-CN" altLang="en-US" sz="3600" spc="600" dirty="0">
                <a:solidFill>
                  <a:srgbClr val="122E66"/>
                </a:solidFill>
                <a:latin typeface="思源黑体 CN Heavy" panose="020B0A00000000000000" pitchFamily="34" charset="-122"/>
                <a:ea typeface="思源黑体 CN Heavy" panose="020B0A00000000000000" pitchFamily="34" charset="-122"/>
                <a:cs typeface="+mn-ea"/>
              </a:endParaRPr>
            </a:p>
          </p:txBody>
        </p:sp>
      </p:grpSp>
      <p:sp>
        <p:nvSpPr>
          <p:cNvPr id="34" name="文本框 33"/>
          <p:cNvSpPr txBox="1"/>
          <p:nvPr/>
        </p:nvSpPr>
        <p:spPr>
          <a:xfrm>
            <a:off x="1754902" y="2121849"/>
            <a:ext cx="2587647" cy="2646045"/>
          </a:xfrm>
          <a:prstGeom prst="rect">
            <a:avLst/>
          </a:prstGeom>
          <a:noFill/>
          <a:ln>
            <a:noFill/>
          </a:ln>
        </p:spPr>
        <p:txBody>
          <a:bodyPr wrap="square" rtlCol="0">
            <a:spAutoFit/>
          </a:bodyPr>
          <a:lstStyle/>
          <a:p>
            <a:r>
              <a:rPr lang="en-US" altLang="zh-CN" sz="16600" dirty="0">
                <a:solidFill>
                  <a:schemeClr val="bg1">
                    <a:lumMod val="85000"/>
                    <a:alpha val="62000"/>
                  </a:schemeClr>
                </a:solidFill>
                <a:latin typeface="Impact" panose="020B0806030902050204" pitchFamily="34" charset="0"/>
                <a:cs typeface="+mn-ea"/>
              </a:rPr>
              <a:t>04</a:t>
            </a:r>
            <a:endParaRPr lang="zh-CN" altLang="en-US" sz="16600" dirty="0">
              <a:solidFill>
                <a:schemeClr val="bg1">
                  <a:lumMod val="85000"/>
                  <a:alpha val="62000"/>
                </a:schemeClr>
              </a:solidFill>
              <a:latin typeface="Impact" panose="020B0806030902050204" pitchFamily="34" charset="0"/>
              <a:cs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轴向力的理论分析</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8" name="组合 17"/>
          <p:cNvGrpSpPr/>
          <p:nvPr/>
        </p:nvGrpSpPr>
        <p:grpSpPr>
          <a:xfrm>
            <a:off x="420718" y="6406419"/>
            <a:ext cx="8704580" cy="383004"/>
            <a:chOff x="420718" y="6406419"/>
            <a:chExt cx="8704580" cy="383004"/>
          </a:xfrm>
        </p:grpSpPr>
        <p:sp>
          <p:nvSpPr>
            <p:cNvPr id="20"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2" name="组合 21"/>
            <p:cNvGrpSpPr/>
            <p:nvPr/>
          </p:nvGrpSpPr>
          <p:grpSpPr>
            <a:xfrm>
              <a:off x="420718" y="6436899"/>
              <a:ext cx="8704580" cy="352524"/>
              <a:chOff x="3634581" y="324950"/>
              <a:chExt cx="8704580" cy="352524"/>
            </a:xfrm>
          </p:grpSpPr>
          <p:sp>
            <p:nvSpPr>
              <p:cNvPr id="32" name="文本框 31"/>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36" name="文本框 35"/>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37" name="直接连接符 36"/>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4"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mc:AlternateContent xmlns:mc="http://schemas.openxmlformats.org/markup-compatibility/2006">
        <mc:Choice xmlns:a14="http://schemas.microsoft.com/office/drawing/2010/main" Requires="a14">
          <p:sp>
            <p:nvSpPr>
              <p:cNvPr id="3" name="文本框 2"/>
              <p:cNvSpPr txBox="1"/>
              <p:nvPr/>
            </p:nvSpPr>
            <p:spPr>
              <a:xfrm>
                <a:off x="708025" y="1243965"/>
                <a:ext cx="10500995" cy="4703445"/>
              </a:xfrm>
              <a:prstGeom prst="rect">
                <a:avLst/>
              </a:prstGeom>
            </p:spPr>
            <p:txBody>
              <a:bodyPr>
                <a:noAutofit/>
              </a:bodyPr>
              <a:p>
                <a:pPr marL="285750" lvl="7" indent="-285750" algn="just">
                  <a:lnSpc>
                    <a:spcPct val="100000"/>
                  </a:lnSpc>
                  <a:buClrTx/>
                  <a:buSzTx/>
                  <a:buFont typeface="Arial" panose="020B0604020202020204" pitchFamily="34" charset="0"/>
                  <a:buChar char="•"/>
                </a:pPr>
                <a:r>
                  <a:rPr lang="zh-CN" altLang="zh-CN" sz="1800" b="1" i="0" kern="100" dirty="0">
                    <a:effectLst/>
                    <a:latin typeface="Calibri" panose="020F0502020204030204" charset="0"/>
                    <a:ea typeface="华文楷体" panose="02010600040101010101" pitchFamily="2" charset="-122"/>
                    <a:cs typeface="华文楷体" panose="02010600040101010101" pitchFamily="2" charset="-122"/>
                  </a:rPr>
                  <a:t>轴向力构成：</a:t>
                </a:r>
                <a:endParaRPr lang="zh-CN" altLang="zh-CN" sz="1800" b="1" i="0" kern="100" dirty="0">
                  <a:effectLst/>
                  <a:latin typeface="Calibri" panose="020F0502020204030204" charset="0"/>
                  <a:ea typeface="华文楷体" panose="02010600040101010101" pitchFamily="2" charset="-122"/>
                  <a:cs typeface="华文楷体" panose="02010600040101010101" pitchFamily="2" charset="-122"/>
                </a:endParaRPr>
              </a:p>
              <a:p>
                <a:pPr marL="0" lvl="8" algn="just">
                  <a:lnSpc>
                    <a:spcPct val="100000"/>
                  </a:lnSpc>
                  <a:buClrTx/>
                  <a:buSzTx/>
                  <a:buFontTx/>
                </a:pPr>
                <a:r>
                  <a:rPr lang="zh-CN" altLang="zh-CN" sz="1800" b="0" i="0" kern="100" dirty="0">
                    <a:effectLst/>
                    <a:latin typeface="Calibri" panose="020F0502020204030204" charset="0"/>
                    <a:ea typeface="华文楷体" panose="02010600040101010101" pitchFamily="2" charset="-122"/>
                    <a:cs typeface="华文楷体" panose="02010600040101010101" pitchFamily="2" charset="-122"/>
                  </a:rPr>
                  <a:t>轴向液压力（两侧压差）</a:t>
                </a:r>
                <a:endParaRPr lang="zh-CN" altLang="zh-CN"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lvl="8" algn="just">
                  <a:lnSpc>
                    <a:spcPct val="100000"/>
                  </a:lnSpc>
                  <a:buClrTx/>
                  <a:buSzTx/>
                  <a:buFontTx/>
                </a:pPr>
                <a:r>
                  <a:rPr lang="zh-CN" altLang="zh-CN" sz="1800" b="0" i="0" kern="100" dirty="0">
                    <a:effectLst/>
                    <a:latin typeface="Calibri" panose="020F0502020204030204" charset="0"/>
                    <a:ea typeface="华文楷体" panose="02010600040101010101" pitchFamily="2" charset="-122"/>
                    <a:cs typeface="华文楷体" panose="02010600040101010101" pitchFamily="2" charset="-122"/>
                  </a:rPr>
                  <a:t>轴向啮合力（齿轮啮合）</a:t>
                </a:r>
                <a:endParaRPr lang="zh-CN" altLang="zh-CN"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algn="just">
                  <a:lnSpc>
                    <a:spcPct val="100000"/>
                  </a:lnSpc>
                  <a:buClrTx/>
                  <a:buSzTx/>
                  <a:buFontTx/>
                </a:pPr>
                <a:r>
                  <a:rPr lang="zh-CN" altLang="zh-CN" sz="1800" b="0" i="0" kern="100" dirty="0">
                    <a:effectLst/>
                    <a:latin typeface="Calibri" panose="020F0502020204030204" charset="0"/>
                    <a:ea typeface="华文楷体" panose="02010600040101010101" pitchFamily="2" charset="-122"/>
                    <a:cs typeface="华文楷体" panose="02010600040101010101" pitchFamily="2" charset="-122"/>
                  </a:rPr>
                  <a:t>轴向液压力计算： 需确定压力作用有效范围并投影。</a:t>
                </a:r>
                <a:endParaRPr lang="zh-CN" altLang="zh-CN" sz="1800" b="0" i="0" kern="100" dirty="0">
                  <a:effectLst/>
                  <a:latin typeface="Calibri" panose="020F0502020204030204" charset="0"/>
                  <a:ea typeface="华文楷体" panose="02010600040101010101" pitchFamily="2" charset="-122"/>
                  <a:cs typeface="华文楷体" panose="02010600040101010101" pitchFamily="2" charset="-122"/>
                </a:endParaRPr>
              </a:p>
              <a:p>
                <a:pPr marL="285750" indent="-285750" algn="just">
                  <a:lnSpc>
                    <a:spcPct val="100000"/>
                  </a:lnSpc>
                  <a:buClrTx/>
                  <a:buSzTx/>
                  <a:buFont typeface="Arial" panose="020B0604020202020204" pitchFamily="34" charset="0"/>
                  <a:buChar char="•"/>
                </a:pPr>
                <a:r>
                  <a:rPr lang="zh-CN" altLang="zh-CN" sz="1800" b="1" i="0" kern="100" dirty="0">
                    <a:effectLst/>
                    <a:latin typeface="Calibri" panose="020F0502020204030204" charset="0"/>
                    <a:ea typeface="华文楷体" panose="02010600040101010101" pitchFamily="2" charset="-122"/>
                    <a:cs typeface="华文楷体" panose="02010600040101010101" pitchFamily="2" charset="-122"/>
                  </a:rPr>
                  <a:t>压力分布简化：</a:t>
                </a:r>
                <a:endParaRPr lang="zh-CN" altLang="zh-CN" sz="1800" b="1" i="0" kern="100" dirty="0">
                  <a:effectLst/>
                  <a:latin typeface="Calibri" panose="020F0502020204030204" charset="0"/>
                  <a:ea typeface="华文楷体" panose="02010600040101010101" pitchFamily="2" charset="-122"/>
                  <a:cs typeface="华文楷体" panose="02010600040101010101" pitchFamily="2" charset="-122"/>
                </a:endParaRPr>
              </a:p>
              <a:p>
                <a:pPr marL="0" lvl="1" algn="just">
                  <a:lnSpc>
                    <a:spcPct val="100000"/>
                  </a:lnSpc>
                  <a:buClrTx/>
                  <a:buSzTx/>
                  <a:buFontTx/>
                </a:pPr>
                <a:r>
                  <a:rPr lang="zh-CN" altLang="zh-CN" sz="1800" b="0" i="0" kern="100" dirty="0">
                    <a:effectLst/>
                    <a:latin typeface="Calibri" panose="020F0502020204030204" charset="0"/>
                    <a:ea typeface="华文楷体" panose="02010600040101010101" pitchFamily="2" charset="-122"/>
                    <a:cs typeface="华文楷体" panose="02010600040101010101" pitchFamily="2" charset="-122"/>
                  </a:rPr>
                  <a:t>出口压力 (25MPa) → 入口压</a:t>
                </a:r>
                <a:r>
                  <a:rPr lang="zh-CN" altLang="zh-CN" sz="1800" b="0" i="0" kern="100" dirty="0">
                    <a:effectLst/>
                    <a:latin typeface="Calibri" panose="020F0502020204030204" charset="0"/>
                    <a:ea typeface="华文楷体" panose="02010600040101010101" pitchFamily="2" charset="-122"/>
                    <a:cs typeface="华文楷体" panose="02010600040101010101" pitchFamily="2" charset="-122"/>
                  </a:rPr>
                  <a:t>力 (≈0MPa)，阶梯递减。</a:t>
                </a:r>
                <a:endParaRPr lang="zh-CN" altLang="zh-CN"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lvl="1" algn="just">
                  <a:lnSpc>
                    <a:spcPct val="100000"/>
                  </a:lnSpc>
                  <a:buClrTx/>
                  <a:buSzTx/>
                  <a:buFontTx/>
                </a:pPr>
                <a:r>
                  <a:rPr lang="zh-CN" altLang="zh-CN" sz="1800" b="0" i="0" kern="100" dirty="0">
                    <a:effectLst/>
                    <a:latin typeface="Calibri" panose="020F0502020204030204" charset="0"/>
                    <a:ea typeface="华文楷体" panose="02010600040101010101" pitchFamily="2" charset="-122"/>
                    <a:cs typeface="华文楷体" panose="02010600040101010101" pitchFamily="2" charset="-122"/>
                  </a:rPr>
                  <a:t>每齿减压恒定 → 等效平均压力作用于齿面。</a:t>
                </a:r>
                <a:endParaRPr lang="zh-CN" altLang="zh-CN"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algn="just">
                  <a:lnSpc>
                    <a:spcPct val="100000"/>
                  </a:lnSpc>
                  <a:buClrTx/>
                  <a:buSzTx/>
                  <a:buFontTx/>
                </a:pPr>
                <a:r>
                  <a:rPr lang="zh-CN" altLang="zh-CN" sz="1800" b="0" i="0" kern="100" dirty="0">
                    <a:effectLst/>
                    <a:latin typeface="Calibri" panose="020F0502020204030204" charset="0"/>
                    <a:ea typeface="华文楷体" panose="02010600040101010101" pitchFamily="2" charset="-122"/>
                    <a:cs typeface="华文楷体" panose="02010600040101010101" pitchFamily="2" charset="-122"/>
                  </a:rPr>
                  <a:t>螺旋面压力： 可分解为三个法向分量。</a:t>
                </a:r>
                <a:endParaRPr lang="zh-CN" altLang="zh-CN"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algn="just">
                  <a:lnSpc>
                    <a:spcPct val="100000"/>
                  </a:lnSpc>
                  <a:buClrTx/>
                  <a:buSzTx/>
                  <a:buFontTx/>
                </a:pPr>
                <a:endParaRPr lang="zh-CN" altLang="zh-CN"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algn="just">
                  <a:lnSpc>
                    <a:spcPct val="100000"/>
                  </a:lnSpc>
                  <a:buClrTx/>
                  <a:buSzTx/>
                  <a:buFontTx/>
                </a:pPr>
                <a:r>
                  <a:rPr lang="zh-CN" altLang="en-US" sz="1800" b="0" i="0" kern="100" dirty="0">
                    <a:effectLst/>
                    <a:latin typeface="Calibri" panose="020F0502020204030204" charset="0"/>
                    <a:ea typeface="华文楷体" panose="02010600040101010101" pitchFamily="2" charset="-122"/>
                    <a:cs typeface="华文楷体" panose="02010600040101010101" pitchFamily="2" charset="-122"/>
                  </a:rPr>
                  <a:t>微元面积在</a:t>
                </a:r>
                <a:r>
                  <a:rPr lang="en-US" altLang="zh-CN" sz="1800" b="0" i="0" kern="100" dirty="0">
                    <a:effectLst/>
                    <a:latin typeface="Calibri" panose="020F0502020204030204" charset="0"/>
                    <a:ea typeface="华文楷体" panose="02010600040101010101" pitchFamily="2" charset="-122"/>
                    <a:cs typeface="华文楷体" panose="02010600040101010101" pitchFamily="2" charset="-122"/>
                  </a:rPr>
                  <a:t>z</a:t>
                </a:r>
                <a:r>
                  <a:rPr lang="zh-CN" altLang="en-US" sz="1800" b="0" i="0" kern="100" dirty="0">
                    <a:effectLst/>
                    <a:latin typeface="Calibri" panose="020F0502020204030204" charset="0"/>
                    <a:ea typeface="华文楷体" panose="02010600040101010101" pitchFamily="2" charset="-122"/>
                    <a:cs typeface="华文楷体" panose="02010600040101010101" pitchFamily="2" charset="-122"/>
                  </a:rPr>
                  <a:t>轴方向上的单位向量计算：</a:t>
                </a:r>
                <a:endParaRPr lang="zh-CN" altLang="en-US"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algn="just">
                  <a:lnSpc>
                    <a:spcPct val="100000"/>
                  </a:lnSpc>
                  <a:buClrTx/>
                  <a:buSzTx/>
                  <a:buFontTx/>
                </a:pPr>
                <a:endParaRPr lang="zh-CN" altLang="en-US"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algn="just">
                  <a:lnSpc>
                    <a:spcPct val="100000"/>
                  </a:lnSpc>
                  <a:buClrTx/>
                  <a:buSzTx/>
                  <a:buFontTx/>
                </a:pPr>
                <a:endParaRPr lang="zh-CN" altLang="en-US" sz="1800" b="0" i="0" kern="100" dirty="0">
                  <a:effectLst/>
                  <a:latin typeface="Calibri" panose="020F0502020204030204" charset="0"/>
                  <a:ea typeface="华文楷体" panose="02010600040101010101" pitchFamily="2" charset="-122"/>
                  <a:cs typeface="华文楷体" panose="02010600040101010101" pitchFamily="2" charset="-122"/>
                </a:endParaRPr>
              </a:p>
              <a:p>
                <a:pPr marL="0" algn="just">
                  <a:lnSpc>
                    <a:spcPct val="100000"/>
                  </a:lnSpc>
                  <a:buClrTx/>
                  <a:buSzTx/>
                  <a:buFontTx/>
                </a:pPr>
                <a:r>
                  <a:rPr lang="zh-CN" altLang="en-US" sz="1800" b="0" i="0" kern="100" dirty="0">
                    <a:effectLst/>
                    <a:latin typeface="Calibri" panose="020F0502020204030204" charset="0"/>
                    <a:ea typeface="华文楷体" panose="02010600040101010101" pitchFamily="2" charset="-122"/>
                    <a:cs typeface="华文楷体" panose="02010600040101010101" pitchFamily="2" charset="-122"/>
                  </a:rPr>
                  <a:t>进行积分变换后得：</a:t>
                </a:r>
                <a:r>
                  <a:rPr lang="en-US" altLang="zh-CN" sz="1800" b="0" i="0" kern="100" dirty="0">
                    <a:effectLst/>
                    <a:latin typeface="Calibri" panose="020F0502020204030204" charset="0"/>
                    <a:ea typeface="华文楷体" panose="02010600040101010101" pitchFamily="2" charset="-122"/>
                    <a:cs typeface="华文楷体" panose="02010600040101010101" pitchFamily="2" charset="-122"/>
                  </a:rPr>
                  <a:t>                                                     </a:t>
                </a:r>
                <a:r>
                  <a:rPr lang="en-US" altLang="zh-CN" sz="1800" b="1" i="0" kern="100" dirty="0">
                    <a:effectLst/>
                    <a:latin typeface="Calibri" panose="020F0502020204030204" charset="0"/>
                    <a:ea typeface="华文楷体" panose="02010600040101010101" pitchFamily="2" charset="-122"/>
                    <a:cs typeface="华文楷体" panose="02010600040101010101" pitchFamily="2" charset="-122"/>
                  </a:rPr>
                  <a:t>      </a:t>
                </a:r>
                <a:r>
                  <a:rPr lang="zh-CN" altLang="en-US" sz="1800" b="1" i="0" kern="100" dirty="0">
                    <a:effectLst/>
                    <a:latin typeface="Calibri" panose="020F0502020204030204" charset="0"/>
                    <a:ea typeface="华文楷体" panose="02010600040101010101" pitchFamily="2" charset="-122"/>
                    <a:cs typeface="华文楷体" panose="02010600040101010101" pitchFamily="2" charset="-122"/>
                  </a:rPr>
                  <a:t>轴向液压力的最终计算结果为</a:t>
                </a:r>
                <a14:m>
                  <m:oMath xmlns:m="http://schemas.openxmlformats.org/officeDocument/2006/math">
                    <m:sSub>
                      <m:sSubPr>
                        <m:ctrlPr>
                          <a:rPr lang="en-US" altLang="zh-CN" sz="1800" b="1" i="1" kern="100" dirty="0">
                            <a:effectLst/>
                            <a:latin typeface="Cambria Math" panose="02040503050406030204" charset="0"/>
                            <a:ea typeface="华文楷体" panose="02010600040101010101" pitchFamily="2" charset="-122"/>
                            <a:cs typeface="Cambria Math" panose="02040503050406030204" charset="0"/>
                          </a:rPr>
                        </m:ctrlPr>
                      </m:sSubPr>
                      <m:e>
                        <m:r>
                          <a:rPr lang="en-US" altLang="zh-CN" sz="1800" b="1" i="1" kern="100" dirty="0">
                            <a:effectLst/>
                            <a:latin typeface="Cambria Math" panose="02040503050406030204" charset="0"/>
                            <a:ea typeface="华文楷体" panose="02010600040101010101" pitchFamily="2" charset="-122"/>
                            <a:cs typeface="Cambria Math" panose="02040503050406030204" charset="0"/>
                          </a:rPr>
                          <m:t>𝑭</m:t>
                        </m:r>
                      </m:e>
                      <m:sub>
                        <m:r>
                          <a:rPr lang="en-US" altLang="zh-CN" sz="1800" b="1" i="1" kern="100" dirty="0">
                            <a:effectLst/>
                            <a:latin typeface="Cambria Math" panose="02040503050406030204" charset="0"/>
                            <a:ea typeface="华文楷体" panose="02010600040101010101" pitchFamily="2" charset="-122"/>
                            <a:cs typeface="Cambria Math" panose="02040503050406030204" charset="0"/>
                          </a:rPr>
                          <m:t>𝑥𝑦</m:t>
                        </m:r>
                      </m:sub>
                    </m:sSub>
                    <m:r>
                      <a:rPr lang="en-US" altLang="zh-CN" sz="1800" b="1" i="1" kern="100" dirty="0">
                        <a:effectLst/>
                        <a:latin typeface="Cambria Math" panose="02040503050406030204" charset="0"/>
                        <a:ea typeface="华文楷体" panose="02010600040101010101" pitchFamily="2" charset="-122"/>
                        <a:cs typeface="Cambria Math" panose="02040503050406030204" charset="0"/>
                      </a:rPr>
                      <m:t>=</m:t>
                    </m:r>
                    <m:r>
                      <a:rPr lang="en-US" altLang="zh-CN" sz="1800" b="1" i="1" kern="100" dirty="0">
                        <a:effectLst/>
                        <a:latin typeface="Cambria Math" panose="02040503050406030204" charset="0"/>
                        <a:ea typeface="华文楷体" panose="02010600040101010101" pitchFamily="2" charset="-122"/>
                        <a:cs typeface="Cambria Math" panose="02040503050406030204" charset="0"/>
                      </a:rPr>
                      <m:t>𝟏𝟐𝟎</m:t>
                    </m:r>
                    <m:r>
                      <a:rPr lang="en-US" altLang="zh-CN" sz="1800" b="1" i="1" kern="100" dirty="0">
                        <a:effectLst/>
                        <a:latin typeface="Cambria Math" panose="02040503050406030204" charset="0"/>
                        <a:ea typeface="华文楷体" panose="02010600040101010101" pitchFamily="2" charset="-122"/>
                        <a:cs typeface="Cambria Math" panose="02040503050406030204" charset="0"/>
                      </a:rPr>
                      <m:t>.</m:t>
                    </m:r>
                    <m:r>
                      <a:rPr lang="en-US" altLang="zh-CN" sz="1800" b="1" i="1" kern="100" dirty="0">
                        <a:effectLst/>
                        <a:latin typeface="Cambria Math" panose="02040503050406030204" charset="0"/>
                        <a:ea typeface="华文楷体" panose="02010600040101010101" pitchFamily="2" charset="-122"/>
                        <a:cs typeface="Cambria Math" panose="02040503050406030204" charset="0"/>
                      </a:rPr>
                      <m:t>𝟖𝟖</m:t>
                    </m:r>
                    <m:r>
                      <a:rPr lang="en-US" altLang="zh-CN" sz="1800" b="1" i="1" kern="100" dirty="0">
                        <a:effectLst/>
                        <a:latin typeface="Cambria Math" panose="02040503050406030204" charset="0"/>
                        <a:ea typeface="华文楷体" panose="02010600040101010101" pitchFamily="2" charset="-122"/>
                        <a:cs typeface="Cambria Math" panose="02040503050406030204" charset="0"/>
                      </a:rPr>
                      <m:t>𝑵</m:t>
                    </m:r>
                  </m:oMath>
                </a14:m>
                <a:r>
                  <a:rPr lang="zh-CN" altLang="en-US" sz="1800" b="1" i="0" kern="100" dirty="0">
                    <a:effectLst/>
                    <a:latin typeface="Calibri" panose="020F0502020204030204" charset="0"/>
                    <a:ea typeface="华文楷体" panose="02010600040101010101" pitchFamily="2" charset="-122"/>
                    <a:cs typeface="华文楷体" panose="02010600040101010101" pitchFamily="2" charset="-122"/>
                  </a:rPr>
                  <a:t>：</a:t>
                </a:r>
                <a:endParaRPr lang="en-US" altLang="zh-CN" sz="1800" b="1" i="0" kern="100" dirty="0">
                  <a:effectLst/>
                  <a:latin typeface="Calibri" panose="020F0502020204030204" charset="0"/>
                  <a:ea typeface="华文楷体" panose="02010600040101010101" pitchFamily="2" charset="-122"/>
                  <a:cs typeface="华文楷体" panose="02010600040101010101" pitchFamily="2" charset="-122"/>
                </a:endParaRPr>
              </a:p>
            </p:txBody>
          </p:sp>
        </mc:Choice>
        <mc:Fallback>
          <p:sp>
            <p:nvSpPr>
              <p:cNvPr id="3" name="文本框 2"/>
              <p:cNvSpPr txBox="1">
                <a:spLocks noRot="1" noChangeAspect="1" noMove="1" noResize="1" noEditPoints="1" noAdjustHandles="1" noChangeArrowheads="1" noChangeShapeType="1" noTextEdit="1"/>
              </p:cNvSpPr>
              <p:nvPr/>
            </p:nvSpPr>
            <p:spPr>
              <a:xfrm>
                <a:off x="708025" y="1243965"/>
                <a:ext cx="10500995" cy="4703445"/>
              </a:xfrm>
              <a:prstGeom prst="rect">
                <a:avLst/>
              </a:prstGeom>
              <a:blipFill rotWithShape="1">
                <a:blip r:embed="rId2"/>
                <a:stretch>
                  <a:fillRect/>
                </a:stretch>
              </a:blipFill>
            </p:spPr>
            <p:txBody>
              <a:bodyPr/>
              <a:lstStyle/>
              <a:p>
                <a:r>
                  <a:rPr lang="zh-CN" altLang="en-US">
                    <a:noFill/>
                  </a:rPr>
                  <a:t> </a:t>
                </a:r>
              </a:p>
            </p:txBody>
          </p:sp>
        </mc:Fallback>
      </mc:AlternateContent>
      <p:pic>
        <p:nvPicPr>
          <p:cNvPr id="8" name="图片 7"/>
          <p:cNvPicPr>
            <a:picLocks noChangeAspect="1"/>
          </p:cNvPicPr>
          <p:nvPr/>
        </p:nvPicPr>
        <p:blipFill>
          <a:blip r:embed="rId3"/>
          <a:stretch>
            <a:fillRect/>
          </a:stretch>
        </p:blipFill>
        <p:spPr>
          <a:xfrm>
            <a:off x="5906770" y="2530475"/>
            <a:ext cx="4047490" cy="1170940"/>
          </a:xfrm>
          <a:prstGeom prst="rect">
            <a:avLst/>
          </a:prstGeom>
        </p:spPr>
      </p:pic>
      <p:pic>
        <p:nvPicPr>
          <p:cNvPr id="10" name="图片 9"/>
          <p:cNvPicPr>
            <a:picLocks noChangeAspect="1"/>
          </p:cNvPicPr>
          <p:nvPr/>
        </p:nvPicPr>
        <p:blipFill>
          <a:blip r:embed="rId4"/>
          <a:stretch>
            <a:fillRect/>
          </a:stretch>
        </p:blipFill>
        <p:spPr>
          <a:xfrm>
            <a:off x="4697095" y="3606800"/>
            <a:ext cx="2000885" cy="895350"/>
          </a:xfrm>
          <a:prstGeom prst="rect">
            <a:avLst/>
          </a:prstGeom>
        </p:spPr>
      </p:pic>
      <p:pic>
        <p:nvPicPr>
          <p:cNvPr id="11" name="图片 10"/>
          <p:cNvPicPr>
            <a:picLocks noChangeAspect="1"/>
          </p:cNvPicPr>
          <p:nvPr/>
        </p:nvPicPr>
        <p:blipFill>
          <a:blip r:embed="rId5"/>
          <a:srcRect l="4692" r="8828"/>
          <a:stretch>
            <a:fillRect/>
          </a:stretch>
        </p:blipFill>
        <p:spPr>
          <a:xfrm>
            <a:off x="2770505" y="4465320"/>
            <a:ext cx="2383155" cy="965835"/>
          </a:xfrm>
          <a:prstGeom prst="rect">
            <a:avLst/>
          </a:prstGeom>
        </p:spPr>
      </p:pic>
      <p:pic>
        <p:nvPicPr>
          <p:cNvPr id="12" name="图片 11"/>
          <p:cNvPicPr>
            <a:picLocks noChangeAspect="1"/>
          </p:cNvPicPr>
          <p:nvPr/>
        </p:nvPicPr>
        <p:blipFill>
          <a:blip r:embed="rId6"/>
          <a:stretch>
            <a:fillRect/>
          </a:stretch>
        </p:blipFill>
        <p:spPr>
          <a:xfrm>
            <a:off x="5240020" y="4917440"/>
            <a:ext cx="6837680" cy="9207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轴向力的理论分析</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sp>
        <p:nvSpPr>
          <p:cNvPr id="3" name="文本框 2"/>
          <p:cNvSpPr txBox="1"/>
          <p:nvPr/>
        </p:nvSpPr>
        <p:spPr>
          <a:xfrm>
            <a:off x="708025" y="1478280"/>
            <a:ext cx="10500995" cy="4729480"/>
          </a:xfrm>
          <a:prstGeom prst="rect">
            <a:avLst/>
          </a:prstGeom>
        </p:spPr>
        <p:txBody>
          <a:bodyPr>
            <a:noAutofit/>
          </a:bodyPr>
          <a:p>
            <a:pPr marL="285750" lvl="7" indent="-285750" algn="just">
              <a:lnSpc>
                <a:spcPct val="100000"/>
              </a:lnSpc>
              <a:buClrTx/>
              <a:buSzTx/>
              <a:buFont typeface="Arial" panose="020B0604020202020204" pitchFamily="34" charset="0"/>
              <a:buChar char="•"/>
            </a:pP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依照《常用机械设计公式及应用实例》中齿轮传动部分内容可知主、被动齿轮可依据如下公式计算：</a:t>
            </a: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285750" lvl="7" indent="-285750" algn="just">
              <a:lnSpc>
                <a:spcPct val="100000"/>
              </a:lnSpc>
              <a:buClrTx/>
              <a:buSzTx/>
              <a:buFont typeface="Arial" panose="020B0604020202020204" pitchFamily="34" charset="0"/>
              <a:buChar char="•"/>
            </a:pP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由此计算得主动齿轮轴受到的轴向力与被动齿轮轴受到的轴向力如下：</a:t>
            </a: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p:txBody>
      </p:sp>
      <p:pic>
        <p:nvPicPr>
          <p:cNvPr id="2" name="图片 1"/>
          <p:cNvPicPr>
            <a:picLocks noChangeAspect="1"/>
          </p:cNvPicPr>
          <p:nvPr/>
        </p:nvPicPr>
        <p:blipFill>
          <a:blip r:embed="rId2"/>
          <a:stretch>
            <a:fillRect/>
          </a:stretch>
        </p:blipFill>
        <p:spPr>
          <a:xfrm>
            <a:off x="4043045" y="1885315"/>
            <a:ext cx="3547745" cy="807720"/>
          </a:xfrm>
          <a:prstGeom prst="rect">
            <a:avLst/>
          </a:prstGeom>
        </p:spPr>
      </p:pic>
      <p:pic>
        <p:nvPicPr>
          <p:cNvPr id="6" name="图片 5"/>
          <p:cNvPicPr>
            <a:picLocks noChangeAspect="1"/>
          </p:cNvPicPr>
          <p:nvPr/>
        </p:nvPicPr>
        <p:blipFill>
          <a:blip r:embed="rId3"/>
          <a:stretch>
            <a:fillRect/>
          </a:stretch>
        </p:blipFill>
        <p:spPr>
          <a:xfrm>
            <a:off x="2513965" y="3334385"/>
            <a:ext cx="7238365" cy="2758440"/>
          </a:xfrm>
          <a:prstGeom prst="rect">
            <a:avLst/>
          </a:prstGeom>
        </p:spPr>
      </p:pic>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流体域模型的建立</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sp>
        <p:nvSpPr>
          <p:cNvPr id="3" name="文本框 2"/>
          <p:cNvSpPr txBox="1"/>
          <p:nvPr/>
        </p:nvSpPr>
        <p:spPr>
          <a:xfrm>
            <a:off x="708025" y="1478280"/>
            <a:ext cx="10500995" cy="4729480"/>
          </a:xfrm>
          <a:prstGeom prst="rect">
            <a:avLst/>
          </a:prstGeom>
        </p:spPr>
        <p:txBody>
          <a:bodyPr>
            <a:noAutofit/>
          </a:bodyPr>
          <a:p>
            <a:pPr marL="285750" lvl="7" indent="-285750" algn="just">
              <a:lnSpc>
                <a:spcPct val="100000"/>
              </a:lnSpc>
              <a:buClrTx/>
              <a:buSzTx/>
              <a:buFont typeface="Arial" panose="020B0604020202020204" pitchFamily="34" charset="0"/>
              <a:buChar char="•"/>
            </a:pP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齿轮液压泵工作的过程中输出压力会变化，轴向力也会因此变化，所以应该首先求得泵在一个周期内输出压力</a:t>
            </a: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的变化规律，然后再根据输出压力变化规律</a:t>
            </a: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对轴向力的变化规律进行分析。</a:t>
            </a: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285750" lvl="7" indent="-285750" algn="just">
              <a:lnSpc>
                <a:spcPct val="100000"/>
              </a:lnSpc>
              <a:buClrTx/>
              <a:buSzTx/>
              <a:buFont typeface="Arial" panose="020B0604020202020204" pitchFamily="34" charset="0"/>
              <a:buChar char="•"/>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285750" lvl="7" indent="-285750" algn="just">
              <a:lnSpc>
                <a:spcPct val="100000"/>
              </a:lnSpc>
              <a:buClrTx/>
              <a:buSzTx/>
              <a:buFont typeface="Arial" panose="020B0604020202020204" pitchFamily="34" charset="0"/>
              <a:buChar char="•"/>
            </a:pP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通过使用</a:t>
            </a:r>
            <a:r>
              <a:rPr lang="en-US" altLang="zh-CN" sz="1800" i="0" kern="100" dirty="0">
                <a:effectLst/>
                <a:latin typeface="Calibri" panose="020F0502020204030204" charset="0"/>
                <a:ea typeface="华文楷体" panose="02010600040101010101" pitchFamily="2" charset="-122"/>
                <a:cs typeface="华文楷体" panose="02010600040101010101" pitchFamily="2" charset="-122"/>
              </a:rPr>
              <a:t>fluent</a:t>
            </a: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软件，我们建立了如图</a:t>
            </a:r>
            <a:r>
              <a:rPr lang="zh-CN" altLang="en-US" sz="1800" i="0" kern="100" dirty="0">
                <a:effectLst/>
                <a:latin typeface="Calibri" panose="020F0502020204030204" charset="0"/>
                <a:ea typeface="华文楷体" panose="02010600040101010101" pitchFamily="2" charset="-122"/>
                <a:cs typeface="华文楷体" panose="02010600040101010101" pitchFamily="2" charset="-122"/>
              </a:rPr>
              <a:t>所示的流体域仿真模型。</a:t>
            </a: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p:txBody>
      </p:sp>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2" name="图片 -2147482624" descr="animation-1_0000"/>
          <p:cNvPicPr>
            <a:picLocks noChangeAspect="1"/>
          </p:cNvPicPr>
          <p:nvPr/>
        </p:nvPicPr>
        <p:blipFill>
          <a:blip r:embed="rId2"/>
          <a:stretch>
            <a:fillRect/>
          </a:stretch>
        </p:blipFill>
        <p:spPr>
          <a:xfrm>
            <a:off x="1145540" y="2789555"/>
            <a:ext cx="7174230" cy="3295015"/>
          </a:xfrm>
          <a:prstGeom prst="rect">
            <a:avLst/>
          </a:prstGeom>
          <a:noFill/>
          <a:ln w="9525">
            <a:noFill/>
          </a:ln>
        </p:spPr>
      </p:pic>
      <p:pic>
        <p:nvPicPr>
          <p:cNvPr id="6" name="图片 5"/>
          <p:cNvPicPr>
            <a:picLocks noChangeAspect="1"/>
          </p:cNvPicPr>
          <p:nvPr/>
        </p:nvPicPr>
        <p:blipFill>
          <a:blip r:embed="rId3"/>
          <a:stretch>
            <a:fillRect/>
          </a:stretch>
        </p:blipFill>
        <p:spPr>
          <a:xfrm>
            <a:off x="6142355" y="2832735"/>
            <a:ext cx="5612765" cy="33750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4610"/>
            <a:ext cx="5520690" cy="429895"/>
            <a:chOff x="707718" y="814610"/>
            <a:chExt cx="552069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0433" y="814610"/>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流体仿真</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sp>
        <p:nvSpPr>
          <p:cNvPr id="3" name="文本框 2"/>
          <p:cNvSpPr txBox="1"/>
          <p:nvPr/>
        </p:nvSpPr>
        <p:spPr>
          <a:xfrm>
            <a:off x="708025" y="1478280"/>
            <a:ext cx="10500995" cy="4729480"/>
          </a:xfrm>
          <a:prstGeom prst="rect">
            <a:avLst/>
          </a:prstGeom>
        </p:spPr>
        <p:txBody>
          <a:bodyPr>
            <a:noAutofit/>
          </a:bodyPr>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p:txBody>
      </p:sp>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8" name="图片 7"/>
          <p:cNvPicPr>
            <a:picLocks noChangeAspect="1"/>
          </p:cNvPicPr>
          <p:nvPr/>
        </p:nvPicPr>
        <p:blipFill>
          <a:blip r:embed="rId2"/>
          <a:stretch>
            <a:fillRect/>
          </a:stretch>
        </p:blipFill>
        <p:spPr>
          <a:xfrm>
            <a:off x="1608455" y="1370965"/>
            <a:ext cx="8369935" cy="489267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4610"/>
            <a:ext cx="5520690" cy="429895"/>
            <a:chOff x="707718" y="814610"/>
            <a:chExt cx="552069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0433" y="814610"/>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流体仿真关键设置介绍：动网格</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sp>
        <p:nvSpPr>
          <p:cNvPr id="3" name="文本框 2"/>
          <p:cNvSpPr txBox="1"/>
          <p:nvPr/>
        </p:nvSpPr>
        <p:spPr>
          <a:xfrm>
            <a:off x="708025" y="1478280"/>
            <a:ext cx="10500995" cy="4729480"/>
          </a:xfrm>
          <a:prstGeom prst="rect">
            <a:avLst/>
          </a:prstGeom>
        </p:spPr>
        <p:txBody>
          <a:bodyPr>
            <a:noAutofit/>
          </a:bodyPr>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p:txBody>
      </p:sp>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2" name="图片 1" descr="边界"/>
          <p:cNvPicPr>
            <a:picLocks noChangeAspect="1"/>
          </p:cNvPicPr>
          <p:nvPr/>
        </p:nvPicPr>
        <p:blipFill>
          <a:blip r:embed="rId2"/>
          <a:stretch>
            <a:fillRect/>
          </a:stretch>
        </p:blipFill>
        <p:spPr>
          <a:xfrm>
            <a:off x="1370965" y="1700530"/>
            <a:ext cx="5266055" cy="3580130"/>
          </a:xfrm>
          <a:prstGeom prst="rect">
            <a:avLst/>
          </a:prstGeom>
        </p:spPr>
      </p:pic>
      <p:pic>
        <p:nvPicPr>
          <p:cNvPr id="6" name="图片 5"/>
          <p:cNvPicPr>
            <a:picLocks noChangeAspect="1"/>
          </p:cNvPicPr>
          <p:nvPr/>
        </p:nvPicPr>
        <p:blipFill>
          <a:blip r:embed="rId3"/>
          <a:stretch>
            <a:fillRect/>
          </a:stretch>
        </p:blipFill>
        <p:spPr>
          <a:xfrm>
            <a:off x="7398385" y="1710055"/>
            <a:ext cx="3500120" cy="39827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4610"/>
            <a:ext cx="5520690" cy="1106805"/>
            <a:chOff x="707718" y="814610"/>
            <a:chExt cx="5520690" cy="110680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0433" y="814610"/>
              <a:ext cx="5387975" cy="11068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流体仿真关键设置介绍：</a:t>
              </a:r>
              <a:endParaRPr kumimoji="0" lang="zh-CN" altLang="en-US" sz="2200" b="1" i="0" u="none" strike="noStrike" kern="1200" cap="none" spc="0" normalizeH="0" baseline="0" noProof="0" dirty="0">
                <a:ln>
                  <a:noFill/>
                </a:ln>
                <a:solidFill>
                  <a:srgbClr val="00156C"/>
                </a:solidFill>
                <a:effectLst/>
                <a:uLnTx/>
                <a:uFillTx/>
                <a:latin typeface="+mn-ea"/>
                <a:cs typeface="+mn-ea"/>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200" b="1" i="0" u="none" strike="noStrike" kern="1200" cap="none" spc="0" normalizeH="0" baseline="0" noProof="0" dirty="0">
                <a:ln>
                  <a:noFill/>
                </a:ln>
                <a:solidFill>
                  <a:srgbClr val="00156C"/>
                </a:solidFill>
                <a:effectLst/>
                <a:uLnTx/>
                <a:uFillTx/>
                <a:latin typeface="+mn-ea"/>
                <a:cs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关键模型及步长。</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sp>
        <p:nvSpPr>
          <p:cNvPr id="3" name="文本框 2"/>
          <p:cNvSpPr txBox="1"/>
          <p:nvPr/>
        </p:nvSpPr>
        <p:spPr>
          <a:xfrm>
            <a:off x="708025" y="1478280"/>
            <a:ext cx="10500995" cy="4729480"/>
          </a:xfrm>
          <a:prstGeom prst="rect">
            <a:avLst/>
          </a:prstGeom>
        </p:spPr>
        <p:txBody>
          <a:bodyPr>
            <a:noAutofit/>
          </a:bodyPr>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p:txBody>
      </p:sp>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2" name="图片 1" descr="粘性"/>
          <p:cNvPicPr>
            <a:picLocks noChangeAspect="1"/>
          </p:cNvPicPr>
          <p:nvPr/>
        </p:nvPicPr>
        <p:blipFill>
          <a:blip r:embed="rId2"/>
          <a:stretch>
            <a:fillRect/>
          </a:stretch>
        </p:blipFill>
        <p:spPr>
          <a:xfrm>
            <a:off x="3519805" y="1211580"/>
            <a:ext cx="3241675" cy="4933315"/>
          </a:xfrm>
          <a:prstGeom prst="rect">
            <a:avLst/>
          </a:prstGeom>
        </p:spPr>
      </p:pic>
      <p:pic>
        <p:nvPicPr>
          <p:cNvPr id="6" name="图片 5"/>
          <p:cNvPicPr>
            <a:picLocks noChangeAspect="1"/>
          </p:cNvPicPr>
          <p:nvPr/>
        </p:nvPicPr>
        <p:blipFill>
          <a:blip r:embed="rId3"/>
          <a:stretch>
            <a:fillRect/>
          </a:stretch>
        </p:blipFill>
        <p:spPr>
          <a:xfrm>
            <a:off x="7275830" y="1325880"/>
            <a:ext cx="3223895" cy="42062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4610"/>
            <a:ext cx="5520690" cy="429895"/>
            <a:chOff x="707718" y="814610"/>
            <a:chExt cx="552069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0433" y="814610"/>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流体仿真：</a:t>
              </a:r>
              <a:r>
                <a:rPr kumimoji="0" lang="en-US" altLang="zh-CN" sz="2200" b="1" i="0" u="none" strike="noStrike" kern="1200" cap="none" spc="0" normalizeH="0" baseline="0" noProof="0" dirty="0">
                  <a:ln>
                    <a:noFill/>
                  </a:ln>
                  <a:solidFill>
                    <a:srgbClr val="00156C"/>
                  </a:solidFill>
                  <a:effectLst/>
                  <a:uLnTx/>
                  <a:uFillTx/>
                  <a:latin typeface="+mn-ea"/>
                  <a:cs typeface="+mn-ea"/>
                </a:rPr>
                <a:t>3</a:t>
              </a:r>
              <a:r>
                <a:rPr kumimoji="0" lang="zh-CN" altLang="en-US" sz="2200" b="1" i="0" u="none" strike="noStrike" kern="1200" cap="none" spc="0" normalizeH="0" baseline="0" noProof="0" dirty="0">
                  <a:ln>
                    <a:noFill/>
                  </a:ln>
                  <a:solidFill>
                    <a:srgbClr val="00156C"/>
                  </a:solidFill>
                  <a:effectLst/>
                  <a:uLnTx/>
                  <a:uFillTx/>
                  <a:latin typeface="+mn-ea"/>
                  <a:cs typeface="+mn-ea"/>
                </a:rPr>
                <a:t>维仿真</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sp>
        <p:nvSpPr>
          <p:cNvPr id="3" name="文本框 2"/>
          <p:cNvSpPr txBox="1"/>
          <p:nvPr/>
        </p:nvSpPr>
        <p:spPr>
          <a:xfrm>
            <a:off x="708025" y="1478280"/>
            <a:ext cx="10500995" cy="4729480"/>
          </a:xfrm>
          <a:prstGeom prst="rect">
            <a:avLst/>
          </a:prstGeom>
        </p:spPr>
        <p:txBody>
          <a:bodyPr>
            <a:noAutofit/>
          </a:bodyPr>
          <a:p>
            <a:pPr marL="0" lvl="7" indent="0" algn="just">
              <a:lnSpc>
                <a:spcPct val="100000"/>
              </a:lnSpc>
              <a:buClrTx/>
              <a:buSzTx/>
              <a:buFont typeface="Arial" panose="020B0604020202020204" pitchFamily="34" charset="0"/>
              <a:buNone/>
            </a:pPr>
            <a:endParaRPr lang="zh-CN" altLang="en-US" sz="1800" i="0" kern="100" dirty="0">
              <a:effectLst/>
              <a:latin typeface="Calibri" panose="020F0502020204030204" charset="0"/>
              <a:ea typeface="华文楷体" panose="02010600040101010101" pitchFamily="2" charset="-122"/>
              <a:cs typeface="华文楷体" panose="02010600040101010101" pitchFamily="2" charset="-122"/>
            </a:endParaRPr>
          </a:p>
        </p:txBody>
      </p:sp>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pic>
        <p:nvPicPr>
          <p:cNvPr id="2" name="图片 1" descr="3d"/>
          <p:cNvPicPr>
            <a:picLocks noChangeAspect="1"/>
          </p:cNvPicPr>
          <p:nvPr/>
        </p:nvPicPr>
        <p:blipFill>
          <a:blip r:embed="rId2"/>
          <a:stretch>
            <a:fillRect/>
          </a:stretch>
        </p:blipFill>
        <p:spPr>
          <a:xfrm>
            <a:off x="708025" y="1594485"/>
            <a:ext cx="7070725" cy="4220845"/>
          </a:xfrm>
          <a:prstGeom prst="rect">
            <a:avLst/>
          </a:prstGeom>
        </p:spPr>
      </p:pic>
      <p:pic>
        <p:nvPicPr>
          <p:cNvPr id="6" name="图片 5"/>
          <p:cNvPicPr>
            <a:picLocks noChangeAspect="1"/>
          </p:cNvPicPr>
          <p:nvPr/>
        </p:nvPicPr>
        <p:blipFill>
          <a:blip r:embed="rId3"/>
          <a:srcRect r="24763"/>
          <a:stretch>
            <a:fillRect/>
          </a:stretch>
        </p:blipFill>
        <p:spPr>
          <a:xfrm>
            <a:off x="7778750" y="1029970"/>
            <a:ext cx="3727450" cy="533019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仿真视频">
            <a:hlinkClick r:id="" action="ppaction://media"/>
          </p:cNvPr>
          <p:cNvPicPr/>
          <p:nvPr>
            <a:videoFile r:link="rId1"/>
            <p:extLst>
              <p:ext uri="{DAA4B4D4-6D71-4841-9C94-3DE7FCFB9230}">
                <p14:media xmlns:p14="http://schemas.microsoft.com/office/powerpoint/2010/main" r:embed="rId2"/>
              </p:ext>
            </p:extLst>
          </p:nvPr>
        </p:nvPicPr>
        <p:blipFill>
          <a:blip r:embed="rId3"/>
          <a:stretch>
            <a:fillRect/>
          </a:stretch>
        </p:blipFill>
        <p:spPr>
          <a:xfrm>
            <a:off x="223520" y="453390"/>
            <a:ext cx="10935335" cy="5951220"/>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2"/>
                </p:tgtEl>
              </p:cMediaNode>
            </p:video>
            <p:seq concurrent="1" nextAc="seek">
              <p:cTn id="3" restart="whenNotActive" fill="hold" evtFilter="cancelBubble" nodeType="interactiveSeq">
                <p:stCondLst>
                  <p:cond evt="onClick" delay="0">
                    <p:tgtEl>
                      <p:spTgt spid="2"/>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分析结果：输出压力及</a:t>
              </a:r>
              <a:r>
                <a:rPr kumimoji="0" lang="zh-CN" altLang="en-US" sz="2200" b="1" i="0" u="none" strike="noStrike" kern="1200" cap="none" spc="0" normalizeH="0" baseline="0" noProof="0" dirty="0">
                  <a:ln>
                    <a:noFill/>
                  </a:ln>
                  <a:solidFill>
                    <a:srgbClr val="00156C"/>
                  </a:solidFill>
                  <a:effectLst/>
                  <a:uLnTx/>
                  <a:uFillTx/>
                  <a:latin typeface="+mn-ea"/>
                  <a:cs typeface="+mn-ea"/>
                </a:rPr>
                <a:t>轴向力</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grpSp>
        <p:nvGrpSpPr>
          <p:cNvPr id="6" name="组合 5"/>
          <p:cNvGrpSpPr/>
          <p:nvPr/>
        </p:nvGrpSpPr>
        <p:grpSpPr>
          <a:xfrm>
            <a:off x="5194935" y="1485265"/>
            <a:ext cx="6628130" cy="1926590"/>
            <a:chOff x="3120851" y="1767022"/>
            <a:chExt cx="8600729" cy="1420678"/>
          </a:xfrm>
        </p:grpSpPr>
        <p:cxnSp>
          <p:nvCxnSpPr>
            <p:cNvPr id="8" name="直接连接符 7"/>
            <p:cNvCxnSpPr/>
            <p:nvPr/>
          </p:nvCxnSpPr>
          <p:spPr>
            <a:xfrm>
              <a:off x="3120851" y="1767022"/>
              <a:ext cx="0" cy="1420678"/>
            </a:xfrm>
            <a:prstGeom prst="line">
              <a:avLst/>
            </a:prstGeom>
            <a:ln w="95250">
              <a:solidFill>
                <a:srgbClr val="0E419C"/>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8001" y="1767022"/>
              <a:ext cx="8543579" cy="14206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zh-CN" altLang="en-US" dirty="0"/>
            </a:p>
          </p:txBody>
        </p:sp>
      </p:grpSp>
      <p:sp>
        <p:nvSpPr>
          <p:cNvPr id="11" name="文本框 10"/>
          <p:cNvSpPr txBox="1"/>
          <p:nvPr/>
        </p:nvSpPr>
        <p:spPr>
          <a:xfrm>
            <a:off x="5454015" y="1626870"/>
            <a:ext cx="6153150" cy="1660525"/>
          </a:xfrm>
          <a:prstGeom prst="rect">
            <a:avLst/>
          </a:prstGeom>
          <a:noFill/>
        </p:spPr>
        <p:txBody>
          <a:bodyPr wrap="square" rtlCol="0">
            <a:noAutofit/>
          </a:bodyPr>
          <a:p>
            <a:pPr marL="285750" indent="-285750" algn="l">
              <a:lnSpc>
                <a:spcPct val="150000"/>
              </a:lnSpc>
              <a:buClr>
                <a:srgbClr val="122E66"/>
              </a:buClr>
              <a:buFont typeface="Arial" panose="020B0604020202020204" pitchFamily="34" charset="0"/>
              <a:buChar char="•"/>
            </a:pPr>
            <a:r>
              <a:rPr lang="zh-CN" altLang="en-US" sz="1600" b="1" dirty="0">
                <a:solidFill>
                  <a:schemeClr val="accent2"/>
                </a:solidFill>
                <a:latin typeface="思源黑体 CN Bold"/>
                <a:ea typeface="思源宋体 CN" panose="02020400000000000000" pitchFamily="18" charset="-122"/>
                <a:cs typeface="+mn-ea"/>
                <a:sym typeface="+mn-lt"/>
              </a:rPr>
              <a:t>齿轮泵压力特性与优势</a:t>
            </a:r>
            <a:endParaRPr lang="zh-CN" altLang="en-US" sz="1600" dirty="0">
              <a:solidFill>
                <a:schemeClr val="accent2"/>
              </a:solidFill>
              <a:latin typeface="思源黑体 CN Bold"/>
              <a:ea typeface="思源宋体 CN" panose="02020400000000000000" pitchFamily="18" charset="-122"/>
              <a:cs typeface="+mn-ea"/>
              <a:sym typeface="+mn-lt"/>
            </a:endParaRPr>
          </a:p>
          <a:p>
            <a:pPr algn="l">
              <a:lnSpc>
                <a:spcPct val="150000"/>
              </a:lnSpc>
              <a:buClr>
                <a:srgbClr val="122E66"/>
              </a:buClr>
            </a:pPr>
            <a:r>
              <a:rPr lang="zh-CN" altLang="en-US" sz="1600" dirty="0">
                <a:solidFill>
                  <a:schemeClr val="tx1"/>
                </a:solidFill>
                <a:latin typeface="思源黑体 CN Bold"/>
                <a:ea typeface="思源宋体 CN" panose="02020400000000000000" pitchFamily="18" charset="-122"/>
                <a:cs typeface="+mn-ea"/>
                <a:sym typeface="+mn-lt"/>
              </a:rPr>
              <a:t>压力特性：运行中持续递减</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轴向力</a:t>
            </a:r>
            <a:r>
              <a:rPr lang="en-US" altLang="en-US" sz="1600" dirty="0">
                <a:solidFill>
                  <a:schemeClr val="tx1"/>
                </a:solidFill>
                <a:latin typeface="思源黑体 CN Bold"/>
                <a:ea typeface="思源宋体 CN" panose="02020400000000000000" pitchFamily="18" charset="-122"/>
                <a:cs typeface="+mn-ea"/>
                <a:sym typeface="+mn-lt"/>
              </a:rPr>
              <a:t>→</a:t>
            </a:r>
            <a:r>
              <a:rPr lang="zh-CN" altLang="en-US" sz="1600" dirty="0">
                <a:solidFill>
                  <a:schemeClr val="tx1"/>
                </a:solidFill>
                <a:latin typeface="思源黑体 CN Bold"/>
                <a:ea typeface="思源宋体 CN" panose="02020400000000000000" pitchFamily="18" charset="-122"/>
                <a:cs typeface="+mn-ea"/>
                <a:sym typeface="+mn-lt"/>
              </a:rPr>
              <a:t>间隙扩大</a:t>
            </a:r>
            <a:r>
              <a:rPr lang="en-US" altLang="en-US" sz="1600" dirty="0">
                <a:solidFill>
                  <a:schemeClr val="tx1"/>
                </a:solidFill>
                <a:latin typeface="思源黑体 CN Bold"/>
                <a:ea typeface="思源宋体 CN" panose="02020400000000000000" pitchFamily="18" charset="-122"/>
                <a:cs typeface="+mn-ea"/>
                <a:sym typeface="+mn-lt"/>
              </a:rPr>
              <a:t>→</a:t>
            </a:r>
            <a:r>
              <a:rPr lang="zh-CN" altLang="en-US" sz="1600" dirty="0">
                <a:solidFill>
                  <a:schemeClr val="tx1"/>
                </a:solidFill>
                <a:latin typeface="思源黑体 CN Bold"/>
                <a:ea typeface="思源宋体 CN" panose="02020400000000000000" pitchFamily="18" charset="-122"/>
                <a:cs typeface="+mn-ea"/>
                <a:sym typeface="+mn-lt"/>
              </a:rPr>
              <a:t>内泄加剧</a:t>
            </a:r>
            <a:r>
              <a:rPr lang="en-US" altLang="zh-CN" sz="1600" dirty="0">
                <a:solidFill>
                  <a:schemeClr val="tx1"/>
                </a:solidFill>
                <a:latin typeface="思源黑体 CN Bold"/>
                <a:ea typeface="思源宋体 CN" panose="02020400000000000000" pitchFamily="18" charset="-122"/>
                <a:cs typeface="+mn-ea"/>
                <a:sym typeface="+mn-lt"/>
              </a:rPr>
              <a:t>)</a:t>
            </a:r>
            <a:endParaRPr lang="en-US" altLang="zh-CN" sz="1600" dirty="0">
              <a:solidFill>
                <a:schemeClr val="tx1"/>
              </a:solidFill>
              <a:latin typeface="思源黑体 CN Bold"/>
              <a:ea typeface="思源宋体 CN" panose="02020400000000000000" pitchFamily="18" charset="-122"/>
              <a:cs typeface="+mn-ea"/>
              <a:sym typeface="+mn-lt"/>
            </a:endParaRPr>
          </a:p>
          <a:p>
            <a:pPr algn="l">
              <a:lnSpc>
                <a:spcPct val="150000"/>
              </a:lnSpc>
              <a:buClr>
                <a:srgbClr val="122E66"/>
              </a:buClr>
            </a:pPr>
            <a:r>
              <a:rPr lang="zh-CN" altLang="en-US" sz="1600" dirty="0">
                <a:solidFill>
                  <a:schemeClr val="tx1"/>
                </a:solidFill>
                <a:latin typeface="思源黑体 CN Bold"/>
                <a:ea typeface="思源宋体 CN" panose="02020400000000000000" pitchFamily="18" charset="-122"/>
                <a:cs typeface="+mn-ea"/>
                <a:sym typeface="+mn-lt"/>
              </a:rPr>
              <a:t>实测波动：峰值</a:t>
            </a:r>
            <a:r>
              <a:rPr lang="en-US" altLang="zh-CN" sz="1600" dirty="0">
                <a:solidFill>
                  <a:schemeClr val="tx1"/>
                </a:solidFill>
                <a:latin typeface="思源黑体 CN Bold"/>
                <a:ea typeface="思源宋体 CN" panose="02020400000000000000" pitchFamily="18" charset="-122"/>
                <a:cs typeface="+mn-ea"/>
                <a:sym typeface="+mn-lt"/>
              </a:rPr>
              <a:t> 25MPa</a:t>
            </a:r>
            <a:r>
              <a:rPr lang="zh-CN" altLang="en-US" sz="1600" dirty="0">
                <a:solidFill>
                  <a:schemeClr val="tx1"/>
                </a:solidFill>
                <a:latin typeface="思源黑体 CN Bold"/>
                <a:ea typeface="思源宋体 CN" panose="02020400000000000000" pitchFamily="18" charset="-122"/>
                <a:cs typeface="+mn-ea"/>
                <a:sym typeface="+mn-lt"/>
              </a:rPr>
              <a:t>，谷值</a:t>
            </a:r>
            <a:r>
              <a:rPr lang="en-US" altLang="zh-CN" sz="1600" dirty="0">
                <a:solidFill>
                  <a:schemeClr val="tx1"/>
                </a:solidFill>
                <a:latin typeface="思源黑体 CN Bold"/>
                <a:ea typeface="思源宋体 CN" panose="02020400000000000000" pitchFamily="18" charset="-122"/>
                <a:cs typeface="+mn-ea"/>
                <a:sym typeface="+mn-lt"/>
              </a:rPr>
              <a:t> 23.799MPa</a:t>
            </a:r>
            <a:r>
              <a:rPr lang="zh-CN" altLang="en-US" sz="1600" dirty="0">
                <a:solidFill>
                  <a:schemeClr val="tx1"/>
                </a:solidFill>
                <a:latin typeface="思源黑体 CN Bold"/>
                <a:ea typeface="思源宋体 CN" panose="02020400000000000000" pitchFamily="18" charset="-122"/>
                <a:cs typeface="+mn-ea"/>
                <a:sym typeface="+mn-lt"/>
              </a:rPr>
              <a:t>，波动幅度仅</a:t>
            </a:r>
            <a:r>
              <a:rPr lang="en-US" altLang="zh-CN" sz="1600" dirty="0">
                <a:solidFill>
                  <a:schemeClr val="tx1"/>
                </a:solidFill>
                <a:latin typeface="思源黑体 CN Bold"/>
                <a:ea typeface="思源宋体 CN" panose="02020400000000000000" pitchFamily="18" charset="-122"/>
                <a:cs typeface="+mn-ea"/>
                <a:sym typeface="+mn-lt"/>
              </a:rPr>
              <a:t>4.8%</a:t>
            </a:r>
            <a:endParaRPr lang="en-US" altLang="zh-CN" sz="1600" dirty="0">
              <a:solidFill>
                <a:schemeClr val="tx1"/>
              </a:solidFill>
              <a:latin typeface="思源黑体 CN Bold"/>
              <a:ea typeface="思源宋体 CN" panose="02020400000000000000" pitchFamily="18" charset="-122"/>
              <a:cs typeface="+mn-ea"/>
              <a:sym typeface="+mn-lt"/>
            </a:endParaRPr>
          </a:p>
          <a:p>
            <a:pPr algn="l">
              <a:lnSpc>
                <a:spcPct val="150000"/>
              </a:lnSpc>
              <a:buClr>
                <a:srgbClr val="122E66"/>
              </a:buClr>
            </a:pPr>
            <a:r>
              <a:rPr lang="zh-CN" altLang="en-US" sz="1600" dirty="0">
                <a:solidFill>
                  <a:schemeClr val="tx1"/>
                </a:solidFill>
                <a:latin typeface="思源黑体 CN Bold"/>
                <a:ea typeface="思源宋体 CN" panose="02020400000000000000" pitchFamily="18" charset="-122"/>
                <a:cs typeface="+mn-ea"/>
                <a:sym typeface="+mn-lt"/>
              </a:rPr>
              <a:t>结构优势显著，波动幅度</a:t>
            </a:r>
            <a:r>
              <a:rPr lang="zh-CN" altLang="en-US" sz="1600" dirty="0">
                <a:solidFill>
                  <a:schemeClr val="tx1"/>
                </a:solidFill>
                <a:latin typeface="思源黑体 CN Bold"/>
                <a:ea typeface="思源宋体 CN" panose="02020400000000000000" pitchFamily="18" charset="-122"/>
                <a:cs typeface="+mn-ea"/>
                <a:sym typeface="+mn-lt"/>
              </a:rPr>
              <a:t>小于直齿泵的</a:t>
            </a:r>
            <a:r>
              <a:rPr lang="en-US" altLang="zh-CN" sz="1600" dirty="0">
                <a:solidFill>
                  <a:schemeClr val="tx1"/>
                </a:solidFill>
                <a:latin typeface="思源黑体 CN Bold"/>
                <a:ea typeface="思源宋体 CN" panose="02020400000000000000" pitchFamily="18" charset="-122"/>
                <a:cs typeface="+mn-ea"/>
                <a:sym typeface="+mn-lt"/>
              </a:rPr>
              <a:t>10%</a:t>
            </a:r>
            <a:r>
              <a:rPr lang="zh-CN" altLang="en-US" sz="1600" dirty="0">
                <a:solidFill>
                  <a:schemeClr val="tx1"/>
                </a:solidFill>
                <a:latin typeface="思源黑体 CN Bold"/>
                <a:ea typeface="思源宋体 CN" panose="02020400000000000000" pitchFamily="18" charset="-122"/>
                <a:cs typeface="+mn-ea"/>
                <a:sym typeface="+mn-lt"/>
              </a:rPr>
              <a:t>。</a:t>
            </a:r>
            <a:endParaRPr lang="zh-CN" altLang="en-US" sz="1600" dirty="0">
              <a:solidFill>
                <a:schemeClr val="tx1"/>
              </a:solidFill>
              <a:latin typeface="思源黑体 CN Bold"/>
              <a:ea typeface="思源宋体 CN" panose="02020400000000000000" pitchFamily="18" charset="-122"/>
              <a:cs typeface="+mn-ea"/>
              <a:sym typeface="+mn-lt"/>
            </a:endParaRPr>
          </a:p>
        </p:txBody>
      </p:sp>
      <p:graphicFrame>
        <p:nvGraphicFramePr>
          <p:cNvPr id="18" name="图表 2"/>
          <p:cNvGraphicFramePr/>
          <p:nvPr/>
        </p:nvGraphicFramePr>
        <p:xfrm>
          <a:off x="533400" y="1333500"/>
          <a:ext cx="4402455" cy="2311400"/>
        </p:xfrm>
        <a:graphic>
          <a:graphicData uri="http://schemas.openxmlformats.org/drawingml/2006/chart">
            <c:chart xmlns:c="http://schemas.openxmlformats.org/drawingml/2006/chart" xmlns:r="http://schemas.openxmlformats.org/officeDocument/2006/relationships" r:id="rId1"/>
          </a:graphicData>
        </a:graphic>
      </p:graphicFrame>
      <p:grpSp>
        <p:nvGrpSpPr>
          <p:cNvPr id="22" name="组合 21"/>
          <p:cNvGrpSpPr/>
          <p:nvPr/>
        </p:nvGrpSpPr>
        <p:grpSpPr>
          <a:xfrm>
            <a:off x="5194935" y="3762375"/>
            <a:ext cx="6628130" cy="2473325"/>
            <a:chOff x="3120851" y="1767022"/>
            <a:chExt cx="8600729" cy="1420678"/>
          </a:xfrm>
        </p:grpSpPr>
        <p:cxnSp>
          <p:nvCxnSpPr>
            <p:cNvPr id="23" name="直接连接符 22"/>
            <p:cNvCxnSpPr/>
            <p:nvPr/>
          </p:nvCxnSpPr>
          <p:spPr>
            <a:xfrm>
              <a:off x="3120851" y="1767022"/>
              <a:ext cx="0" cy="1420678"/>
            </a:xfrm>
            <a:prstGeom prst="line">
              <a:avLst/>
            </a:prstGeom>
            <a:ln w="95250">
              <a:solidFill>
                <a:srgbClr val="0E419C"/>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178001" y="1767022"/>
              <a:ext cx="8543579" cy="14206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zh-CN" altLang="en-US" dirty="0"/>
            </a:p>
          </p:txBody>
        </p:sp>
      </p:grpSp>
      <p:sp>
        <p:nvSpPr>
          <p:cNvPr id="31" name="文本框 30"/>
          <p:cNvSpPr txBox="1"/>
          <p:nvPr/>
        </p:nvSpPr>
        <p:spPr>
          <a:xfrm>
            <a:off x="5454015" y="3762375"/>
            <a:ext cx="6153150" cy="2518410"/>
          </a:xfrm>
          <a:prstGeom prst="rect">
            <a:avLst/>
          </a:prstGeom>
          <a:noFill/>
        </p:spPr>
        <p:txBody>
          <a:bodyPr wrap="square" rtlCol="0">
            <a:noAutofit/>
          </a:bodyPr>
          <a:p>
            <a:pPr marL="285750" indent="-285750" algn="l">
              <a:lnSpc>
                <a:spcPct val="150000"/>
              </a:lnSpc>
              <a:buClr>
                <a:srgbClr val="122E66"/>
              </a:buClr>
              <a:buSzTx/>
              <a:buFont typeface="Arial" panose="020B0604020202020204" pitchFamily="34" charset="0"/>
              <a:buChar char="•"/>
            </a:pPr>
            <a:r>
              <a:rPr lang="zh-CN" altLang="en-US" sz="1600" b="1" dirty="0">
                <a:solidFill>
                  <a:schemeClr val="accent2"/>
                </a:solidFill>
                <a:latin typeface="思源黑体 CN Bold"/>
                <a:ea typeface="思源宋体 CN" panose="02020400000000000000" pitchFamily="18" charset="-122"/>
                <a:cs typeface="+mn-ea"/>
                <a:sym typeface="+mn-lt"/>
              </a:rPr>
              <a:t>齿轮泵轴向力变化规律与机制</a:t>
            </a:r>
            <a:endParaRPr lang="zh-CN" altLang="en-US" sz="1600" b="1" dirty="0">
              <a:solidFill>
                <a:schemeClr val="accent2"/>
              </a:solidFill>
              <a:latin typeface="思源黑体 CN Bold"/>
              <a:ea typeface="思源宋体 CN" panose="02020400000000000000" pitchFamily="18" charset="-122"/>
              <a:cs typeface="+mn-ea"/>
              <a:sym typeface="+mn-lt"/>
            </a:endParaRPr>
          </a:p>
          <a:p>
            <a:pPr algn="l">
              <a:lnSpc>
                <a:spcPct val="150000"/>
              </a:lnSpc>
              <a:buClr>
                <a:srgbClr val="122E66"/>
              </a:buClr>
            </a:pPr>
            <a:r>
              <a:rPr lang="zh-CN" altLang="en-US" sz="1600" dirty="0">
                <a:solidFill>
                  <a:schemeClr val="tx1"/>
                </a:solidFill>
                <a:latin typeface="思源黑体 CN Bold"/>
                <a:ea typeface="思源宋体 CN" panose="02020400000000000000" pitchFamily="18" charset="-122"/>
                <a:cs typeface="+mn-ea"/>
                <a:sym typeface="+mn-lt"/>
              </a:rPr>
              <a:t>轴向力特性：主</a:t>
            </a:r>
            <a:r>
              <a:rPr lang="en-US" altLang="zh-CN" sz="1600" dirty="0">
                <a:solidFill>
                  <a:schemeClr val="tx1"/>
                </a:solidFill>
                <a:latin typeface="思源黑体 CN Bold"/>
                <a:ea typeface="思源宋体 CN" panose="02020400000000000000" pitchFamily="18" charset="-122"/>
                <a:cs typeface="+mn-ea"/>
                <a:sym typeface="+mn-lt"/>
              </a:rPr>
              <a:t>/</a:t>
            </a:r>
            <a:r>
              <a:rPr lang="zh-CN" altLang="en-US" sz="1600" dirty="0">
                <a:solidFill>
                  <a:schemeClr val="tx1"/>
                </a:solidFill>
                <a:latin typeface="思源黑体 CN Bold"/>
                <a:ea typeface="思源宋体 CN" panose="02020400000000000000" pitchFamily="18" charset="-122"/>
                <a:cs typeface="+mn-ea"/>
                <a:sym typeface="+mn-lt"/>
              </a:rPr>
              <a:t>从动轴工作周期内</a:t>
            </a:r>
            <a:r>
              <a:rPr lang="zh-CN" altLang="en-US" sz="1600" b="1" u="sng" dirty="0">
                <a:solidFill>
                  <a:schemeClr val="tx1"/>
                </a:solidFill>
                <a:latin typeface="思源黑体 CN Bold"/>
                <a:ea typeface="思源宋体 CN" panose="02020400000000000000" pitchFamily="18" charset="-122"/>
                <a:cs typeface="+mn-ea"/>
                <a:sym typeface="+mn-lt"/>
              </a:rPr>
              <a:t>持续递减</a:t>
            </a:r>
            <a:endParaRPr lang="en-US" altLang="zh-CN" sz="1600" dirty="0">
              <a:solidFill>
                <a:schemeClr val="tx1"/>
              </a:solidFill>
              <a:latin typeface="思源黑体 CN Bold"/>
              <a:ea typeface="思源宋体 CN" panose="02020400000000000000" pitchFamily="18" charset="-122"/>
              <a:cs typeface="+mn-ea"/>
              <a:sym typeface="+mn-lt"/>
            </a:endParaRPr>
          </a:p>
          <a:p>
            <a:pPr marL="285750" lvl="7" indent="-285750" algn="just">
              <a:lnSpc>
                <a:spcPct val="100000"/>
              </a:lnSpc>
              <a:buClrTx/>
              <a:buSzTx/>
              <a:buFont typeface="Arial" panose="020B0604020202020204" pitchFamily="34" charset="0"/>
              <a:buChar char="•"/>
            </a:pPr>
            <a:r>
              <a:rPr lang="zh-CN" altLang="en-US" sz="1600" dirty="0">
                <a:solidFill>
                  <a:schemeClr val="tx1"/>
                </a:solidFill>
                <a:latin typeface="思源黑体 CN Bold"/>
                <a:ea typeface="思源宋体 CN" panose="02020400000000000000" pitchFamily="18" charset="-122"/>
                <a:cs typeface="+mn-ea"/>
                <a:sym typeface="+mn-lt"/>
              </a:rPr>
              <a:t>主动轴：</a:t>
            </a:r>
            <a:r>
              <a:rPr lang="en-US" altLang="zh-CN" sz="1600" dirty="0">
                <a:solidFill>
                  <a:schemeClr val="tx1"/>
                </a:solidFill>
                <a:latin typeface="思源黑体 CN Bold"/>
                <a:ea typeface="思源宋体 CN" panose="02020400000000000000" pitchFamily="18" charset="-122"/>
                <a:cs typeface="+mn-ea"/>
                <a:sym typeface="+mn-lt"/>
              </a:rPr>
              <a:t>614.91N → 609.1029N</a:t>
            </a:r>
            <a:endParaRPr lang="zh-CN" altLang="en-US" sz="1800" kern="100" dirty="0">
              <a:solidFill>
                <a:schemeClr val="tx1"/>
              </a:solidFill>
              <a:effectLst/>
              <a:latin typeface="Calibri" panose="020F0502020204030204" charset="0"/>
              <a:ea typeface="华文楷体" panose="02010600040101010101" pitchFamily="2" charset="-122"/>
              <a:cs typeface="华文楷体" panose="02010600040101010101" pitchFamily="2" charset="-122"/>
              <a:sym typeface="+mn-lt"/>
            </a:endParaRPr>
          </a:p>
          <a:p>
            <a:pPr marL="285750" lvl="7" indent="-285750" algn="just">
              <a:lnSpc>
                <a:spcPct val="100000"/>
              </a:lnSpc>
              <a:buClrTx/>
              <a:buSzTx/>
              <a:buFont typeface="Arial" panose="020B0604020202020204" pitchFamily="34" charset="0"/>
              <a:buChar char="•"/>
            </a:pPr>
            <a:r>
              <a:rPr lang="zh-CN" altLang="en-US" sz="1600" dirty="0">
                <a:solidFill>
                  <a:schemeClr val="tx1"/>
                </a:solidFill>
                <a:latin typeface="思源黑体 CN Bold"/>
                <a:ea typeface="思源宋体 CN" panose="02020400000000000000" pitchFamily="18" charset="-122"/>
                <a:cs typeface="+mn-ea"/>
                <a:sym typeface="+mn-lt"/>
              </a:rPr>
              <a:t>从动轴：</a:t>
            </a:r>
            <a:r>
              <a:rPr lang="en-US" altLang="zh-CN" sz="1600" dirty="0">
                <a:solidFill>
                  <a:schemeClr val="tx1"/>
                </a:solidFill>
                <a:latin typeface="思源黑体 CN Bold"/>
                <a:ea typeface="思源宋体 CN" panose="02020400000000000000" pitchFamily="18" charset="-122"/>
                <a:cs typeface="+mn-ea"/>
                <a:sym typeface="+mn-lt"/>
              </a:rPr>
              <a:t>-373.15N → -378.957N</a:t>
            </a:r>
            <a:endParaRPr lang="zh-CN" altLang="en-US" sz="1800" kern="100" dirty="0">
              <a:solidFill>
                <a:schemeClr val="tx1"/>
              </a:solidFill>
              <a:effectLst/>
              <a:latin typeface="Calibri" panose="020F0502020204030204" charset="0"/>
              <a:ea typeface="华文楷体" panose="02010600040101010101" pitchFamily="2" charset="-122"/>
              <a:cs typeface="华文楷体" panose="02010600040101010101" pitchFamily="2" charset="-122"/>
              <a:sym typeface="+mn-lt"/>
            </a:endParaRPr>
          </a:p>
          <a:p>
            <a:pPr algn="l">
              <a:lnSpc>
                <a:spcPct val="150000"/>
              </a:lnSpc>
              <a:buClr>
                <a:srgbClr val="122E66"/>
              </a:buClr>
            </a:pPr>
            <a:r>
              <a:rPr lang="zh-CN" altLang="en-US" sz="1600" dirty="0">
                <a:solidFill>
                  <a:schemeClr val="tx1"/>
                </a:solidFill>
                <a:latin typeface="思源黑体 CN Bold"/>
                <a:ea typeface="思源宋体 CN" panose="02020400000000000000" pitchFamily="18" charset="-122"/>
                <a:cs typeface="+mn-ea"/>
                <a:sym typeface="+mn-lt"/>
              </a:rPr>
              <a:t>递减原因是轴向力与输出压力</a:t>
            </a:r>
            <a:r>
              <a:rPr lang="zh-CN" altLang="en-US" sz="1600" dirty="0">
                <a:solidFill>
                  <a:schemeClr val="tx1"/>
                </a:solidFill>
                <a:latin typeface="思源黑体 CN Bold"/>
                <a:ea typeface="思源宋体 CN" panose="02020400000000000000" pitchFamily="18" charset="-122"/>
                <a:cs typeface="+mn-ea"/>
                <a:sym typeface="+mn-lt"/>
              </a:rPr>
              <a:t>的正相关性：工作前期存在的轴向力引发端面泄漏，导致出口压力降低；而此压力值直接决定后续时段的轴向力大小，由此形成自洽的负反馈循环。</a:t>
            </a:r>
            <a:endParaRPr lang="zh-CN" altLang="en-US" sz="1600" dirty="0">
              <a:solidFill>
                <a:schemeClr val="tx1"/>
              </a:solidFill>
              <a:latin typeface="思源黑体 CN Bold"/>
              <a:ea typeface="思源宋体 CN" panose="02020400000000000000" pitchFamily="18" charset="-122"/>
              <a:cs typeface="+mn-ea"/>
              <a:sym typeface="+mn-lt"/>
            </a:endParaRPr>
          </a:p>
        </p:txBody>
      </p:sp>
      <p:pic>
        <p:nvPicPr>
          <p:cNvPr id="2" name="图片 1"/>
          <p:cNvPicPr>
            <a:picLocks noChangeAspect="1"/>
          </p:cNvPicPr>
          <p:nvPr/>
        </p:nvPicPr>
        <p:blipFill>
          <a:blip r:embed="rId3"/>
          <a:stretch>
            <a:fillRect/>
          </a:stretch>
        </p:blipFill>
        <p:spPr>
          <a:xfrm>
            <a:off x="533400" y="3704590"/>
            <a:ext cx="4504690" cy="25742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分析结果：转速效应</a:t>
              </a:r>
              <a:r>
                <a:rPr kumimoji="0" lang="zh-CN" altLang="en-US" sz="2200" b="1" i="0" u="none" strike="noStrike" kern="1200" cap="none" spc="0" normalizeH="0" baseline="0" noProof="0" dirty="0">
                  <a:ln>
                    <a:noFill/>
                  </a:ln>
                  <a:solidFill>
                    <a:srgbClr val="00156C"/>
                  </a:solidFill>
                  <a:effectLst/>
                  <a:uLnTx/>
                  <a:uFillTx/>
                  <a:latin typeface="+mn-ea"/>
                  <a:cs typeface="+mn-ea"/>
                </a:rPr>
                <a:t>分析</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grpSp>
        <p:nvGrpSpPr>
          <p:cNvPr id="6" name="组合 5"/>
          <p:cNvGrpSpPr/>
          <p:nvPr/>
        </p:nvGrpSpPr>
        <p:grpSpPr>
          <a:xfrm>
            <a:off x="5516245" y="2595880"/>
            <a:ext cx="6226810" cy="3476625"/>
            <a:chOff x="3120851" y="1767022"/>
            <a:chExt cx="8600729" cy="1420678"/>
          </a:xfrm>
        </p:grpSpPr>
        <p:cxnSp>
          <p:nvCxnSpPr>
            <p:cNvPr id="8" name="直接连接符 7"/>
            <p:cNvCxnSpPr/>
            <p:nvPr/>
          </p:nvCxnSpPr>
          <p:spPr>
            <a:xfrm>
              <a:off x="3120851" y="1767022"/>
              <a:ext cx="0" cy="1420678"/>
            </a:xfrm>
            <a:prstGeom prst="line">
              <a:avLst/>
            </a:prstGeom>
            <a:ln w="95250">
              <a:solidFill>
                <a:srgbClr val="0E419C"/>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3178001" y="1767022"/>
              <a:ext cx="8543579" cy="14206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endParaRPr lang="zh-CN" altLang="en-US" dirty="0"/>
            </a:p>
          </p:txBody>
        </p:sp>
      </p:grpSp>
      <p:sp>
        <p:nvSpPr>
          <p:cNvPr id="11" name="文本框 10"/>
          <p:cNvSpPr txBox="1"/>
          <p:nvPr/>
        </p:nvSpPr>
        <p:spPr>
          <a:xfrm>
            <a:off x="5730240" y="2768600"/>
            <a:ext cx="6153150" cy="2285365"/>
          </a:xfrm>
          <a:prstGeom prst="rect">
            <a:avLst/>
          </a:prstGeom>
          <a:noFill/>
        </p:spPr>
        <p:txBody>
          <a:bodyPr wrap="square" rtlCol="0">
            <a:noAutofit/>
          </a:bodyPr>
          <a:p>
            <a:pPr indent="0" algn="l">
              <a:lnSpc>
                <a:spcPct val="150000"/>
              </a:lnSpc>
              <a:buClr>
                <a:srgbClr val="122E66"/>
              </a:buClr>
              <a:buFont typeface="Arial" panose="020B0604020202020204" pitchFamily="34" charset="0"/>
              <a:buNone/>
            </a:pPr>
            <a:r>
              <a:rPr lang="zh-CN" altLang="en-US" sz="1600" dirty="0">
                <a:solidFill>
                  <a:schemeClr val="tx1"/>
                </a:solidFill>
                <a:latin typeface="思源黑体 CN Bold"/>
                <a:ea typeface="思源宋体 CN" panose="02020400000000000000" pitchFamily="18" charset="-122"/>
                <a:cs typeface="+mn-ea"/>
                <a:sym typeface="+mn-lt"/>
              </a:rPr>
              <a:t>为探究</a:t>
            </a:r>
            <a:r>
              <a:rPr lang="zh-CN" altLang="en-US" sz="1600" b="1" dirty="0">
                <a:solidFill>
                  <a:schemeClr val="accent1"/>
                </a:solidFill>
                <a:latin typeface="思源黑体 CN Bold"/>
                <a:ea typeface="思源宋体 CN" panose="02020400000000000000" pitchFamily="18" charset="-122"/>
                <a:cs typeface="+mn-ea"/>
                <a:sym typeface="+mn-lt"/>
              </a:rPr>
              <a:t>转速对输出压力变化规律的影响，</a:t>
            </a:r>
            <a:r>
              <a:rPr lang="zh-CN" altLang="en-US" sz="1600" dirty="0">
                <a:solidFill>
                  <a:schemeClr val="tx1"/>
                </a:solidFill>
                <a:latin typeface="思源黑体 CN Bold"/>
                <a:ea typeface="思源宋体 CN" panose="02020400000000000000" pitchFamily="18" charset="-122"/>
                <a:cs typeface="+mn-ea"/>
                <a:sym typeface="+mn-lt"/>
              </a:rPr>
              <a:t>分析了</a:t>
            </a:r>
            <a:r>
              <a:rPr lang="en-US" altLang="zh-CN" sz="1600" dirty="0">
                <a:solidFill>
                  <a:schemeClr val="tx1"/>
                </a:solidFill>
                <a:latin typeface="思源黑体 CN Bold"/>
                <a:ea typeface="思源宋体 CN" panose="02020400000000000000" pitchFamily="18" charset="-122"/>
                <a:cs typeface="+mn-ea"/>
                <a:sym typeface="+mn-lt"/>
              </a:rPr>
              <a:t>25MPa</a:t>
            </a:r>
            <a:r>
              <a:rPr lang="zh-CN" altLang="en-US" sz="1600" dirty="0">
                <a:solidFill>
                  <a:schemeClr val="tx1"/>
                </a:solidFill>
                <a:latin typeface="思源黑体 CN Bold"/>
                <a:ea typeface="思源宋体 CN" panose="02020400000000000000" pitchFamily="18" charset="-122"/>
                <a:cs typeface="+mn-ea"/>
                <a:sym typeface="+mn-lt"/>
              </a:rPr>
              <a:t>的负载下转速为</a:t>
            </a:r>
            <a:r>
              <a:rPr lang="en-US" altLang="zh-CN" sz="1600" dirty="0">
                <a:solidFill>
                  <a:schemeClr val="tx1"/>
                </a:solidFill>
                <a:latin typeface="思源黑体 CN Bold"/>
                <a:ea typeface="思源宋体 CN" panose="02020400000000000000" pitchFamily="18" charset="-122"/>
                <a:cs typeface="+mn-ea"/>
                <a:sym typeface="+mn-lt"/>
              </a:rPr>
              <a:t>10000r/min</a:t>
            </a:r>
            <a:r>
              <a:rPr lang="zh-CN" altLang="en-US" sz="1600" dirty="0">
                <a:solidFill>
                  <a:schemeClr val="tx1"/>
                </a:solidFill>
                <a:latin typeface="思源黑体 CN Bold"/>
                <a:ea typeface="思源宋体 CN" panose="02020400000000000000" pitchFamily="18" charset="-122"/>
                <a:cs typeface="+mn-ea"/>
                <a:sym typeface="+mn-lt"/>
              </a:rPr>
              <a:t>和</a:t>
            </a:r>
            <a:r>
              <a:rPr lang="en-US" altLang="zh-CN" sz="1600" dirty="0">
                <a:solidFill>
                  <a:schemeClr val="tx1"/>
                </a:solidFill>
                <a:latin typeface="思源黑体 CN Bold"/>
                <a:ea typeface="思源宋体 CN" panose="02020400000000000000" pitchFamily="18" charset="-122"/>
                <a:cs typeface="+mn-ea"/>
                <a:sym typeface="+mn-lt"/>
              </a:rPr>
              <a:t>5000r/min</a:t>
            </a:r>
            <a:r>
              <a:rPr lang="zh-CN" altLang="en-US" sz="1600" dirty="0">
                <a:solidFill>
                  <a:schemeClr val="tx1"/>
                </a:solidFill>
                <a:latin typeface="思源黑体 CN Bold"/>
                <a:ea typeface="思源宋体 CN" panose="02020400000000000000" pitchFamily="18" charset="-122"/>
                <a:cs typeface="+mn-ea"/>
                <a:sym typeface="+mn-lt"/>
              </a:rPr>
              <a:t>时泵输出压力的变化规律，分析结果如图所示。</a:t>
            </a:r>
            <a:endParaRPr lang="zh-CN" altLang="en-US" sz="1600"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b="1" dirty="0">
                <a:solidFill>
                  <a:schemeClr val="accent1"/>
                </a:solidFill>
                <a:latin typeface="思源黑体 CN Bold"/>
                <a:ea typeface="思源宋体 CN" panose="02020400000000000000" pitchFamily="18" charset="-122"/>
                <a:cs typeface="+mn-ea"/>
                <a:sym typeface="+mn-lt"/>
              </a:rPr>
              <a:t>在一个周期内，出口压力随着时间的推移在逐渐下降。</a:t>
            </a:r>
            <a:r>
              <a:rPr lang="en-US" altLang="zh-CN" sz="1600" b="1" dirty="0">
                <a:solidFill>
                  <a:schemeClr val="accent1"/>
                </a:solidFill>
                <a:latin typeface="思源黑体 CN Bold"/>
                <a:ea typeface="思源宋体 CN" panose="02020400000000000000" pitchFamily="18" charset="-122"/>
                <a:cs typeface="+mn-ea"/>
                <a:sym typeface="+mn-lt"/>
              </a:rPr>
              <a:t> </a:t>
            </a:r>
            <a:endParaRPr lang="en-US" altLang="zh-CN" sz="1600" b="1" dirty="0">
              <a:solidFill>
                <a:schemeClr val="accent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en-US" altLang="zh-CN" sz="1600" dirty="0">
                <a:solidFill>
                  <a:schemeClr val="tx1"/>
                </a:solidFill>
                <a:latin typeface="思源黑体 CN Bold"/>
                <a:ea typeface="思源宋体 CN" panose="02020400000000000000" pitchFamily="18" charset="-122"/>
                <a:cs typeface="+mn-ea"/>
                <a:sym typeface="+mn-lt"/>
              </a:rPr>
              <a:t>10000r/min</a:t>
            </a:r>
            <a:r>
              <a:rPr lang="zh-CN" altLang="en-US" sz="1600" dirty="0">
                <a:solidFill>
                  <a:schemeClr val="tx1"/>
                </a:solidFill>
                <a:latin typeface="思源黑体 CN Bold"/>
                <a:ea typeface="思源宋体 CN" panose="02020400000000000000" pitchFamily="18" charset="-122"/>
                <a:cs typeface="+mn-ea"/>
                <a:sym typeface="+mn-lt"/>
              </a:rPr>
              <a:t>时最高压力</a:t>
            </a:r>
            <a:r>
              <a:rPr lang="en-US" altLang="zh-CN" sz="1600" dirty="0">
                <a:solidFill>
                  <a:schemeClr val="tx1"/>
                </a:solidFill>
                <a:latin typeface="思源黑体 CN Bold"/>
                <a:ea typeface="思源宋体 CN" panose="02020400000000000000" pitchFamily="18" charset="-122"/>
                <a:cs typeface="+mn-ea"/>
                <a:sym typeface="+mn-lt"/>
              </a:rPr>
              <a:t>25MPa</a:t>
            </a:r>
            <a:r>
              <a:rPr lang="zh-CN" altLang="en-US" sz="1600" dirty="0">
                <a:solidFill>
                  <a:schemeClr val="tx1"/>
                </a:solidFill>
                <a:latin typeface="思源黑体 CN Bold"/>
                <a:ea typeface="思源宋体 CN" panose="02020400000000000000" pitchFamily="18" charset="-122"/>
                <a:cs typeface="+mn-ea"/>
                <a:sym typeface="+mn-lt"/>
              </a:rPr>
              <a:t>，最低压力</a:t>
            </a:r>
            <a:r>
              <a:rPr lang="en-US" altLang="zh-CN" sz="1600" dirty="0">
                <a:solidFill>
                  <a:schemeClr val="tx1"/>
                </a:solidFill>
                <a:latin typeface="思源黑体 CN Bold"/>
                <a:ea typeface="思源宋体 CN" panose="02020400000000000000" pitchFamily="18" charset="-122"/>
                <a:cs typeface="+mn-ea"/>
                <a:sym typeface="+mn-lt"/>
              </a:rPr>
              <a:t>23.8MPa</a:t>
            </a:r>
            <a:r>
              <a:rPr lang="zh-CN" altLang="en-US" sz="1600" dirty="0">
                <a:solidFill>
                  <a:schemeClr val="tx1"/>
                </a:solidFill>
                <a:latin typeface="思源黑体 CN Bold"/>
                <a:ea typeface="思源宋体 CN" panose="02020400000000000000" pitchFamily="18" charset="-122"/>
                <a:cs typeface="+mn-ea"/>
                <a:sym typeface="+mn-lt"/>
              </a:rPr>
              <a:t>。</a:t>
            </a:r>
            <a:endParaRPr lang="zh-CN" altLang="en-US" sz="1600"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en-US" altLang="zh-CN" sz="1600" dirty="0">
                <a:solidFill>
                  <a:schemeClr val="tx1"/>
                </a:solidFill>
                <a:latin typeface="思源黑体 CN Bold"/>
                <a:ea typeface="思源宋体 CN" panose="02020400000000000000" pitchFamily="18" charset="-122"/>
                <a:cs typeface="+mn-ea"/>
                <a:sym typeface="+mn-lt"/>
              </a:rPr>
              <a:t>5000r/min</a:t>
            </a:r>
            <a:r>
              <a:rPr lang="zh-CN" altLang="en-US" sz="1600" dirty="0">
                <a:solidFill>
                  <a:schemeClr val="tx1"/>
                </a:solidFill>
                <a:latin typeface="思源黑体 CN Bold"/>
                <a:ea typeface="思源宋体 CN" panose="02020400000000000000" pitchFamily="18" charset="-122"/>
                <a:cs typeface="+mn-ea"/>
                <a:sym typeface="+mn-lt"/>
              </a:rPr>
              <a:t>时，最高压力位</a:t>
            </a:r>
            <a:r>
              <a:rPr lang="en-US" altLang="zh-CN" sz="1600" dirty="0">
                <a:solidFill>
                  <a:schemeClr val="tx1"/>
                </a:solidFill>
                <a:latin typeface="思源黑体 CN Bold"/>
                <a:ea typeface="思源宋体 CN" panose="02020400000000000000" pitchFamily="18" charset="-122"/>
                <a:cs typeface="+mn-ea"/>
                <a:sym typeface="+mn-lt"/>
              </a:rPr>
              <a:t>25MPa</a:t>
            </a:r>
            <a:r>
              <a:rPr lang="zh-CN" altLang="en-US" sz="1600" dirty="0">
                <a:solidFill>
                  <a:schemeClr val="tx1"/>
                </a:solidFill>
                <a:latin typeface="思源黑体 CN Bold"/>
                <a:ea typeface="思源宋体 CN" panose="02020400000000000000" pitchFamily="18" charset="-122"/>
                <a:cs typeface="+mn-ea"/>
                <a:sym typeface="+mn-lt"/>
              </a:rPr>
              <a:t>，最低压力位</a:t>
            </a:r>
            <a:r>
              <a:rPr lang="en-US" altLang="zh-CN" sz="1600" dirty="0">
                <a:solidFill>
                  <a:schemeClr val="tx1"/>
                </a:solidFill>
                <a:latin typeface="思源黑体 CN Bold"/>
                <a:ea typeface="思源宋体 CN" panose="02020400000000000000" pitchFamily="18" charset="-122"/>
                <a:cs typeface="+mn-ea"/>
                <a:sym typeface="+mn-lt"/>
              </a:rPr>
              <a:t>22.4MPa</a:t>
            </a:r>
            <a:r>
              <a:rPr lang="zh-CN" altLang="en-US" sz="1600" dirty="0">
                <a:solidFill>
                  <a:schemeClr val="tx1"/>
                </a:solidFill>
                <a:latin typeface="思源黑体 CN Bold"/>
                <a:ea typeface="思源宋体 CN" panose="02020400000000000000" pitchFamily="18" charset="-122"/>
                <a:cs typeface="+mn-ea"/>
                <a:sym typeface="+mn-lt"/>
              </a:rPr>
              <a:t>。</a:t>
            </a:r>
            <a:endParaRPr lang="zh-CN" altLang="en-US" sz="1600"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b="1" dirty="0">
                <a:solidFill>
                  <a:schemeClr val="accent1"/>
                </a:solidFill>
                <a:latin typeface="思源黑体 CN Bold"/>
                <a:ea typeface="思源宋体 CN" panose="02020400000000000000" pitchFamily="18" charset="-122"/>
                <a:cs typeface="+mn-ea"/>
                <a:sym typeface="+mn-lt"/>
              </a:rPr>
              <a:t>随着转速的提高，当齿轮运动到相同位置时，</a:t>
            </a:r>
            <a:endParaRPr lang="zh-CN" altLang="en-US" sz="1600" b="1" dirty="0">
              <a:solidFill>
                <a:schemeClr val="accent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b="1" dirty="0">
                <a:solidFill>
                  <a:schemeClr val="accent1"/>
                </a:solidFill>
                <a:latin typeface="思源黑体 CN Bold"/>
                <a:ea typeface="思源宋体 CN" panose="02020400000000000000" pitchFamily="18" charset="-122"/>
                <a:cs typeface="+mn-ea"/>
                <a:sym typeface="+mn-lt"/>
              </a:rPr>
              <a:t>相对应的输出压力也更大。</a:t>
            </a:r>
            <a:endParaRPr lang="zh-CN" altLang="en-US" sz="1600" b="1" dirty="0">
              <a:solidFill>
                <a:schemeClr val="accent1"/>
              </a:solidFill>
              <a:latin typeface="思源黑体 CN Bold"/>
              <a:ea typeface="思源宋体 CN" panose="02020400000000000000" pitchFamily="18" charset="-122"/>
              <a:cs typeface="+mn-ea"/>
              <a:sym typeface="+mn-lt"/>
            </a:endParaRPr>
          </a:p>
        </p:txBody>
      </p:sp>
      <p:pic>
        <p:nvPicPr>
          <p:cNvPr id="2" name="图片 1"/>
          <p:cNvPicPr>
            <a:picLocks noChangeAspect="1"/>
          </p:cNvPicPr>
          <p:nvPr/>
        </p:nvPicPr>
        <p:blipFill>
          <a:blip r:embed="rId2"/>
          <a:stretch>
            <a:fillRect/>
          </a:stretch>
        </p:blipFill>
        <p:spPr>
          <a:xfrm>
            <a:off x="302895" y="1211580"/>
            <a:ext cx="5131435" cy="35655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分析结果：转速效应</a:t>
              </a:r>
              <a:r>
                <a:rPr kumimoji="0" lang="zh-CN" altLang="en-US" sz="2200" b="1" i="0" u="none" strike="noStrike" kern="1200" cap="none" spc="0" normalizeH="0" baseline="0" noProof="0" dirty="0">
                  <a:ln>
                    <a:noFill/>
                  </a:ln>
                  <a:solidFill>
                    <a:srgbClr val="00156C"/>
                  </a:solidFill>
                  <a:effectLst/>
                  <a:uLnTx/>
                  <a:uFillTx/>
                  <a:latin typeface="+mn-ea"/>
                  <a:cs typeface="+mn-ea"/>
                </a:rPr>
                <a:t>分析</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sp>
        <p:nvSpPr>
          <p:cNvPr id="11" name="文本框 10"/>
          <p:cNvSpPr txBox="1"/>
          <p:nvPr/>
        </p:nvSpPr>
        <p:spPr>
          <a:xfrm>
            <a:off x="708660" y="1305560"/>
            <a:ext cx="10411460" cy="4899025"/>
          </a:xfrm>
          <a:prstGeom prst="rect">
            <a:avLst/>
          </a:prstGeom>
          <a:noFill/>
        </p:spPr>
        <p:txBody>
          <a:bodyPr wrap="square" rtlCol="0">
            <a:noAutofit/>
          </a:bodyPr>
          <a:p>
            <a:pPr indent="0" algn="l">
              <a:lnSpc>
                <a:spcPct val="150000"/>
              </a:lnSpc>
              <a:buClr>
                <a:srgbClr val="122E66"/>
              </a:buClr>
              <a:buFont typeface="Arial" panose="020B0604020202020204" pitchFamily="34" charset="0"/>
              <a:buNone/>
            </a:pPr>
            <a:r>
              <a:rPr lang="zh-CN" altLang="en-US" sz="1600" b="1" dirty="0">
                <a:solidFill>
                  <a:schemeClr val="tx1"/>
                </a:solidFill>
                <a:latin typeface="思源黑体 CN Bold"/>
                <a:ea typeface="思源宋体 CN" panose="02020400000000000000" pitchFamily="18" charset="-122"/>
                <a:cs typeface="+mn-ea"/>
                <a:sym typeface="+mn-lt"/>
              </a:rPr>
              <a:t>将上述数据带入轴向力表达式，可以得到轴向力曲线。</a:t>
            </a: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dirty="0">
                <a:solidFill>
                  <a:schemeClr val="tx1"/>
                </a:solidFill>
                <a:latin typeface="思源黑体 CN Bold"/>
                <a:ea typeface="思源宋体 CN" panose="02020400000000000000" pitchFamily="18" charset="-122"/>
                <a:cs typeface="+mn-ea"/>
                <a:sym typeface="+mn-lt"/>
              </a:rPr>
              <a:t>在</a:t>
            </a:r>
            <a:r>
              <a:rPr lang="en-US" altLang="zh-CN" sz="1600" dirty="0">
                <a:solidFill>
                  <a:schemeClr val="tx1"/>
                </a:solidFill>
                <a:latin typeface="思源黑体 CN Bold"/>
                <a:ea typeface="思源宋体 CN" panose="02020400000000000000" pitchFamily="18" charset="-122"/>
                <a:cs typeface="+mn-ea"/>
                <a:sym typeface="+mn-lt"/>
              </a:rPr>
              <a:t>10000r/min</a:t>
            </a:r>
            <a:r>
              <a:rPr lang="zh-CN" altLang="en-US" sz="1600" dirty="0">
                <a:solidFill>
                  <a:schemeClr val="tx1"/>
                </a:solidFill>
                <a:latin typeface="思源黑体 CN Bold"/>
                <a:ea typeface="思源宋体 CN" panose="02020400000000000000" pitchFamily="18" charset="-122"/>
                <a:cs typeface="+mn-ea"/>
                <a:sym typeface="+mn-lt"/>
              </a:rPr>
              <a:t>的条件下，最大轴向力为</a:t>
            </a:r>
            <a:r>
              <a:rPr lang="en-US" altLang="zh-CN" sz="1600" dirty="0">
                <a:solidFill>
                  <a:schemeClr val="tx1"/>
                </a:solidFill>
                <a:latin typeface="思源黑体 CN Bold"/>
                <a:ea typeface="思源宋体 CN" panose="02020400000000000000" pitchFamily="18" charset="-122"/>
                <a:cs typeface="+mn-ea"/>
                <a:sym typeface="+mn-lt"/>
              </a:rPr>
              <a:t>615.3N</a:t>
            </a:r>
            <a:r>
              <a:rPr lang="zh-CN" altLang="en-US" sz="1600" dirty="0">
                <a:solidFill>
                  <a:schemeClr val="tx1"/>
                </a:solidFill>
                <a:latin typeface="思源黑体 CN Bold"/>
                <a:ea typeface="思源宋体 CN" panose="02020400000000000000" pitchFamily="18" charset="-122"/>
                <a:cs typeface="+mn-ea"/>
                <a:sym typeface="+mn-lt"/>
              </a:rPr>
              <a:t>，最小轴向力为</a:t>
            </a:r>
            <a:r>
              <a:rPr lang="en-US" altLang="zh-CN" sz="1600" dirty="0">
                <a:solidFill>
                  <a:schemeClr val="tx1"/>
                </a:solidFill>
                <a:latin typeface="思源黑体 CN Bold"/>
                <a:ea typeface="思源宋体 CN" panose="02020400000000000000" pitchFamily="18" charset="-122"/>
                <a:cs typeface="+mn-ea"/>
                <a:sym typeface="+mn-lt"/>
              </a:rPr>
              <a:t>609.5N</a:t>
            </a:r>
            <a:r>
              <a:rPr lang="zh-CN" altLang="en-US" sz="1600" dirty="0">
                <a:solidFill>
                  <a:schemeClr val="tx1"/>
                </a:solidFill>
                <a:latin typeface="思源黑体 CN Bold"/>
                <a:ea typeface="思源宋体 CN" panose="02020400000000000000" pitchFamily="18" charset="-122"/>
                <a:cs typeface="+mn-ea"/>
                <a:sym typeface="+mn-lt"/>
              </a:rPr>
              <a:t>；</a:t>
            </a:r>
            <a:endParaRPr lang="zh-CN" altLang="en-US" sz="1600"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dirty="0">
                <a:solidFill>
                  <a:schemeClr val="tx1"/>
                </a:solidFill>
                <a:latin typeface="思源黑体 CN Bold"/>
                <a:ea typeface="思源宋体 CN" panose="02020400000000000000" pitchFamily="18" charset="-122"/>
                <a:cs typeface="+mn-ea"/>
                <a:sym typeface="+mn-lt"/>
              </a:rPr>
              <a:t>在</a:t>
            </a:r>
            <a:r>
              <a:rPr lang="en-US" altLang="zh-CN" sz="1600" dirty="0">
                <a:solidFill>
                  <a:schemeClr val="tx1"/>
                </a:solidFill>
                <a:latin typeface="思源黑体 CN Bold"/>
                <a:ea typeface="思源宋体 CN" panose="02020400000000000000" pitchFamily="18" charset="-122"/>
                <a:cs typeface="+mn-ea"/>
                <a:sym typeface="+mn-lt"/>
              </a:rPr>
              <a:t>5000r/min</a:t>
            </a:r>
            <a:r>
              <a:rPr lang="zh-CN" altLang="en-US" sz="1600" dirty="0">
                <a:solidFill>
                  <a:schemeClr val="tx1"/>
                </a:solidFill>
                <a:latin typeface="思源黑体 CN Bold"/>
                <a:ea typeface="思源宋体 CN" panose="02020400000000000000" pitchFamily="18" charset="-122"/>
                <a:cs typeface="+mn-ea"/>
                <a:sym typeface="+mn-lt"/>
              </a:rPr>
              <a:t>的条件下，最大轴向力为</a:t>
            </a:r>
            <a:r>
              <a:rPr lang="en-US" altLang="zh-CN" sz="1600" dirty="0">
                <a:solidFill>
                  <a:schemeClr val="tx1"/>
                </a:solidFill>
                <a:latin typeface="思源黑体 CN Bold"/>
                <a:ea typeface="思源宋体 CN" panose="02020400000000000000" pitchFamily="18" charset="-122"/>
                <a:cs typeface="+mn-ea"/>
                <a:sym typeface="+mn-lt"/>
              </a:rPr>
              <a:t>613.6N</a:t>
            </a:r>
            <a:r>
              <a:rPr lang="zh-CN" altLang="en-US" sz="1600" dirty="0">
                <a:solidFill>
                  <a:schemeClr val="tx1"/>
                </a:solidFill>
                <a:latin typeface="思源黑体 CN Bold"/>
                <a:ea typeface="思源宋体 CN" panose="02020400000000000000" pitchFamily="18" charset="-122"/>
                <a:cs typeface="+mn-ea"/>
                <a:sym typeface="+mn-lt"/>
              </a:rPr>
              <a:t>，最小轴向力为</a:t>
            </a:r>
            <a:r>
              <a:rPr lang="en-US" altLang="zh-CN" sz="1600" dirty="0">
                <a:solidFill>
                  <a:schemeClr val="tx1"/>
                </a:solidFill>
                <a:latin typeface="思源黑体 CN Bold"/>
                <a:ea typeface="思源宋体 CN" panose="02020400000000000000" pitchFamily="18" charset="-122"/>
                <a:cs typeface="+mn-ea"/>
                <a:sym typeface="+mn-lt"/>
              </a:rPr>
              <a:t>602.5N</a:t>
            </a:r>
            <a:r>
              <a:rPr lang="zh-CN" altLang="en-US" sz="1600" dirty="0">
                <a:solidFill>
                  <a:schemeClr val="tx1"/>
                </a:solidFill>
                <a:latin typeface="思源黑体 CN Bold"/>
                <a:ea typeface="思源宋体 CN" panose="02020400000000000000" pitchFamily="18" charset="-122"/>
                <a:cs typeface="+mn-ea"/>
                <a:sym typeface="+mn-lt"/>
              </a:rPr>
              <a:t>，没有太大的变化，整体呈现下降的趋势。</a:t>
            </a:r>
            <a:endParaRPr lang="zh-CN" altLang="en-US" sz="1600"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dirty="0">
                <a:solidFill>
                  <a:schemeClr val="tx1"/>
                </a:solidFill>
                <a:latin typeface="思源黑体 CN Bold"/>
                <a:ea typeface="思源宋体 CN" panose="02020400000000000000" pitchFamily="18" charset="-122"/>
                <a:cs typeface="+mn-ea"/>
                <a:sym typeface="+mn-lt"/>
              </a:rPr>
              <a:t>原因是轴向力和输出压力有着直接的联系，输出压力减小</a:t>
            </a:r>
            <a:r>
              <a:rPr lang="zh-CN" altLang="en-US" sz="1600" dirty="0">
                <a:solidFill>
                  <a:schemeClr val="tx1"/>
                </a:solidFill>
                <a:latin typeface="思源黑体 CN Bold"/>
                <a:ea typeface="思源宋体 CN" panose="02020400000000000000" pitchFamily="18" charset="-122"/>
                <a:cs typeface="+mn-ea"/>
                <a:sym typeface="+mn-lt"/>
              </a:rPr>
              <a:t>导致轴向力的减小。</a:t>
            </a:r>
            <a:endParaRPr lang="zh-CN" altLang="en-US" sz="1600" dirty="0">
              <a:solidFill>
                <a:schemeClr val="tx1"/>
              </a:solidFill>
              <a:latin typeface="思源黑体 CN Bold"/>
              <a:ea typeface="思源宋体 CN" panose="02020400000000000000" pitchFamily="18" charset="-122"/>
              <a:cs typeface="+mn-ea"/>
              <a:sym typeface="+mn-lt"/>
            </a:endParaRPr>
          </a:p>
        </p:txBody>
      </p:sp>
      <p:pic>
        <p:nvPicPr>
          <p:cNvPr id="2" name="图片 1"/>
          <p:cNvPicPr>
            <a:picLocks noChangeAspect="1"/>
          </p:cNvPicPr>
          <p:nvPr/>
        </p:nvPicPr>
        <p:blipFill>
          <a:blip r:embed="rId2"/>
          <a:stretch>
            <a:fillRect/>
          </a:stretch>
        </p:blipFill>
        <p:spPr>
          <a:xfrm>
            <a:off x="553720" y="1841500"/>
            <a:ext cx="5237480" cy="3174365"/>
          </a:xfrm>
          <a:prstGeom prst="rect">
            <a:avLst/>
          </a:prstGeom>
        </p:spPr>
      </p:pic>
      <p:pic>
        <p:nvPicPr>
          <p:cNvPr id="3" name="图片 2"/>
          <p:cNvPicPr>
            <a:picLocks noChangeAspect="1"/>
          </p:cNvPicPr>
          <p:nvPr/>
        </p:nvPicPr>
        <p:blipFill>
          <a:blip r:embed="rId3"/>
          <a:stretch>
            <a:fillRect/>
          </a:stretch>
        </p:blipFill>
        <p:spPr>
          <a:xfrm>
            <a:off x="6267450" y="1759585"/>
            <a:ext cx="5353050" cy="32562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w="474"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dirty="0">
              <a:ln>
                <a:noFill/>
              </a:ln>
              <a:solidFill>
                <a:srgbClr val="0070C0"/>
              </a:solidFill>
              <a:effectLst/>
              <a:uLnTx/>
              <a:uFillTx/>
              <a:latin typeface="Arial" panose="020B0604020202020204"/>
              <a:cs typeface="+mn-ea"/>
            </a:endParaRPr>
          </a:p>
        </p:txBody>
      </p:sp>
      <p:grpSp>
        <p:nvGrpSpPr>
          <p:cNvPr id="7" name="组合 6"/>
          <p:cNvGrpSpPr/>
          <p:nvPr/>
        </p:nvGrpSpPr>
        <p:grpSpPr>
          <a:xfrm>
            <a:off x="707718" y="813975"/>
            <a:ext cx="5521960" cy="429895"/>
            <a:chOff x="707718" y="813975"/>
            <a:chExt cx="5521960" cy="429895"/>
          </a:xfrm>
        </p:grpSpPr>
        <p:cxnSp>
          <p:nvCxnSpPr>
            <p:cNvPr id="29" name="直接连接符 28"/>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841703" y="813975"/>
              <a:ext cx="5387975"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0" normalizeH="0" baseline="0" noProof="0" dirty="0">
                  <a:ln>
                    <a:noFill/>
                  </a:ln>
                  <a:solidFill>
                    <a:srgbClr val="00156C"/>
                  </a:solidFill>
                  <a:effectLst/>
                  <a:uLnTx/>
                  <a:uFillTx/>
                  <a:latin typeface="+mn-ea"/>
                  <a:cs typeface="+mn-ea"/>
                </a:rPr>
                <a:t>分析结果：负载效应分析</a:t>
              </a:r>
              <a:endParaRPr kumimoji="0" lang="zh-CN" altLang="en-US" sz="2200" b="1" i="0" u="none" strike="noStrike" kern="1200" cap="none" spc="0" normalizeH="0" baseline="0" noProof="0" dirty="0">
                <a:ln>
                  <a:noFill/>
                </a:ln>
                <a:solidFill>
                  <a:srgbClr val="00156C"/>
                </a:solidFill>
                <a:effectLst/>
                <a:uLnTx/>
                <a:uFillTx/>
                <a:latin typeface="+mn-ea"/>
                <a:cs typeface="+mn-ea"/>
              </a:endParaRPr>
            </a:p>
          </p:txBody>
        </p:sp>
      </p:grpSp>
      <p:pic>
        <p:nvPicPr>
          <p:cNvPr id="28" name="图片 2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842257" y="478990"/>
            <a:ext cx="912968" cy="916555"/>
          </a:xfrm>
          <a:prstGeom prst="rect">
            <a:avLst/>
          </a:prstGeom>
        </p:spPr>
      </p:pic>
      <p:grpSp>
        <p:nvGrpSpPr>
          <p:cNvPr id="13" name="组合 12"/>
          <p:cNvGrpSpPr/>
          <p:nvPr/>
        </p:nvGrpSpPr>
        <p:grpSpPr>
          <a:xfrm>
            <a:off x="420718" y="6360064"/>
            <a:ext cx="8704580" cy="383004"/>
            <a:chOff x="420718" y="6406419"/>
            <a:chExt cx="8704580" cy="383004"/>
          </a:xfrm>
        </p:grpSpPr>
        <p:sp>
          <p:nvSpPr>
            <p:cNvPr id="14" name="箭头: 五边形 19"/>
            <p:cNvSpPr/>
            <p:nvPr/>
          </p:nvSpPr>
          <p:spPr>
            <a:xfrm>
              <a:off x="6228428" y="6406419"/>
              <a:ext cx="2822575" cy="367665"/>
            </a:xfrm>
            <a:prstGeom prst="homePlate">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5" name="组合 14"/>
            <p:cNvGrpSpPr/>
            <p:nvPr/>
          </p:nvGrpSpPr>
          <p:grpSpPr>
            <a:xfrm>
              <a:off x="420718" y="6436899"/>
              <a:ext cx="8704580" cy="352524"/>
              <a:chOff x="3634581" y="324950"/>
              <a:chExt cx="8704580" cy="352524"/>
            </a:xfrm>
          </p:grpSpPr>
          <p:sp>
            <p:nvSpPr>
              <p:cNvPr id="16" name="文本框 15"/>
              <p:cNvSpPr txBox="1"/>
              <p:nvPr/>
            </p:nvSpPr>
            <p:spPr>
              <a:xfrm>
                <a:off x="9442291" y="324950"/>
                <a:ext cx="2896870" cy="337185"/>
              </a:xfrm>
              <a:prstGeom prst="rect">
                <a:avLst/>
              </a:prstGeom>
              <a:noFill/>
            </p:spPr>
            <p:txBody>
              <a:bodyPr wrap="square" rtlCol="0">
                <a:spAutoFit/>
              </a:bodyPr>
              <a:lstStyle/>
              <a:p>
                <a:pPr algn="l"/>
                <a:r>
                  <a:rPr lang="zh-CN" altLang="en-US" sz="1600" b="1" dirty="0">
                    <a:solidFill>
                      <a:schemeClr val="bg1"/>
                    </a:solidFill>
                    <a:latin typeface="+mn-ea"/>
                    <a:cs typeface="+mn-ea"/>
                    <a:sym typeface="+mn-ea"/>
                  </a:rPr>
                  <a:t>轴向力与输出压力变化规律</a:t>
                </a:r>
                <a:endParaRPr lang="zh-CN" altLang="en-US" sz="1600" b="1" dirty="0">
                  <a:solidFill>
                    <a:schemeClr val="bg1">
                      <a:lumMod val="65000"/>
                    </a:schemeClr>
                  </a:solidFill>
                  <a:latin typeface="+mn-ea"/>
                  <a:cs typeface="+mn-ea"/>
                </a:endParaRPr>
              </a:p>
            </p:txBody>
          </p:sp>
          <p:sp>
            <p:nvSpPr>
              <p:cNvPr id="17" name="文本框 16"/>
              <p:cNvSpPr txBox="1"/>
              <p:nvPr/>
            </p:nvSpPr>
            <p:spPr>
              <a:xfrm>
                <a:off x="3634581" y="338920"/>
                <a:ext cx="1148080" cy="337185"/>
              </a:xfrm>
              <a:prstGeom prst="rect">
                <a:avLst/>
              </a:prstGeom>
              <a:noFill/>
            </p:spPr>
            <p:txBody>
              <a:bodyPr wrap="none" rtlCol="0">
                <a:spAutoFit/>
              </a:bodyPr>
              <a:lstStyle/>
              <a:p>
                <a:r>
                  <a:rPr lang="zh-CN" altLang="en-US" sz="1600" spc="300" dirty="0">
                    <a:latin typeface="+mn-ea"/>
                    <a:cs typeface="+mn-ea"/>
                  </a:rPr>
                  <a:t>设计任务</a:t>
                </a:r>
                <a:endParaRPr lang="zh-CN" altLang="en-US" sz="1600" spc="300" dirty="0">
                  <a:latin typeface="+mn-ea"/>
                  <a:cs typeface="+mn-ea"/>
                </a:endParaRPr>
              </a:p>
            </p:txBody>
          </p:sp>
          <p:cxnSp>
            <p:nvCxnSpPr>
              <p:cNvPr id="19" name="直接连接符 18"/>
              <p:cNvCxnSpPr/>
              <p:nvPr/>
            </p:nvCxnSpPr>
            <p:spPr>
              <a:xfrm>
                <a:off x="6450309"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822330" y="37576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9207953" y="360529"/>
                <a:ext cx="0" cy="301705"/>
              </a:xfrm>
              <a:prstGeom prst="line">
                <a:avLst/>
              </a:prstGeom>
              <a:ln w="3175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grpSp>
        <p:sp>
          <p:nvSpPr>
            <p:cNvPr id="26" name="文本框 9"/>
            <p:cNvSpPr txBox="1"/>
            <p:nvPr/>
          </p:nvSpPr>
          <p:spPr>
            <a:xfrm>
              <a:off x="3519518" y="6436899"/>
              <a:ext cx="2425700"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buClrTx/>
                <a:buSzTx/>
                <a:buFontTx/>
              </a:pPr>
              <a:r>
                <a:rPr lang="zh-CN" altLang="en-US" sz="1600" spc="300" dirty="0">
                  <a:latin typeface="+mn-ea"/>
                  <a:cs typeface="+mn-ea"/>
                  <a:sym typeface="+mn-ea"/>
                </a:rPr>
                <a:t>齿形及齿轮参数设计</a:t>
              </a:r>
              <a:endParaRPr lang="zh-CN" altLang="en-US" sz="1600" spc="300" dirty="0">
                <a:latin typeface="+mn-ea"/>
                <a:cs typeface="+mn-ea"/>
              </a:endParaRPr>
            </a:p>
          </p:txBody>
        </p:sp>
        <p:sp>
          <p:nvSpPr>
            <p:cNvPr id="27" name="文本框 38"/>
            <p:cNvSpPr txBox="1"/>
            <p:nvPr/>
          </p:nvSpPr>
          <p:spPr>
            <a:xfrm>
              <a:off x="1902578" y="6450867"/>
              <a:ext cx="1000760" cy="337185"/>
            </a:xfrm>
            <a:prstGeom prst="rect">
              <a:avLst/>
            </a:prstGeom>
            <a:noFill/>
          </p:spPr>
          <p:txBody>
            <a:bodyPr wrap="none" rtlCol="0">
              <a:spAutoFit/>
            </a:bodyPr>
            <a:lstStyle/>
            <a:p>
              <a:pPr lvl="0" algn="l">
                <a:buClrTx/>
                <a:buSzTx/>
                <a:buFontTx/>
              </a:pPr>
              <a:r>
                <a:rPr lang="zh-CN" altLang="en-US" sz="1600" spc="300" dirty="0">
                  <a:latin typeface="+mn-ea"/>
                  <a:cs typeface="+mn-ea"/>
                  <a:sym typeface="+mn-ea"/>
                </a:rPr>
                <a:t>研究</a:t>
              </a:r>
              <a:r>
                <a:rPr lang="zh-CN" altLang="en-US" sz="1600" spc="300" dirty="0">
                  <a:latin typeface="+mn-ea"/>
                  <a:cs typeface="+mn-ea"/>
                  <a:sym typeface="+mn-ea"/>
                </a:rPr>
                <a:t>现状</a:t>
              </a:r>
              <a:endParaRPr lang="zh-CN" altLang="en-US" sz="1600" spc="300" dirty="0">
                <a:latin typeface="+mn-ea"/>
                <a:cs typeface="+mn-ea"/>
                <a:sym typeface="+mn-ea"/>
              </a:endParaRPr>
            </a:p>
          </p:txBody>
        </p:sp>
      </p:grpSp>
      <p:sp>
        <p:nvSpPr>
          <p:cNvPr id="11" name="文本框 10"/>
          <p:cNvSpPr txBox="1"/>
          <p:nvPr/>
        </p:nvSpPr>
        <p:spPr>
          <a:xfrm>
            <a:off x="523875" y="1305560"/>
            <a:ext cx="5113655" cy="4899025"/>
          </a:xfrm>
          <a:prstGeom prst="rect">
            <a:avLst/>
          </a:prstGeom>
          <a:noFill/>
        </p:spPr>
        <p:txBody>
          <a:bodyPr wrap="square" rtlCol="0">
            <a:noAutofit/>
          </a:bodyPr>
          <a:p>
            <a:pPr indent="0" algn="l">
              <a:lnSpc>
                <a:spcPct val="150000"/>
              </a:lnSpc>
              <a:buClr>
                <a:srgbClr val="122E66"/>
              </a:buClr>
              <a:buFont typeface="Arial" panose="020B0604020202020204" pitchFamily="34" charset="0"/>
              <a:buNone/>
            </a:pPr>
            <a:r>
              <a:rPr lang="zh-CN" altLang="en-US" sz="1600" b="1" dirty="0">
                <a:solidFill>
                  <a:schemeClr val="tx1"/>
                </a:solidFill>
                <a:latin typeface="思源黑体 CN Bold"/>
                <a:ea typeface="思源宋体 CN" panose="02020400000000000000" pitchFamily="18" charset="-122"/>
                <a:cs typeface="+mn-ea"/>
                <a:sym typeface="+mn-lt"/>
              </a:rPr>
              <a:t>固定转速</a:t>
            </a:r>
            <a:r>
              <a:rPr lang="en-US" altLang="zh-CN" sz="1600" b="1" dirty="0">
                <a:solidFill>
                  <a:schemeClr val="tx1"/>
                </a:solidFill>
                <a:latin typeface="思源黑体 CN Bold"/>
                <a:ea typeface="思源宋体 CN" panose="02020400000000000000" pitchFamily="18" charset="-122"/>
                <a:cs typeface="+mn-ea"/>
                <a:sym typeface="+mn-lt"/>
              </a:rPr>
              <a:t>10000r/min</a:t>
            </a:r>
            <a:r>
              <a:rPr lang="zh-CN" altLang="en-US" sz="1600" b="1" dirty="0">
                <a:solidFill>
                  <a:schemeClr val="tx1"/>
                </a:solidFill>
                <a:latin typeface="思源黑体 CN Bold"/>
                <a:ea typeface="思源宋体 CN" panose="02020400000000000000" pitchFamily="18" charset="-122"/>
                <a:cs typeface="+mn-ea"/>
                <a:sym typeface="+mn-lt"/>
              </a:rPr>
              <a:t>下，测试</a:t>
            </a:r>
            <a:r>
              <a:rPr lang="en-US" altLang="zh-CN" sz="1600" b="1" dirty="0">
                <a:solidFill>
                  <a:schemeClr val="tx1"/>
                </a:solidFill>
                <a:latin typeface="思源黑体 CN Bold"/>
                <a:ea typeface="思源宋体 CN" panose="02020400000000000000" pitchFamily="18" charset="-122"/>
                <a:cs typeface="+mn-ea"/>
                <a:sym typeface="+mn-lt"/>
              </a:rPr>
              <a:t>20/25/30MPa</a:t>
            </a:r>
            <a:r>
              <a:rPr lang="zh-CN" altLang="en-US" sz="1600" b="1" dirty="0">
                <a:solidFill>
                  <a:schemeClr val="tx1"/>
                </a:solidFill>
                <a:latin typeface="思源黑体 CN Bold"/>
                <a:ea typeface="思源宋体 CN" panose="02020400000000000000" pitchFamily="18" charset="-122"/>
                <a:cs typeface="+mn-ea"/>
                <a:sym typeface="+mn-lt"/>
              </a:rPr>
              <a:t>三级负载。</a:t>
            </a: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b="1" dirty="0">
                <a:solidFill>
                  <a:schemeClr val="tx1"/>
                </a:solidFill>
                <a:latin typeface="思源黑体 CN Bold"/>
                <a:ea typeface="思源宋体 CN" panose="02020400000000000000" pitchFamily="18" charset="-122"/>
                <a:cs typeface="+mn-ea"/>
                <a:sym typeface="+mn-lt"/>
              </a:rPr>
              <a:t>通过改变出口压力值实现负载调值，得到的仿真结果</a:t>
            </a: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600" b="1" dirty="0">
                <a:solidFill>
                  <a:schemeClr val="tx1"/>
                </a:solidFill>
                <a:latin typeface="思源黑体 CN Bold"/>
                <a:ea typeface="思源宋体 CN" panose="02020400000000000000" pitchFamily="18" charset="-122"/>
                <a:cs typeface="+mn-ea"/>
                <a:sym typeface="+mn-lt"/>
              </a:rPr>
              <a:t>如下图：</a:t>
            </a: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dirty="0">
              <a:solidFill>
                <a:schemeClr val="tx1"/>
              </a:solidFill>
              <a:latin typeface="思源黑体 CN Bold"/>
              <a:ea typeface="思源宋体 CN" panose="02020400000000000000" pitchFamily="18" charset="-122"/>
              <a:cs typeface="+mn-ea"/>
              <a:sym typeface="+mn-lt"/>
            </a:endParaRPr>
          </a:p>
        </p:txBody>
      </p:sp>
      <p:pic>
        <p:nvPicPr>
          <p:cNvPr id="6" name="图片 5"/>
          <p:cNvPicPr>
            <a:picLocks noChangeAspect="1"/>
          </p:cNvPicPr>
          <p:nvPr/>
        </p:nvPicPr>
        <p:blipFill>
          <a:blip r:embed="rId2"/>
          <a:stretch>
            <a:fillRect/>
          </a:stretch>
        </p:blipFill>
        <p:spPr>
          <a:xfrm>
            <a:off x="299720" y="2548890"/>
            <a:ext cx="5338445" cy="2959735"/>
          </a:xfrm>
          <a:prstGeom prst="rect">
            <a:avLst/>
          </a:prstGeom>
        </p:spPr>
      </p:pic>
      <p:sp>
        <p:nvSpPr>
          <p:cNvPr id="8" name="文本框 7"/>
          <p:cNvSpPr txBox="1"/>
          <p:nvPr/>
        </p:nvSpPr>
        <p:spPr>
          <a:xfrm>
            <a:off x="5815330" y="1120140"/>
            <a:ext cx="5546090" cy="5240655"/>
          </a:xfrm>
          <a:prstGeom prst="rect">
            <a:avLst/>
          </a:prstGeom>
          <a:noFill/>
        </p:spPr>
        <p:txBody>
          <a:bodyPr wrap="square" rtlCol="0">
            <a:noAutofit/>
          </a:bodyPr>
          <a:p>
            <a:pPr indent="0" algn="l">
              <a:lnSpc>
                <a:spcPct val="150000"/>
              </a:lnSpc>
              <a:buClr>
                <a:srgbClr val="122E66"/>
              </a:buClr>
              <a:buFont typeface="Arial" panose="020B0604020202020204" pitchFamily="34" charset="0"/>
              <a:buNone/>
            </a:pPr>
            <a:r>
              <a:rPr lang="zh-CN" altLang="en-US" sz="1400" b="1" dirty="0">
                <a:solidFill>
                  <a:schemeClr val="tx1"/>
                </a:solidFill>
                <a:latin typeface="思源黑体 CN Bold"/>
                <a:ea typeface="思源宋体 CN" panose="02020400000000000000" pitchFamily="18" charset="-122"/>
                <a:cs typeface="+mn-ea"/>
                <a:sym typeface="+mn-lt"/>
              </a:rPr>
              <a:t>一个周期内，负载呈现周期性脉动，且脉动率几乎保持不变：</a:t>
            </a: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4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400" b="1" dirty="0">
                <a:solidFill>
                  <a:schemeClr val="tx1"/>
                </a:solidFill>
                <a:latin typeface="思源黑体 CN Bold"/>
                <a:ea typeface="思源宋体 CN" panose="02020400000000000000" pitchFamily="18" charset="-122"/>
                <a:cs typeface="+mn-ea"/>
                <a:sym typeface="+mn-lt"/>
              </a:rPr>
              <a:t>由</a:t>
            </a:r>
            <a:r>
              <a:rPr lang="en-US" altLang="zh-CN" sz="1400" b="1" dirty="0">
                <a:solidFill>
                  <a:schemeClr val="tx1"/>
                </a:solidFill>
                <a:latin typeface="思源黑体 CN Bold"/>
                <a:ea typeface="思源宋体 CN" panose="02020400000000000000" pitchFamily="18" charset="-122"/>
                <a:cs typeface="+mn-ea"/>
                <a:sym typeface="+mn-lt"/>
              </a:rPr>
              <a:t>“20MPa”</a:t>
            </a:r>
            <a:r>
              <a:rPr lang="zh-CN" altLang="en-US" sz="1400" b="1" dirty="0">
                <a:solidFill>
                  <a:schemeClr val="tx1"/>
                </a:solidFill>
                <a:latin typeface="思源黑体 CN Bold"/>
                <a:ea typeface="思源宋体 CN" panose="02020400000000000000" pitchFamily="18" charset="-122"/>
                <a:cs typeface="+mn-ea"/>
                <a:sym typeface="+mn-lt"/>
              </a:rPr>
              <a:t>变化线可以明显看出后期脉动幅度是明显降低了的。重新计算稳定后的脉动值：</a:t>
            </a:r>
            <a:endParaRPr lang="zh-CN" altLang="en-US" sz="14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4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4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4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4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4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r>
              <a:rPr lang="zh-CN" altLang="en-US" sz="1400" b="1" dirty="0">
                <a:solidFill>
                  <a:schemeClr val="accent1"/>
                </a:solidFill>
                <a:effectLst>
                  <a:outerShdw blurRad="38100" dist="25400" dir="5400000" algn="ctr" rotWithShape="0">
                    <a:srgbClr val="6E747A">
                      <a:alpha val="43000"/>
                    </a:srgbClr>
                  </a:outerShdw>
                </a:effectLst>
                <a:latin typeface="思源黑体 CN Bold"/>
                <a:ea typeface="思源宋体 CN" panose="02020400000000000000" pitchFamily="18" charset="-122"/>
                <a:cs typeface="+mn-ea"/>
                <a:sym typeface="+mn-lt"/>
              </a:rPr>
              <a:t>结论：随着齿轮液压泵外部负载的增加，在一个工作周期内，齿轮液压泵的压力变化幅度将会有所增加。</a:t>
            </a:r>
            <a:endParaRPr lang="zh-CN" altLang="en-US" sz="1400" b="1" dirty="0">
              <a:solidFill>
                <a:schemeClr val="accent1"/>
              </a:solidFill>
              <a:effectLst>
                <a:outerShdw blurRad="38100" dist="25400" dir="5400000" algn="ctr" rotWithShape="0">
                  <a:srgbClr val="6E747A">
                    <a:alpha val="43000"/>
                  </a:srgbClr>
                </a:outerShdw>
              </a:effectLst>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b="1" dirty="0">
              <a:solidFill>
                <a:schemeClr val="tx1"/>
              </a:solidFill>
              <a:latin typeface="思源黑体 CN Bold"/>
              <a:ea typeface="思源宋体 CN" panose="02020400000000000000" pitchFamily="18" charset="-122"/>
              <a:cs typeface="+mn-ea"/>
              <a:sym typeface="+mn-lt"/>
            </a:endParaRPr>
          </a:p>
          <a:p>
            <a:pPr indent="0" algn="l">
              <a:lnSpc>
                <a:spcPct val="150000"/>
              </a:lnSpc>
              <a:buClr>
                <a:srgbClr val="122E66"/>
              </a:buClr>
              <a:buFont typeface="Arial" panose="020B0604020202020204" pitchFamily="34" charset="0"/>
              <a:buNone/>
            </a:pPr>
            <a:endParaRPr lang="zh-CN" altLang="en-US" sz="1600" dirty="0">
              <a:solidFill>
                <a:schemeClr val="tx1"/>
              </a:solidFill>
              <a:latin typeface="思源黑体 CN Bold"/>
              <a:ea typeface="思源宋体 CN" panose="02020400000000000000" pitchFamily="18" charset="-122"/>
              <a:cs typeface="+mn-ea"/>
              <a:sym typeface="+mn-lt"/>
            </a:endParaRPr>
          </a:p>
        </p:txBody>
      </p:sp>
      <p:graphicFrame>
        <p:nvGraphicFramePr>
          <p:cNvPr id="10" name="表格 9"/>
          <p:cNvGraphicFramePr/>
          <p:nvPr>
            <p:custDataLst>
              <p:tags r:id="rId3"/>
            </p:custDataLst>
          </p:nvPr>
        </p:nvGraphicFramePr>
        <p:xfrm>
          <a:off x="5994400" y="1630680"/>
          <a:ext cx="5330825" cy="1485900"/>
        </p:xfrm>
        <a:graphic>
          <a:graphicData uri="http://schemas.openxmlformats.org/drawingml/2006/table">
            <a:tbl>
              <a:tblPr firstRow="1" bandCol="1">
                <a:tableStyleId>{4A7ED4E7-D593-4A44-9A60-F2109990C815}</a:tableStyleId>
              </a:tblPr>
              <a:tblGrid>
                <a:gridCol w="1364615"/>
                <a:gridCol w="1363980"/>
                <a:gridCol w="1363980"/>
                <a:gridCol w="1238250"/>
              </a:tblGrid>
              <a:tr h="371475">
                <a:tc>
                  <a:txBody>
                    <a:bodyPr/>
                    <a:p>
                      <a:pPr marL="0" indent="0" algn="ctr">
                        <a:spcBef>
                          <a:spcPct val="0"/>
                        </a:spcBef>
                        <a:spcAft>
                          <a:spcPct val="0"/>
                        </a:spcAft>
                      </a:pPr>
                      <a:r>
                        <a:rPr lang="zh-CN" sz="1100"/>
                        <a:t>负载值</a:t>
                      </a:r>
                      <a:r>
                        <a:rPr lang="en-US" altLang="zh-CN" sz="1100"/>
                        <a:t>(MPa)</a:t>
                      </a:r>
                      <a:endParaRPr lang="en-US" altLang="zh-CN" sz="1100"/>
                    </a:p>
                  </a:txBody>
                  <a:tcPr marL="68580" marR="68580" marT="0" marB="0" anchor="ctr" anchorCtr="0"/>
                </a:tc>
                <a:tc>
                  <a:txBody>
                    <a:bodyPr/>
                    <a:p>
                      <a:pPr marL="0" indent="0" algn="ctr">
                        <a:spcBef>
                          <a:spcPct val="0"/>
                        </a:spcBef>
                        <a:spcAft>
                          <a:spcPct val="0"/>
                        </a:spcAft>
                      </a:pPr>
                      <a:r>
                        <a:rPr lang="zh-CN" sz="1100"/>
                        <a:t>最大值</a:t>
                      </a:r>
                      <a:r>
                        <a:rPr lang="en-US" altLang="zh-CN" sz="1100"/>
                        <a:t>(MPa)</a:t>
                      </a:r>
                      <a:endParaRPr lang="en-US" altLang="zh-CN" sz="1100"/>
                    </a:p>
                  </a:txBody>
                  <a:tcPr marL="68580" marR="68580" marT="0" marB="0" anchor="ctr" anchorCtr="0"/>
                </a:tc>
                <a:tc>
                  <a:txBody>
                    <a:bodyPr/>
                    <a:p>
                      <a:pPr marL="0" indent="0" algn="ctr">
                        <a:spcBef>
                          <a:spcPct val="0"/>
                        </a:spcBef>
                        <a:spcAft>
                          <a:spcPct val="0"/>
                        </a:spcAft>
                      </a:pPr>
                      <a:r>
                        <a:rPr lang="zh-CN" sz="1100"/>
                        <a:t>最小值</a:t>
                      </a:r>
                      <a:r>
                        <a:rPr lang="en-US" altLang="zh-CN" sz="1100"/>
                        <a:t>(MPa)</a:t>
                      </a:r>
                      <a:endParaRPr lang="en-US" altLang="zh-CN" sz="1100"/>
                    </a:p>
                  </a:txBody>
                  <a:tcPr marL="68580" marR="68580" marT="0" marB="0" anchor="ctr" anchorCtr="0"/>
                </a:tc>
                <a:tc>
                  <a:txBody>
                    <a:bodyPr/>
                    <a:p>
                      <a:pPr marL="0" indent="0" algn="ctr">
                        <a:spcBef>
                          <a:spcPct val="0"/>
                        </a:spcBef>
                        <a:spcAft>
                          <a:spcPct val="0"/>
                        </a:spcAft>
                      </a:pPr>
                      <a:r>
                        <a:rPr lang="zh-CN" sz="1100"/>
                        <a:t>脉动率</a:t>
                      </a:r>
                      <a:r>
                        <a:rPr lang="en-US" altLang="zh-CN" sz="1100"/>
                        <a:t>(%)</a:t>
                      </a:r>
                      <a:endParaRPr lang="en-US" altLang="zh-CN" sz="1100"/>
                    </a:p>
                  </a:txBody>
                  <a:tcPr marL="68580" marR="68580" marT="0" marB="0" anchor="ctr" anchorCtr="0"/>
                </a:tc>
              </a:tr>
              <a:tr h="371475">
                <a:tc>
                  <a:txBody>
                    <a:bodyPr/>
                    <a:p>
                      <a:pPr marL="0" indent="0" algn="ctr">
                        <a:spcBef>
                          <a:spcPct val="0"/>
                        </a:spcBef>
                        <a:spcAft>
                          <a:spcPct val="0"/>
                        </a:spcAft>
                      </a:pPr>
                      <a:r>
                        <a:rPr lang="en-US" altLang="zh-CN" sz="1100"/>
                        <a:t>20</a:t>
                      </a:r>
                      <a:endParaRPr lang="en-US" altLang="zh-CN" sz="1100"/>
                    </a:p>
                  </a:txBody>
                  <a:tcPr marL="68580" marR="68580" marT="0" marB="0" anchor="ctr" anchorCtr="0"/>
                </a:tc>
                <a:tc>
                  <a:txBody>
                    <a:bodyPr/>
                    <a:p>
                      <a:pPr marL="0" indent="0" algn="ctr">
                        <a:spcBef>
                          <a:spcPct val="0"/>
                        </a:spcBef>
                        <a:spcAft>
                          <a:spcPct val="0"/>
                        </a:spcAft>
                      </a:pPr>
                      <a:r>
                        <a:rPr lang="en-US" altLang="zh-CN" sz="1100"/>
                        <a:t>18.98</a:t>
                      </a:r>
                      <a:endParaRPr lang="en-US" altLang="zh-CN" sz="1100"/>
                    </a:p>
                  </a:txBody>
                  <a:tcPr marL="68580" marR="68580" marT="0" marB="0" anchor="ctr" anchorCtr="0"/>
                </a:tc>
                <a:tc>
                  <a:txBody>
                    <a:bodyPr/>
                    <a:p>
                      <a:pPr marL="0" indent="0" algn="ctr">
                        <a:spcBef>
                          <a:spcPct val="0"/>
                        </a:spcBef>
                        <a:spcAft>
                          <a:spcPct val="0"/>
                        </a:spcAft>
                      </a:pPr>
                      <a:r>
                        <a:rPr lang="en-US" altLang="zh-CN" sz="1100"/>
                        <a:t>18.59</a:t>
                      </a:r>
                      <a:endParaRPr lang="en-US" altLang="zh-CN" sz="1100"/>
                    </a:p>
                  </a:txBody>
                  <a:tcPr marL="68580" marR="68580" marT="0" marB="0" anchor="ctr" anchorCtr="0"/>
                </a:tc>
                <a:tc>
                  <a:txBody>
                    <a:bodyPr/>
                    <a:p>
                      <a:pPr marL="0" indent="0" algn="ctr">
                        <a:spcBef>
                          <a:spcPct val="0"/>
                        </a:spcBef>
                        <a:spcAft>
                          <a:spcPct val="0"/>
                        </a:spcAft>
                      </a:pPr>
                      <a:r>
                        <a:rPr lang="en-US" altLang="zh-CN" sz="1100"/>
                        <a:t>2.05</a:t>
                      </a:r>
                      <a:endParaRPr lang="en-US" altLang="zh-CN" sz="1100"/>
                    </a:p>
                  </a:txBody>
                  <a:tcPr marL="68580" marR="68580" marT="0" marB="0" anchor="ctr" anchorCtr="0"/>
                </a:tc>
              </a:tr>
              <a:tr h="371475">
                <a:tc>
                  <a:txBody>
                    <a:bodyPr/>
                    <a:p>
                      <a:pPr marL="0" indent="0" algn="ctr">
                        <a:spcBef>
                          <a:spcPct val="0"/>
                        </a:spcBef>
                        <a:spcAft>
                          <a:spcPct val="0"/>
                        </a:spcAft>
                      </a:pPr>
                      <a:r>
                        <a:rPr lang="en-US" altLang="zh-CN" sz="1100"/>
                        <a:t>25</a:t>
                      </a:r>
                      <a:endParaRPr lang="en-US" altLang="zh-CN" sz="1100"/>
                    </a:p>
                  </a:txBody>
                  <a:tcPr marL="68580" marR="68580" marT="0" marB="0" anchor="ctr" anchorCtr="0"/>
                </a:tc>
                <a:tc>
                  <a:txBody>
                    <a:bodyPr/>
                    <a:p>
                      <a:pPr marL="0" indent="0" algn="ctr">
                        <a:spcBef>
                          <a:spcPct val="0"/>
                        </a:spcBef>
                        <a:spcAft>
                          <a:spcPct val="0"/>
                        </a:spcAft>
                      </a:pPr>
                      <a:r>
                        <a:rPr lang="en-US" altLang="zh-CN" sz="1100"/>
                        <a:t>23.75</a:t>
                      </a:r>
                      <a:endParaRPr lang="en-US" altLang="zh-CN" sz="1100"/>
                    </a:p>
                  </a:txBody>
                  <a:tcPr marL="68580" marR="68580" marT="0" marB="0" anchor="ctr" anchorCtr="0"/>
                </a:tc>
                <a:tc>
                  <a:txBody>
                    <a:bodyPr/>
                    <a:p>
                      <a:pPr marL="0" indent="0" algn="ctr">
                        <a:spcBef>
                          <a:spcPct val="0"/>
                        </a:spcBef>
                        <a:spcAft>
                          <a:spcPct val="0"/>
                        </a:spcAft>
                      </a:pPr>
                      <a:r>
                        <a:rPr lang="en-US" altLang="zh-CN" sz="1100"/>
                        <a:t>23.24</a:t>
                      </a:r>
                      <a:endParaRPr lang="en-US" altLang="zh-CN" sz="1100"/>
                    </a:p>
                  </a:txBody>
                  <a:tcPr marL="68580" marR="68580" marT="0" marB="0" anchor="ctr" anchorCtr="0"/>
                </a:tc>
                <a:tc>
                  <a:txBody>
                    <a:bodyPr/>
                    <a:p>
                      <a:pPr marL="0" indent="0" algn="ctr">
                        <a:spcBef>
                          <a:spcPct val="0"/>
                        </a:spcBef>
                        <a:spcAft>
                          <a:spcPct val="0"/>
                        </a:spcAft>
                      </a:pPr>
                      <a:r>
                        <a:rPr lang="en-US" altLang="zh-CN" sz="1100"/>
                        <a:t>2.15</a:t>
                      </a:r>
                      <a:endParaRPr lang="en-US" altLang="zh-CN" sz="1100"/>
                    </a:p>
                  </a:txBody>
                  <a:tcPr marL="68580" marR="68580" marT="0" marB="0" anchor="ctr" anchorCtr="0"/>
                </a:tc>
              </a:tr>
              <a:tr h="371475">
                <a:tc>
                  <a:txBody>
                    <a:bodyPr/>
                    <a:p>
                      <a:pPr marL="0" indent="0" algn="ctr">
                        <a:spcBef>
                          <a:spcPct val="0"/>
                        </a:spcBef>
                        <a:spcAft>
                          <a:spcPct val="0"/>
                        </a:spcAft>
                      </a:pPr>
                      <a:r>
                        <a:rPr lang="en-US" altLang="zh-CN" sz="1100"/>
                        <a:t>30</a:t>
                      </a:r>
                      <a:endParaRPr lang="en-US" altLang="zh-CN" sz="1100"/>
                    </a:p>
                  </a:txBody>
                  <a:tcPr marL="68580" marR="68580" marT="0" marB="0" anchor="ctr" anchorCtr="0"/>
                </a:tc>
                <a:tc>
                  <a:txBody>
                    <a:bodyPr/>
                    <a:p>
                      <a:pPr marL="0" indent="0" algn="ctr">
                        <a:spcBef>
                          <a:spcPct val="0"/>
                        </a:spcBef>
                        <a:spcAft>
                          <a:spcPct val="0"/>
                        </a:spcAft>
                      </a:pPr>
                      <a:r>
                        <a:rPr lang="en-US" altLang="zh-CN" sz="1100"/>
                        <a:t>28.45</a:t>
                      </a:r>
                      <a:endParaRPr lang="en-US" altLang="zh-CN" sz="1100"/>
                    </a:p>
                  </a:txBody>
                  <a:tcPr marL="68580" marR="68580" marT="0" marB="0" anchor="ctr" anchorCtr="0"/>
                </a:tc>
                <a:tc>
                  <a:txBody>
                    <a:bodyPr/>
                    <a:p>
                      <a:pPr marL="0" indent="0" algn="ctr">
                        <a:spcBef>
                          <a:spcPct val="0"/>
                        </a:spcBef>
                        <a:spcAft>
                          <a:spcPct val="0"/>
                        </a:spcAft>
                      </a:pPr>
                      <a:r>
                        <a:rPr lang="en-US" altLang="zh-CN" sz="1100"/>
                        <a:t>27.87</a:t>
                      </a:r>
                      <a:endParaRPr lang="en-US" altLang="zh-CN" sz="1100"/>
                    </a:p>
                  </a:txBody>
                  <a:tcPr marL="68580" marR="68580" marT="0" marB="0" anchor="ctr" anchorCtr="0"/>
                </a:tc>
                <a:tc>
                  <a:txBody>
                    <a:bodyPr/>
                    <a:p>
                      <a:pPr marL="0" indent="0" algn="ctr">
                        <a:spcBef>
                          <a:spcPct val="0"/>
                        </a:spcBef>
                        <a:spcAft>
                          <a:spcPct val="0"/>
                        </a:spcAft>
                      </a:pPr>
                      <a:r>
                        <a:rPr lang="en-US" altLang="zh-CN" sz="1100"/>
                        <a:t>2.03</a:t>
                      </a:r>
                      <a:endParaRPr lang="en-US" altLang="zh-CN" sz="1100"/>
                    </a:p>
                  </a:txBody>
                  <a:tcPr marL="68580" marR="68580" marT="0" marB="0" anchor="ctr" anchorCtr="0"/>
                </a:tc>
              </a:tr>
            </a:tbl>
          </a:graphicData>
        </a:graphic>
      </p:graphicFrame>
      <p:graphicFrame>
        <p:nvGraphicFramePr>
          <p:cNvPr id="12" name="表格 11"/>
          <p:cNvGraphicFramePr/>
          <p:nvPr>
            <p:custDataLst>
              <p:tags r:id="rId4"/>
            </p:custDataLst>
          </p:nvPr>
        </p:nvGraphicFramePr>
        <p:xfrm>
          <a:off x="5993765" y="3944620"/>
          <a:ext cx="5330825" cy="1617980"/>
        </p:xfrm>
        <a:graphic>
          <a:graphicData uri="http://schemas.openxmlformats.org/drawingml/2006/table">
            <a:tbl>
              <a:tblPr firstRow="1" bandCol="1">
                <a:tableStyleId>{421D9759-FAD0-4F7B-9969-40A7CEB2DF00}</a:tableStyleId>
              </a:tblPr>
              <a:tblGrid>
                <a:gridCol w="1364615"/>
                <a:gridCol w="1363980"/>
                <a:gridCol w="1363345"/>
                <a:gridCol w="1238885"/>
              </a:tblGrid>
              <a:tr h="404495">
                <a:tc>
                  <a:txBody>
                    <a:bodyPr/>
                    <a:p>
                      <a:pPr marL="0" indent="0" algn="ctr">
                        <a:spcBef>
                          <a:spcPct val="0"/>
                        </a:spcBef>
                        <a:spcAft>
                          <a:spcPct val="0"/>
                        </a:spcAft>
                      </a:pPr>
                      <a:r>
                        <a:rPr lang="zh-CN" sz="1100"/>
                        <a:t>负载值</a:t>
                      </a:r>
                      <a:r>
                        <a:rPr lang="en-US" altLang="zh-CN" sz="1100"/>
                        <a:t>(MPa)</a:t>
                      </a:r>
                      <a:endParaRPr lang="en-US" altLang="zh-CN" sz="1100"/>
                    </a:p>
                  </a:txBody>
                  <a:tcPr marL="68580" marR="68580" marT="0" marB="0" anchor="ctr" anchorCtr="0"/>
                </a:tc>
                <a:tc>
                  <a:txBody>
                    <a:bodyPr/>
                    <a:p>
                      <a:pPr marL="0" indent="0" algn="ctr">
                        <a:spcBef>
                          <a:spcPct val="0"/>
                        </a:spcBef>
                        <a:spcAft>
                          <a:spcPct val="0"/>
                        </a:spcAft>
                      </a:pPr>
                      <a:r>
                        <a:rPr lang="zh-CN" sz="1100"/>
                        <a:t>最大值</a:t>
                      </a:r>
                      <a:r>
                        <a:rPr lang="en-US" altLang="zh-CN" sz="1100"/>
                        <a:t>(MPa)</a:t>
                      </a:r>
                      <a:endParaRPr lang="en-US" altLang="zh-CN" sz="1100"/>
                    </a:p>
                  </a:txBody>
                  <a:tcPr marL="68580" marR="68580" marT="0" marB="0" anchor="ctr" anchorCtr="0"/>
                </a:tc>
                <a:tc>
                  <a:txBody>
                    <a:bodyPr/>
                    <a:p>
                      <a:pPr marL="0" indent="0" algn="ctr">
                        <a:spcBef>
                          <a:spcPct val="0"/>
                        </a:spcBef>
                        <a:spcAft>
                          <a:spcPct val="0"/>
                        </a:spcAft>
                      </a:pPr>
                      <a:r>
                        <a:rPr lang="zh-CN" sz="1100"/>
                        <a:t>最小值</a:t>
                      </a:r>
                      <a:r>
                        <a:rPr lang="en-US" altLang="zh-CN" sz="1100"/>
                        <a:t>(MPa)</a:t>
                      </a:r>
                      <a:endParaRPr lang="en-US" altLang="zh-CN" sz="1100"/>
                    </a:p>
                  </a:txBody>
                  <a:tcPr marL="68580" marR="68580" marT="0" marB="0" anchor="ctr" anchorCtr="0"/>
                </a:tc>
                <a:tc>
                  <a:txBody>
                    <a:bodyPr/>
                    <a:p>
                      <a:pPr marL="0" indent="0" algn="ctr">
                        <a:spcBef>
                          <a:spcPct val="0"/>
                        </a:spcBef>
                        <a:spcAft>
                          <a:spcPct val="0"/>
                        </a:spcAft>
                      </a:pPr>
                      <a:r>
                        <a:rPr lang="zh-CN" sz="1100"/>
                        <a:t>脉动率</a:t>
                      </a:r>
                      <a:r>
                        <a:rPr lang="en-US" altLang="zh-CN" sz="1100"/>
                        <a:t>(%)</a:t>
                      </a:r>
                      <a:endParaRPr lang="en-US" altLang="zh-CN" sz="1100"/>
                    </a:p>
                  </a:txBody>
                  <a:tcPr marL="68580" marR="68580" marT="0" marB="0" anchor="ctr" anchorCtr="0"/>
                </a:tc>
              </a:tr>
              <a:tr h="404495">
                <a:tc>
                  <a:txBody>
                    <a:bodyPr/>
                    <a:p>
                      <a:pPr marL="0" indent="0" algn="ctr">
                        <a:spcBef>
                          <a:spcPct val="0"/>
                        </a:spcBef>
                        <a:spcAft>
                          <a:spcPct val="0"/>
                        </a:spcAft>
                      </a:pPr>
                      <a:r>
                        <a:rPr lang="en-US" altLang="zh-CN" sz="1100"/>
                        <a:t>20</a:t>
                      </a:r>
                      <a:endParaRPr lang="en-US" altLang="zh-CN" sz="1100"/>
                    </a:p>
                  </a:txBody>
                  <a:tcPr marL="68580" marR="68580" marT="0" marB="0" anchor="ctr" anchorCtr="0"/>
                </a:tc>
                <a:tc>
                  <a:txBody>
                    <a:bodyPr/>
                    <a:p>
                      <a:pPr marL="0" indent="0" algn="ctr">
                        <a:spcBef>
                          <a:spcPct val="0"/>
                        </a:spcBef>
                        <a:spcAft>
                          <a:spcPct val="0"/>
                        </a:spcAft>
                      </a:pPr>
                      <a:r>
                        <a:rPr lang="en-US" altLang="zh-CN" sz="1100"/>
                        <a:t>18.98</a:t>
                      </a:r>
                      <a:endParaRPr lang="en-US" altLang="zh-CN" sz="1100"/>
                    </a:p>
                  </a:txBody>
                  <a:tcPr marL="68580" marR="68580" marT="0" marB="0" anchor="ctr" anchorCtr="0"/>
                </a:tc>
                <a:tc>
                  <a:txBody>
                    <a:bodyPr/>
                    <a:p>
                      <a:pPr marL="0" indent="0" algn="ctr">
                        <a:spcBef>
                          <a:spcPct val="0"/>
                        </a:spcBef>
                        <a:spcAft>
                          <a:spcPct val="0"/>
                        </a:spcAft>
                      </a:pPr>
                      <a:r>
                        <a:rPr lang="en-US" altLang="zh-CN" sz="1100"/>
                        <a:t>18.74</a:t>
                      </a:r>
                      <a:endParaRPr lang="en-US" altLang="zh-CN" sz="1100"/>
                    </a:p>
                  </a:txBody>
                  <a:tcPr marL="68580" marR="68580" marT="0" marB="0" anchor="ctr" anchorCtr="0"/>
                </a:tc>
                <a:tc>
                  <a:txBody>
                    <a:bodyPr/>
                    <a:p>
                      <a:pPr marL="0" indent="0" algn="ctr">
                        <a:spcBef>
                          <a:spcPct val="0"/>
                        </a:spcBef>
                        <a:spcAft>
                          <a:spcPct val="0"/>
                        </a:spcAft>
                      </a:pPr>
                      <a:r>
                        <a:rPr lang="en-US" altLang="zh-CN" sz="1100"/>
                        <a:t>1.26</a:t>
                      </a:r>
                      <a:endParaRPr lang="en-US" altLang="zh-CN" sz="1100"/>
                    </a:p>
                  </a:txBody>
                  <a:tcPr marL="68580" marR="68580" marT="0" marB="0" anchor="ctr" anchorCtr="0"/>
                </a:tc>
              </a:tr>
              <a:tr h="404495">
                <a:tc>
                  <a:txBody>
                    <a:bodyPr/>
                    <a:p>
                      <a:pPr marL="0" indent="0" algn="ctr">
                        <a:spcBef>
                          <a:spcPct val="0"/>
                        </a:spcBef>
                        <a:spcAft>
                          <a:spcPct val="0"/>
                        </a:spcAft>
                      </a:pPr>
                      <a:r>
                        <a:rPr lang="en-US" altLang="zh-CN" sz="1100"/>
                        <a:t>25</a:t>
                      </a:r>
                      <a:endParaRPr lang="en-US" altLang="zh-CN" sz="1100"/>
                    </a:p>
                  </a:txBody>
                  <a:tcPr marL="68580" marR="68580" marT="0" marB="0" anchor="ctr" anchorCtr="0"/>
                </a:tc>
                <a:tc>
                  <a:txBody>
                    <a:bodyPr/>
                    <a:p>
                      <a:pPr marL="0" indent="0" algn="ctr">
                        <a:spcBef>
                          <a:spcPct val="0"/>
                        </a:spcBef>
                        <a:spcAft>
                          <a:spcPct val="0"/>
                        </a:spcAft>
                      </a:pPr>
                      <a:r>
                        <a:rPr lang="en-US" altLang="zh-CN" sz="1100"/>
                        <a:t>23.70</a:t>
                      </a:r>
                      <a:endParaRPr lang="en-US" altLang="zh-CN" sz="1100"/>
                    </a:p>
                  </a:txBody>
                  <a:tcPr marL="68580" marR="68580" marT="0" marB="0" anchor="ctr" anchorCtr="0"/>
                </a:tc>
                <a:tc>
                  <a:txBody>
                    <a:bodyPr/>
                    <a:p>
                      <a:pPr marL="0" indent="0" algn="ctr">
                        <a:spcBef>
                          <a:spcPct val="0"/>
                        </a:spcBef>
                        <a:spcAft>
                          <a:spcPct val="0"/>
                        </a:spcAft>
                      </a:pPr>
                      <a:r>
                        <a:rPr lang="en-US" altLang="zh-CN" sz="1100"/>
                        <a:t>23.36</a:t>
                      </a:r>
                      <a:endParaRPr lang="en-US" altLang="zh-CN" sz="1100"/>
                    </a:p>
                  </a:txBody>
                  <a:tcPr marL="68580" marR="68580" marT="0" marB="0" anchor="ctr" anchorCtr="0"/>
                </a:tc>
                <a:tc>
                  <a:txBody>
                    <a:bodyPr/>
                    <a:p>
                      <a:pPr marL="0" indent="0" algn="ctr">
                        <a:spcBef>
                          <a:spcPct val="0"/>
                        </a:spcBef>
                        <a:spcAft>
                          <a:spcPct val="0"/>
                        </a:spcAft>
                      </a:pPr>
                      <a:r>
                        <a:rPr lang="en-US" altLang="zh-CN" sz="1100"/>
                        <a:t>1.43</a:t>
                      </a:r>
                      <a:endParaRPr lang="en-US" altLang="zh-CN" sz="1100"/>
                    </a:p>
                  </a:txBody>
                  <a:tcPr marL="68580" marR="68580" marT="0" marB="0" anchor="ctr" anchorCtr="0"/>
                </a:tc>
              </a:tr>
              <a:tr h="404495">
                <a:tc>
                  <a:txBody>
                    <a:bodyPr/>
                    <a:p>
                      <a:pPr marL="0" indent="0" algn="ctr">
                        <a:spcBef>
                          <a:spcPct val="0"/>
                        </a:spcBef>
                        <a:spcAft>
                          <a:spcPct val="0"/>
                        </a:spcAft>
                      </a:pPr>
                      <a:r>
                        <a:rPr lang="en-US" altLang="zh-CN" sz="1100"/>
                        <a:t>30</a:t>
                      </a:r>
                      <a:endParaRPr lang="en-US" altLang="zh-CN" sz="1100"/>
                    </a:p>
                  </a:txBody>
                  <a:tcPr marL="68580" marR="68580" marT="0" marB="0" anchor="ctr" anchorCtr="0"/>
                </a:tc>
                <a:tc>
                  <a:txBody>
                    <a:bodyPr/>
                    <a:p>
                      <a:pPr marL="0" indent="0" algn="ctr">
                        <a:spcBef>
                          <a:spcPct val="0"/>
                        </a:spcBef>
                        <a:spcAft>
                          <a:spcPct val="0"/>
                        </a:spcAft>
                      </a:pPr>
                      <a:r>
                        <a:rPr lang="en-US" altLang="zh-CN" sz="1100"/>
                        <a:t>28.46</a:t>
                      </a:r>
                      <a:endParaRPr lang="en-US" altLang="zh-CN" sz="1100"/>
                    </a:p>
                  </a:txBody>
                  <a:tcPr marL="68580" marR="68580" marT="0" marB="0" anchor="ctr" anchorCtr="0"/>
                </a:tc>
                <a:tc>
                  <a:txBody>
                    <a:bodyPr/>
                    <a:p>
                      <a:pPr marL="0" indent="0" algn="ctr">
                        <a:spcBef>
                          <a:spcPct val="0"/>
                        </a:spcBef>
                        <a:spcAft>
                          <a:spcPct val="0"/>
                        </a:spcAft>
                      </a:pPr>
                      <a:r>
                        <a:rPr lang="en-US" altLang="zh-CN" sz="1100"/>
                        <a:t>27.98</a:t>
                      </a:r>
                      <a:endParaRPr lang="en-US" altLang="zh-CN" sz="1100"/>
                    </a:p>
                  </a:txBody>
                  <a:tcPr marL="68580" marR="68580" marT="0" marB="0" anchor="ctr" anchorCtr="0"/>
                </a:tc>
                <a:tc>
                  <a:txBody>
                    <a:bodyPr/>
                    <a:p>
                      <a:pPr marL="0" indent="0" algn="ctr">
                        <a:spcBef>
                          <a:spcPct val="0"/>
                        </a:spcBef>
                        <a:spcAft>
                          <a:spcPct val="0"/>
                        </a:spcAft>
                      </a:pPr>
                      <a:r>
                        <a:rPr lang="en-US" altLang="zh-CN" sz="1100"/>
                        <a:t>1.68</a:t>
                      </a:r>
                      <a:endParaRPr lang="en-US" altLang="zh-CN" sz="1100"/>
                    </a:p>
                  </a:txBody>
                  <a:tcPr marL="68580" marR="68580" marT="0" marB="0" anchor="ctr" anchorCtr="0"/>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a:noFill/>
          </a:ln>
          <a:effectLst>
            <a:outerShdw blurRad="1016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cs typeface="+mn-ea"/>
            </a:endParaRPr>
          </a:p>
        </p:txBody>
      </p:sp>
      <p:grpSp>
        <p:nvGrpSpPr>
          <p:cNvPr id="33" name="组合 32"/>
          <p:cNvGrpSpPr/>
          <p:nvPr/>
        </p:nvGrpSpPr>
        <p:grpSpPr>
          <a:xfrm>
            <a:off x="730867" y="809908"/>
            <a:ext cx="3828219" cy="429895"/>
            <a:chOff x="707718" y="813975"/>
            <a:chExt cx="3828219" cy="429895"/>
          </a:xfrm>
        </p:grpSpPr>
        <p:cxnSp>
          <p:nvCxnSpPr>
            <p:cNvPr id="34" name="直接连接符 33"/>
            <p:cNvCxnSpPr/>
            <p:nvPr/>
          </p:nvCxnSpPr>
          <p:spPr>
            <a:xfrm flipV="1">
              <a:off x="707718" y="856366"/>
              <a:ext cx="0" cy="355445"/>
            </a:xfrm>
            <a:prstGeom prst="line">
              <a:avLst/>
            </a:prstGeom>
            <a:ln w="79375">
              <a:solidFill>
                <a:srgbClr val="122E66"/>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841558" y="813975"/>
              <a:ext cx="3694379" cy="4298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200" b="1" dirty="0">
                  <a:solidFill>
                    <a:srgbClr val="00156C"/>
                  </a:solidFill>
                  <a:latin typeface="+mn-ea"/>
                  <a:cs typeface="+mn-ea"/>
                </a:rPr>
                <a:t>分工</a:t>
              </a:r>
              <a:endParaRPr lang="zh-CN" altLang="en-US" sz="2200" b="1" dirty="0">
                <a:solidFill>
                  <a:srgbClr val="00156C"/>
                </a:solidFill>
                <a:latin typeface="+mn-ea"/>
                <a:cs typeface="+mn-ea"/>
              </a:endParaRPr>
            </a:p>
          </p:txBody>
        </p:sp>
      </p:grpSp>
      <p:sp>
        <p:nvSpPr>
          <p:cNvPr id="36" name="文本框 35"/>
          <p:cNvSpPr txBox="1"/>
          <p:nvPr/>
        </p:nvSpPr>
        <p:spPr>
          <a:xfrm>
            <a:off x="828332" y="1907514"/>
            <a:ext cx="10501632" cy="2676525"/>
          </a:xfrm>
          <a:prstGeom prst="rect">
            <a:avLst/>
          </a:prstGeom>
          <a:noFill/>
        </p:spPr>
        <p:txBody>
          <a:bodyPr wrap="square" rtlCol="0">
            <a:spAutoFit/>
          </a:bodyPr>
          <a:lstStyle/>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柳子涵</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流体力学总体仿真，流域模型建模，仿真结果分析，</a:t>
            </a:r>
            <a:r>
              <a:rPr lang="en-US" altLang="zh-CN" sz="1600" dirty="0">
                <a:solidFill>
                  <a:schemeClr val="tx1"/>
                </a:solidFill>
                <a:latin typeface="思源黑体 CN Bold"/>
                <a:ea typeface="思源宋体 CN" panose="02020400000000000000" pitchFamily="18" charset="-122"/>
                <a:cs typeface="+mn-ea"/>
                <a:sym typeface="+mn-lt"/>
              </a:rPr>
              <a:t>PPT</a:t>
            </a:r>
            <a:r>
              <a:rPr lang="zh-CN" altLang="en-US" sz="1600" dirty="0">
                <a:solidFill>
                  <a:schemeClr val="tx1"/>
                </a:solidFill>
                <a:latin typeface="思源黑体 CN Bold"/>
                <a:ea typeface="思源宋体 CN" panose="02020400000000000000" pitchFamily="18" charset="-122"/>
                <a:cs typeface="+mn-ea"/>
                <a:sym typeface="+mn-lt"/>
              </a:rPr>
              <a:t>制作汇报</a:t>
            </a:r>
            <a:endParaRPr lang="zh-CN" altLang="en-US" sz="1600" dirty="0">
              <a:solidFill>
                <a:schemeClr val="tx1"/>
              </a:solidFill>
              <a:latin typeface="思源黑体 CN Bold"/>
              <a:ea typeface="思源宋体 CN" panose="02020400000000000000" pitchFamily="18" charset="-122"/>
              <a:cs typeface="+mn-ea"/>
              <a:sym typeface="+mn-lt"/>
            </a:endParaRPr>
          </a:p>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刘世隆</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流体力学仿真，斜齿轮模型构建，不同转速情况压力输出报告编写</a:t>
            </a:r>
            <a:endParaRPr lang="zh-CN" altLang="en-US" sz="1600" dirty="0">
              <a:solidFill>
                <a:schemeClr val="tx1"/>
              </a:solidFill>
              <a:latin typeface="思源黑体 CN Bold"/>
              <a:ea typeface="思源宋体 CN" panose="02020400000000000000" pitchFamily="18" charset="-122"/>
              <a:cs typeface="+mn-ea"/>
              <a:sym typeface="+mn-lt"/>
            </a:endParaRPr>
          </a:p>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孙学圣</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额定情况输出压力仿真</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编写部分报告</a:t>
            </a:r>
            <a:endParaRPr lang="zh-CN" altLang="en-US" sz="1600" dirty="0">
              <a:solidFill>
                <a:schemeClr val="tx1"/>
              </a:solidFill>
              <a:latin typeface="思源黑体 CN Bold"/>
              <a:ea typeface="思源宋体 CN" panose="02020400000000000000" pitchFamily="18" charset="-122"/>
              <a:cs typeface="+mn-ea"/>
              <a:sym typeface="+mn-lt"/>
            </a:endParaRPr>
          </a:p>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田一博</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流体力学仿真，不同负载情况的输出及报告编写</a:t>
            </a:r>
            <a:endParaRPr lang="zh-CN" altLang="en-US" sz="1600" dirty="0">
              <a:solidFill>
                <a:schemeClr val="tx1"/>
              </a:solidFill>
              <a:latin typeface="思源黑体 CN Bold"/>
              <a:ea typeface="思源宋体 CN" panose="02020400000000000000" pitchFamily="18" charset="-122"/>
              <a:cs typeface="+mn-ea"/>
              <a:sym typeface="+mn-lt"/>
            </a:endParaRPr>
          </a:p>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宋雨轩</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齿轮泵设计分析，斜齿轮模型构建，主要</a:t>
            </a:r>
            <a:r>
              <a:rPr lang="en-US" altLang="zh-CN" sz="1600" dirty="0">
                <a:solidFill>
                  <a:schemeClr val="tx1"/>
                </a:solidFill>
                <a:latin typeface="思源黑体 CN Bold"/>
                <a:ea typeface="思源宋体 CN" panose="02020400000000000000" pitchFamily="18" charset="-122"/>
                <a:cs typeface="+mn-ea"/>
                <a:sym typeface="+mn-lt"/>
              </a:rPr>
              <a:t>PPT</a:t>
            </a:r>
            <a:r>
              <a:rPr lang="zh-CN" altLang="en-US" sz="1600" dirty="0">
                <a:solidFill>
                  <a:schemeClr val="tx1"/>
                </a:solidFill>
                <a:latin typeface="思源黑体 CN Bold"/>
                <a:ea typeface="思源宋体 CN" panose="02020400000000000000" pitchFamily="18" charset="-122"/>
                <a:cs typeface="+mn-ea"/>
                <a:sym typeface="+mn-lt"/>
              </a:rPr>
              <a:t>制作</a:t>
            </a:r>
            <a:endParaRPr lang="zh-CN" altLang="en-US" sz="1600" dirty="0">
              <a:solidFill>
                <a:schemeClr val="tx1"/>
              </a:solidFill>
              <a:latin typeface="思源黑体 CN Bold"/>
              <a:ea typeface="思源宋体 CN" panose="02020400000000000000" pitchFamily="18" charset="-122"/>
              <a:cs typeface="+mn-ea"/>
              <a:sym typeface="+mn-lt"/>
            </a:endParaRPr>
          </a:p>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艾孜艾尔江</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背景调研，</a:t>
            </a:r>
            <a:r>
              <a:rPr lang="en-US" altLang="zh-CN" sz="1600" dirty="0">
                <a:solidFill>
                  <a:schemeClr val="tx1"/>
                </a:solidFill>
                <a:latin typeface="思源黑体 CN Bold"/>
                <a:ea typeface="思源宋体 CN" panose="02020400000000000000" pitchFamily="18" charset="-122"/>
                <a:cs typeface="+mn-ea"/>
                <a:sym typeface="+mn-lt"/>
              </a:rPr>
              <a:t>PPT</a:t>
            </a:r>
            <a:r>
              <a:rPr lang="zh-CN" altLang="en-US" sz="1600" dirty="0">
                <a:solidFill>
                  <a:schemeClr val="tx1"/>
                </a:solidFill>
                <a:latin typeface="思源黑体 CN Bold"/>
                <a:ea typeface="思源宋体 CN" panose="02020400000000000000" pitchFamily="18" charset="-122"/>
                <a:cs typeface="+mn-ea"/>
                <a:sym typeface="+mn-lt"/>
              </a:rPr>
              <a:t>制作，齿轮泵设计分析</a:t>
            </a:r>
            <a:endParaRPr lang="zh-CN" altLang="en-US" sz="1600" dirty="0">
              <a:solidFill>
                <a:schemeClr val="tx1"/>
              </a:solidFill>
              <a:latin typeface="思源黑体 CN Bold"/>
              <a:ea typeface="思源宋体 CN" panose="02020400000000000000" pitchFamily="18" charset="-122"/>
              <a:cs typeface="+mn-ea"/>
              <a:sym typeface="+mn-lt"/>
            </a:endParaRPr>
          </a:p>
          <a:p>
            <a:pPr marL="285750" indent="-285750" algn="l">
              <a:lnSpc>
                <a:spcPct val="150000"/>
              </a:lnSpc>
              <a:buClr>
                <a:srgbClr val="122E66"/>
              </a:buClr>
              <a:buFont typeface="Wingdings" panose="05000000000000000000" pitchFamily="2" charset="2"/>
              <a:buChar char="l"/>
            </a:pPr>
            <a:r>
              <a:rPr lang="zh-CN" altLang="en-US" sz="1600" dirty="0">
                <a:solidFill>
                  <a:schemeClr val="tx1"/>
                </a:solidFill>
                <a:latin typeface="思源黑体 CN Bold"/>
                <a:ea typeface="思源宋体 CN" panose="02020400000000000000" pitchFamily="18" charset="-122"/>
                <a:cs typeface="+mn-ea"/>
                <a:sym typeface="+mn-lt"/>
              </a:rPr>
              <a:t>刘子芃</a:t>
            </a:r>
            <a:r>
              <a:rPr lang="en-US" altLang="zh-CN" sz="1600" dirty="0">
                <a:solidFill>
                  <a:schemeClr val="tx1"/>
                </a:solidFill>
                <a:latin typeface="思源黑体 CN Bold"/>
                <a:ea typeface="思源宋体 CN" panose="02020400000000000000" pitchFamily="18" charset="-122"/>
                <a:cs typeface="+mn-ea"/>
                <a:sym typeface="+mn-lt"/>
              </a:rPr>
              <a:t> </a:t>
            </a:r>
            <a:r>
              <a:rPr lang="zh-CN" altLang="en-US" sz="1600" dirty="0">
                <a:solidFill>
                  <a:schemeClr val="tx1"/>
                </a:solidFill>
                <a:latin typeface="思源黑体 CN Bold"/>
                <a:ea typeface="思源宋体 CN" panose="02020400000000000000" pitchFamily="18" charset="-122"/>
                <a:cs typeface="+mn-ea"/>
                <a:sym typeface="+mn-lt"/>
              </a:rPr>
              <a:t>仿真数据分析，报告汇总，齿轮受力分析设计，齿轮泵模型建立</a:t>
            </a:r>
            <a:endParaRPr lang="en-US" altLang="zh-CN" sz="1600" dirty="0">
              <a:solidFill>
                <a:schemeClr val="tx1"/>
              </a:solidFill>
              <a:latin typeface="思源黑体 CN Bold"/>
              <a:ea typeface="思源宋体 CN" panose="02020400000000000000" pitchFamily="18" charset="-122"/>
              <a:cs typeface="+mn-ea"/>
              <a:sym typeface="+mn-lt"/>
            </a:endParaRPr>
          </a:p>
        </p:txBody>
      </p:sp>
      <p:pic>
        <p:nvPicPr>
          <p:cNvPr id="10" name="图片 9"/>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584787" y="404664"/>
            <a:ext cx="1181991" cy="118663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ṡ1íḋe"/>
          <p:cNvSpPr/>
          <p:nvPr/>
        </p:nvSpPr>
        <p:spPr>
          <a:xfrm>
            <a:off x="-11552" y="-1"/>
            <a:ext cx="12215105" cy="620689"/>
          </a:xfrm>
          <a:prstGeom prst="rect">
            <a:avLst/>
          </a:prstGeom>
          <a:solidFill>
            <a:srgbClr val="0E419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7" name="文本框 6"/>
          <p:cNvSpPr txBox="1"/>
          <p:nvPr/>
        </p:nvSpPr>
        <p:spPr>
          <a:xfrm>
            <a:off x="1249485" y="2855406"/>
            <a:ext cx="5724644" cy="830997"/>
          </a:xfrm>
          <a:prstGeom prst="rect">
            <a:avLst/>
          </a:prstGeom>
          <a:noFill/>
        </p:spPr>
        <p:txBody>
          <a:bodyPr wrap="none" rtlCol="0">
            <a:spAutoFit/>
          </a:bodyPr>
          <a:lstStyle/>
          <a:p>
            <a:r>
              <a:rPr lang="zh-CN" altLang="en-US" sz="4800" spc="600" dirty="0">
                <a:solidFill>
                  <a:schemeClr val="bg1"/>
                </a:solidFill>
                <a:latin typeface="+mn-ea"/>
                <a:cs typeface="+mn-ea"/>
              </a:rPr>
              <a:t>毕业论文答辩模板</a:t>
            </a:r>
            <a:endParaRPr lang="zh-CN" altLang="en-US" sz="4800" spc="600" dirty="0">
              <a:solidFill>
                <a:schemeClr val="bg1"/>
              </a:solidFill>
              <a:latin typeface="+mn-ea"/>
              <a:cs typeface="+mn-ea"/>
            </a:endParaRPr>
          </a:p>
        </p:txBody>
      </p:sp>
      <p:sp>
        <p:nvSpPr>
          <p:cNvPr id="8" name="文本框 7"/>
          <p:cNvSpPr txBox="1"/>
          <p:nvPr/>
        </p:nvSpPr>
        <p:spPr>
          <a:xfrm>
            <a:off x="1249485" y="3782884"/>
            <a:ext cx="5625258" cy="307777"/>
          </a:xfrm>
          <a:prstGeom prst="rect">
            <a:avLst/>
          </a:prstGeom>
          <a:noFill/>
        </p:spPr>
        <p:txBody>
          <a:bodyPr wrap="none" rtlCol="0">
            <a:spAutoFit/>
          </a:bodyPr>
          <a:lstStyle/>
          <a:p>
            <a:r>
              <a:rPr lang="en-US" altLang="zh-CN" sz="1400" spc="600" dirty="0">
                <a:solidFill>
                  <a:schemeClr val="bg1"/>
                </a:solidFill>
                <a:latin typeface="Arial" panose="020B0604020202020204" pitchFamily="34" charset="0"/>
                <a:cs typeface="+mn-ea"/>
              </a:rPr>
              <a:t>Graduation thesis defense template</a:t>
            </a:r>
            <a:endParaRPr lang="zh-CN" altLang="en-US" sz="1400" spc="600" dirty="0">
              <a:solidFill>
                <a:schemeClr val="bg1"/>
              </a:solidFill>
              <a:latin typeface="Arial" panose="020B0604020202020204" pitchFamily="34" charset="0"/>
              <a:cs typeface="+mn-ea"/>
            </a:endParaRPr>
          </a:p>
        </p:txBody>
      </p:sp>
      <p:sp>
        <p:nvSpPr>
          <p:cNvPr id="5" name="iṡḻîdê"/>
          <p:cNvSpPr/>
          <p:nvPr/>
        </p:nvSpPr>
        <p:spPr>
          <a:xfrm>
            <a:off x="0" y="0"/>
            <a:ext cx="12192000" cy="3445288"/>
          </a:xfrm>
          <a:prstGeom prst="rect">
            <a:avLst/>
          </a:prstGeom>
          <a:solidFill>
            <a:srgbClr val="122E6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cs typeface="+mn-ea"/>
            </a:endParaRPr>
          </a:p>
        </p:txBody>
      </p:sp>
      <p:sp>
        <p:nvSpPr>
          <p:cNvPr id="9" name="iš1íḍè"/>
          <p:cNvSpPr/>
          <p:nvPr/>
        </p:nvSpPr>
        <p:spPr>
          <a:xfrm>
            <a:off x="274736" y="404664"/>
            <a:ext cx="11608824" cy="5955500"/>
          </a:xfrm>
          <a:prstGeom prst="rect">
            <a:avLst/>
          </a:prstGeom>
          <a:solidFill>
            <a:schemeClr val="bg1"/>
          </a:solidFill>
          <a:ln>
            <a:noFill/>
          </a:ln>
          <a:effectLst>
            <a:outerShdw blurRad="1016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500" b="1" i="0" u="none" strike="noStrike" kern="1200" cap="none" spc="300" normalizeH="0" baseline="0" noProof="0">
              <a:ln>
                <a:noFill/>
              </a:ln>
              <a:solidFill>
                <a:srgbClr val="0070C0"/>
              </a:solidFill>
              <a:effectLst/>
              <a:uLnTx/>
              <a:uFillTx/>
              <a:latin typeface="Arial" panose="020B0604020202020204"/>
              <a:cs typeface="+mn-ea"/>
            </a:endParaRPr>
          </a:p>
        </p:txBody>
      </p:sp>
      <p:grpSp>
        <p:nvGrpSpPr>
          <p:cNvPr id="51" name="组合 50"/>
          <p:cNvGrpSpPr/>
          <p:nvPr/>
        </p:nvGrpSpPr>
        <p:grpSpPr>
          <a:xfrm>
            <a:off x="2207568" y="2411204"/>
            <a:ext cx="7950894" cy="1337893"/>
            <a:chOff x="2207567" y="2599267"/>
            <a:chExt cx="7950894" cy="1337893"/>
          </a:xfrm>
        </p:grpSpPr>
        <p:sp>
          <p:nvSpPr>
            <p:cNvPr id="52" name="文本框 51"/>
            <p:cNvSpPr txBox="1"/>
            <p:nvPr/>
          </p:nvSpPr>
          <p:spPr>
            <a:xfrm>
              <a:off x="2207567" y="2599267"/>
              <a:ext cx="7950894" cy="1015663"/>
            </a:xfrm>
            <a:prstGeom prst="rect">
              <a:avLst/>
            </a:prstGeom>
            <a:noFill/>
          </p:spPr>
          <p:txBody>
            <a:bodyPr wrap="square">
              <a:spAutoFit/>
            </a:bodyPr>
            <a:lstStyle/>
            <a:p>
              <a:pPr algn="ctr"/>
              <a:r>
                <a:rPr lang="zh-CN" altLang="en-US" sz="6000" b="1" spc="600" dirty="0">
                  <a:solidFill>
                    <a:srgbClr val="122E66"/>
                  </a:solidFill>
                  <a:latin typeface="思源黑体 CN Heavy" panose="020B0A00000000000000" pitchFamily="34" charset="-122"/>
                  <a:ea typeface="思源黑体 CN Heavy" panose="020B0A00000000000000" pitchFamily="34" charset="-122"/>
                  <a:cs typeface="+mn-ea"/>
                </a:rPr>
                <a:t>恳请老师批评指正</a:t>
              </a:r>
              <a:endParaRPr lang="zh-CN" altLang="en-US" sz="6000" b="1" spc="600" dirty="0">
                <a:solidFill>
                  <a:srgbClr val="122E66"/>
                </a:solidFill>
                <a:latin typeface="思源黑体 CN Heavy" panose="020B0A00000000000000" pitchFamily="34" charset="-122"/>
                <a:ea typeface="思源黑体 CN Heavy" panose="020B0A00000000000000" pitchFamily="34" charset="-122"/>
                <a:cs typeface="+mn-ea"/>
              </a:endParaRPr>
            </a:p>
          </p:txBody>
        </p:sp>
        <p:sp>
          <p:nvSpPr>
            <p:cNvPr id="53" name="文本框 52"/>
            <p:cNvSpPr txBox="1"/>
            <p:nvPr/>
          </p:nvSpPr>
          <p:spPr>
            <a:xfrm>
              <a:off x="4157004" y="3629383"/>
              <a:ext cx="3877985" cy="307777"/>
            </a:xfrm>
            <a:prstGeom prst="rect">
              <a:avLst/>
            </a:prstGeom>
            <a:noFill/>
          </p:spPr>
          <p:txBody>
            <a:bodyPr wrap="none" rtlCol="0">
              <a:spAutoFit/>
            </a:bodyPr>
            <a:lstStyle/>
            <a:p>
              <a:pPr algn="ctr"/>
              <a:r>
                <a:rPr lang="en-US" altLang="zh-CN" sz="1400" spc="600" dirty="0">
                  <a:solidFill>
                    <a:srgbClr val="122E66"/>
                  </a:solidFill>
                  <a:latin typeface="Arial" panose="020B0604020202020204" pitchFamily="34" charset="0"/>
                  <a:cs typeface="+mn-ea"/>
                </a:rPr>
                <a:t>THANKS FOR LISTENING</a:t>
              </a:r>
              <a:endParaRPr lang="zh-CN" altLang="en-US" sz="1400" spc="600" dirty="0">
                <a:solidFill>
                  <a:srgbClr val="122E66"/>
                </a:solidFill>
                <a:latin typeface="Arial" panose="020B0604020202020204" pitchFamily="34" charset="0"/>
                <a:cs typeface="+mn-ea"/>
              </a:endParaRPr>
            </a:p>
          </p:txBody>
        </p:sp>
      </p:grpSp>
      <p:sp>
        <p:nvSpPr>
          <p:cNvPr id="58" name="文本框 57"/>
          <p:cNvSpPr txBox="1"/>
          <p:nvPr/>
        </p:nvSpPr>
        <p:spPr>
          <a:xfrm>
            <a:off x="4805345" y="4130605"/>
            <a:ext cx="2377574" cy="338554"/>
          </a:xfrm>
          <a:prstGeom prst="rect">
            <a:avLst/>
          </a:prstGeom>
          <a:noFill/>
        </p:spPr>
        <p:txBody>
          <a:bodyPr wrap="none" rtlCol="0">
            <a:spAutoFit/>
          </a:bodyPr>
          <a:lstStyle/>
          <a:p>
            <a:pPr algn="ctr"/>
            <a:r>
              <a:rPr lang="zh-CN" altLang="en-US" sz="1600" spc="300" dirty="0">
                <a:solidFill>
                  <a:srgbClr val="122E66"/>
                </a:solidFill>
                <a:latin typeface="+mn-ea"/>
                <a:cs typeface="+mn-ea"/>
              </a:rPr>
              <a:t>同济大学丨工业工程</a:t>
            </a:r>
            <a:endParaRPr lang="zh-CN" altLang="en-US" sz="1600" spc="300" dirty="0">
              <a:solidFill>
                <a:srgbClr val="122E66"/>
              </a:solidFill>
              <a:latin typeface="+mn-ea"/>
              <a:cs typeface="+mn-ea"/>
            </a:endParaRPr>
          </a:p>
        </p:txBody>
      </p:sp>
      <p:sp>
        <p:nvSpPr>
          <p:cNvPr id="65" name="流程图: 离页连接符 64"/>
          <p:cNvSpPr/>
          <p:nvPr/>
        </p:nvSpPr>
        <p:spPr>
          <a:xfrm>
            <a:off x="5519936" y="0"/>
            <a:ext cx="1152128" cy="1152128"/>
          </a:xfrm>
          <a:prstGeom prst="flowChartOffpageConnector">
            <a:avLst/>
          </a:prstGeom>
          <a:solidFill>
            <a:srgbClr val="122E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66" name="graduate-man-hand-drawn-person_57251"/>
          <p:cNvSpPr/>
          <p:nvPr/>
        </p:nvSpPr>
        <p:spPr>
          <a:xfrm>
            <a:off x="5877134" y="209548"/>
            <a:ext cx="437729" cy="609685"/>
          </a:xfrm>
          <a:custGeom>
            <a:avLst/>
            <a:gdLst>
              <a:gd name="connsiteX0" fmla="*/ 83809 w 434872"/>
              <a:gd name="connsiteY0" fmla="*/ 581569 h 605705"/>
              <a:gd name="connsiteX1" fmla="*/ 82167 w 434872"/>
              <a:gd name="connsiteY1" fmla="*/ 583678 h 605705"/>
              <a:gd name="connsiteX2" fmla="*/ 88503 w 434872"/>
              <a:gd name="connsiteY2" fmla="*/ 584146 h 605705"/>
              <a:gd name="connsiteX3" fmla="*/ 86156 w 434872"/>
              <a:gd name="connsiteY3" fmla="*/ 581569 h 605705"/>
              <a:gd name="connsiteX4" fmla="*/ 83809 w 434872"/>
              <a:gd name="connsiteY4" fmla="*/ 581569 h 605705"/>
              <a:gd name="connsiteX5" fmla="*/ 337748 w 434872"/>
              <a:gd name="connsiteY5" fmla="*/ 504504 h 605705"/>
              <a:gd name="connsiteX6" fmla="*/ 314252 w 434872"/>
              <a:gd name="connsiteY6" fmla="*/ 509630 h 605705"/>
              <a:gd name="connsiteX7" fmla="*/ 290786 w 434872"/>
              <a:gd name="connsiteY7" fmla="*/ 521112 h 605705"/>
              <a:gd name="connsiteX8" fmla="*/ 283746 w 434872"/>
              <a:gd name="connsiteY8" fmla="*/ 528611 h 605705"/>
              <a:gd name="connsiteX9" fmla="*/ 314487 w 434872"/>
              <a:gd name="connsiteY9" fmla="*/ 529783 h 605705"/>
              <a:gd name="connsiteX10" fmla="*/ 359308 w 434872"/>
              <a:gd name="connsiteY10" fmla="*/ 510802 h 605705"/>
              <a:gd name="connsiteX11" fmla="*/ 337748 w 434872"/>
              <a:gd name="connsiteY11" fmla="*/ 504504 h 605705"/>
              <a:gd name="connsiteX12" fmla="*/ 88737 w 434872"/>
              <a:gd name="connsiteY12" fmla="*/ 451049 h 605705"/>
              <a:gd name="connsiteX13" fmla="*/ 70668 w 434872"/>
              <a:gd name="connsiteY13" fmla="*/ 462999 h 605705"/>
              <a:gd name="connsiteX14" fmla="*/ 72076 w 434872"/>
              <a:gd name="connsiteY14" fmla="*/ 462296 h 605705"/>
              <a:gd name="connsiteX15" fmla="*/ 88972 w 434872"/>
              <a:gd name="connsiteY15" fmla="*/ 451517 h 605705"/>
              <a:gd name="connsiteX16" fmla="*/ 88737 w 434872"/>
              <a:gd name="connsiteY16" fmla="*/ 451049 h 605705"/>
              <a:gd name="connsiteX17" fmla="*/ 109153 w 434872"/>
              <a:gd name="connsiteY17" fmla="*/ 408635 h 605705"/>
              <a:gd name="connsiteX18" fmla="*/ 117367 w 434872"/>
              <a:gd name="connsiteY18" fmla="*/ 409104 h 605705"/>
              <a:gd name="connsiteX19" fmla="*/ 195511 w 434872"/>
              <a:gd name="connsiteY19" fmla="*/ 466280 h 605705"/>
              <a:gd name="connsiteX20" fmla="*/ 180023 w 434872"/>
              <a:gd name="connsiteY20" fmla="*/ 430428 h 605705"/>
              <a:gd name="connsiteX21" fmla="*/ 187532 w 434872"/>
              <a:gd name="connsiteY21" fmla="*/ 413556 h 605705"/>
              <a:gd name="connsiteX22" fmla="*/ 191052 w 434872"/>
              <a:gd name="connsiteY22" fmla="*/ 413322 h 605705"/>
              <a:gd name="connsiteX23" fmla="*/ 191521 w 434872"/>
              <a:gd name="connsiteY23" fmla="*/ 412619 h 605705"/>
              <a:gd name="connsiteX24" fmla="*/ 219212 w 434872"/>
              <a:gd name="connsiteY24" fmla="*/ 410510 h 605705"/>
              <a:gd name="connsiteX25" fmla="*/ 244087 w 434872"/>
              <a:gd name="connsiteY25" fmla="*/ 410744 h 605705"/>
              <a:gd name="connsiteX26" fmla="*/ 252535 w 434872"/>
              <a:gd name="connsiteY26" fmla="*/ 421523 h 605705"/>
              <a:gd name="connsiteX27" fmla="*/ 233527 w 434872"/>
              <a:gd name="connsiteY27" fmla="*/ 464405 h 605705"/>
              <a:gd name="connsiteX28" fmla="*/ 295948 w 434872"/>
              <a:gd name="connsiteY28" fmla="*/ 417305 h 605705"/>
              <a:gd name="connsiteX29" fmla="*/ 306508 w 434872"/>
              <a:gd name="connsiteY29" fmla="*/ 412150 h 605705"/>
              <a:gd name="connsiteX30" fmla="*/ 344524 w 434872"/>
              <a:gd name="connsiteY30" fmla="*/ 416837 h 605705"/>
              <a:gd name="connsiteX31" fmla="*/ 412578 w 434872"/>
              <a:gd name="connsiteY31" fmla="*/ 445190 h 605705"/>
              <a:gd name="connsiteX32" fmla="*/ 420556 w 434872"/>
              <a:gd name="connsiteY32" fmla="*/ 591411 h 605705"/>
              <a:gd name="connsiteX33" fmla="*/ 411404 w 434872"/>
              <a:gd name="connsiteY33" fmla="*/ 600549 h 605705"/>
              <a:gd name="connsiteX34" fmla="*/ 7543 w 434872"/>
              <a:gd name="connsiteY34" fmla="*/ 592582 h 605705"/>
              <a:gd name="connsiteX35" fmla="*/ 737 w 434872"/>
              <a:gd name="connsiteY35" fmla="*/ 583678 h 605705"/>
              <a:gd name="connsiteX36" fmla="*/ 10359 w 434872"/>
              <a:gd name="connsiteY36" fmla="*/ 466514 h 605705"/>
              <a:gd name="connsiteX37" fmla="*/ 104929 w 434872"/>
              <a:gd name="connsiteY37" fmla="*/ 409104 h 605705"/>
              <a:gd name="connsiteX38" fmla="*/ 109153 w 434872"/>
              <a:gd name="connsiteY38" fmla="*/ 408635 h 605705"/>
              <a:gd name="connsiteX39" fmla="*/ 303187 w 434872"/>
              <a:gd name="connsiteY39" fmla="*/ 227980 h 605705"/>
              <a:gd name="connsiteX40" fmla="*/ 205113 w 434872"/>
              <a:gd name="connsiteY40" fmla="*/ 235947 h 605705"/>
              <a:gd name="connsiteX41" fmla="*/ 119005 w 434872"/>
              <a:gd name="connsiteY41" fmla="*/ 235244 h 605705"/>
              <a:gd name="connsiteX42" fmla="*/ 125340 w 434872"/>
              <a:gd name="connsiteY42" fmla="*/ 264531 h 605705"/>
              <a:gd name="connsiteX43" fmla="*/ 175785 w 434872"/>
              <a:gd name="connsiteY43" fmla="*/ 353097 h 605705"/>
              <a:gd name="connsiteX44" fmla="*/ 286764 w 434872"/>
              <a:gd name="connsiteY44" fmla="*/ 322872 h 605705"/>
              <a:gd name="connsiteX45" fmla="*/ 301780 w 434872"/>
              <a:gd name="connsiteY45" fmla="*/ 239461 h 605705"/>
              <a:gd name="connsiteX46" fmla="*/ 303187 w 434872"/>
              <a:gd name="connsiteY46" fmla="*/ 227980 h 605705"/>
              <a:gd name="connsiteX47" fmla="*/ 216581 w 434872"/>
              <a:gd name="connsiteY47" fmla="*/ 118943 h 605705"/>
              <a:gd name="connsiteX48" fmla="*/ 347063 w 434872"/>
              <a:gd name="connsiteY48" fmla="*/ 119968 h 605705"/>
              <a:gd name="connsiteX49" fmla="*/ 354336 w 434872"/>
              <a:gd name="connsiteY49" fmla="*/ 134729 h 605705"/>
              <a:gd name="connsiteX50" fmla="*/ 347063 w 434872"/>
              <a:gd name="connsiteY50" fmla="*/ 144335 h 605705"/>
              <a:gd name="connsiteX51" fmla="*/ 346828 w 434872"/>
              <a:gd name="connsiteY51" fmla="*/ 178074 h 605705"/>
              <a:gd name="connsiteX52" fmla="*/ 345420 w 434872"/>
              <a:gd name="connsiteY52" fmla="*/ 197287 h 605705"/>
              <a:gd name="connsiteX53" fmla="*/ 322662 w 434872"/>
              <a:gd name="connsiteY53" fmla="*/ 220014 h 605705"/>
              <a:gd name="connsiteX54" fmla="*/ 320081 w 434872"/>
              <a:gd name="connsiteY54" fmla="*/ 239461 h 605705"/>
              <a:gd name="connsiteX55" fmla="*/ 306003 w 434872"/>
              <a:gd name="connsiteY55" fmla="*/ 326152 h 605705"/>
              <a:gd name="connsiteX56" fmla="*/ 191036 w 434872"/>
              <a:gd name="connsiteY56" fmla="*/ 385196 h 605705"/>
              <a:gd name="connsiteX57" fmla="*/ 118067 w 434872"/>
              <a:gd name="connsiteY57" fmla="*/ 296162 h 605705"/>
              <a:gd name="connsiteX58" fmla="*/ 102816 w 434872"/>
              <a:gd name="connsiteY58" fmla="*/ 230323 h 605705"/>
              <a:gd name="connsiteX59" fmla="*/ 94604 w 434872"/>
              <a:gd name="connsiteY59" fmla="*/ 226106 h 605705"/>
              <a:gd name="connsiteX60" fmla="*/ 76538 w 434872"/>
              <a:gd name="connsiteY60" fmla="*/ 143867 h 605705"/>
              <a:gd name="connsiteX61" fmla="*/ 77241 w 434872"/>
              <a:gd name="connsiteY61" fmla="*/ 134026 h 605705"/>
              <a:gd name="connsiteX62" fmla="*/ 86392 w 434872"/>
              <a:gd name="connsiteY62" fmla="*/ 131683 h 605705"/>
              <a:gd name="connsiteX63" fmla="*/ 86627 w 434872"/>
              <a:gd name="connsiteY63" fmla="*/ 132152 h 605705"/>
              <a:gd name="connsiteX64" fmla="*/ 216581 w 434872"/>
              <a:gd name="connsiteY64" fmla="*/ 118943 h 605705"/>
              <a:gd name="connsiteX65" fmla="*/ 210722 w 434872"/>
              <a:gd name="connsiteY65" fmla="*/ 19876 h 605705"/>
              <a:gd name="connsiteX66" fmla="*/ 201804 w 434872"/>
              <a:gd name="connsiteY66" fmla="*/ 21048 h 605705"/>
              <a:gd name="connsiteX67" fmla="*/ 209783 w 434872"/>
              <a:gd name="connsiteY67" fmla="*/ 22454 h 605705"/>
              <a:gd name="connsiteX68" fmla="*/ 210722 w 434872"/>
              <a:gd name="connsiteY68" fmla="*/ 19876 h 605705"/>
              <a:gd name="connsiteX69" fmla="*/ 197815 w 434872"/>
              <a:gd name="connsiteY69" fmla="*/ 2064 h 605705"/>
              <a:gd name="connsiteX70" fmla="*/ 374759 w 434872"/>
              <a:gd name="connsiteY70" fmla="*/ 90186 h 605705"/>
              <a:gd name="connsiteX71" fmla="*/ 378983 w 434872"/>
              <a:gd name="connsiteY71" fmla="*/ 99795 h 605705"/>
              <a:gd name="connsiteX72" fmla="*/ 394237 w 434872"/>
              <a:gd name="connsiteY72" fmla="*/ 175260 h 605705"/>
              <a:gd name="connsiteX73" fmla="*/ 396819 w 434872"/>
              <a:gd name="connsiteY73" fmla="*/ 213696 h 605705"/>
              <a:gd name="connsiteX74" fmla="*/ 395645 w 434872"/>
              <a:gd name="connsiteY74" fmla="*/ 240648 h 605705"/>
              <a:gd name="connsiteX75" fmla="*/ 400339 w 434872"/>
              <a:gd name="connsiteY75" fmla="*/ 247210 h 605705"/>
              <a:gd name="connsiteX76" fmla="*/ 398696 w 434872"/>
              <a:gd name="connsiteY76" fmla="*/ 256351 h 605705"/>
              <a:gd name="connsiteX77" fmla="*/ 385554 w 434872"/>
              <a:gd name="connsiteY77" fmla="*/ 261741 h 605705"/>
              <a:gd name="connsiteX78" fmla="*/ 378983 w 434872"/>
              <a:gd name="connsiteY78" fmla="*/ 242757 h 605705"/>
              <a:gd name="connsiteX79" fmla="*/ 377575 w 434872"/>
              <a:gd name="connsiteY79" fmla="*/ 194478 h 605705"/>
              <a:gd name="connsiteX80" fmla="*/ 368658 w 434872"/>
              <a:gd name="connsiteY80" fmla="*/ 109638 h 605705"/>
              <a:gd name="connsiteX81" fmla="*/ 359740 w 434872"/>
              <a:gd name="connsiteY81" fmla="*/ 107763 h 605705"/>
              <a:gd name="connsiteX82" fmla="*/ 355751 w 434872"/>
              <a:gd name="connsiteY82" fmla="*/ 106826 h 605705"/>
              <a:gd name="connsiteX83" fmla="*/ 340027 w 434872"/>
              <a:gd name="connsiteY83" fmla="*/ 104482 h 605705"/>
              <a:gd name="connsiteX84" fmla="*/ 312570 w 434872"/>
              <a:gd name="connsiteY84" fmla="*/ 102607 h 605705"/>
              <a:gd name="connsiteX85" fmla="*/ 235128 w 434872"/>
              <a:gd name="connsiteY85" fmla="*/ 99795 h 605705"/>
              <a:gd name="connsiteX86" fmla="*/ 40583 w 434872"/>
              <a:gd name="connsiteY86" fmla="*/ 109404 h 605705"/>
              <a:gd name="connsiteX87" fmla="*/ 33543 w 434872"/>
              <a:gd name="connsiteY87" fmla="*/ 92998 h 605705"/>
              <a:gd name="connsiteX88" fmla="*/ 34012 w 434872"/>
              <a:gd name="connsiteY88" fmla="*/ 90654 h 605705"/>
              <a:gd name="connsiteX89" fmla="*/ 62642 w 434872"/>
              <a:gd name="connsiteY89" fmla="*/ 75421 h 605705"/>
              <a:gd name="connsiteX90" fmla="*/ 109812 w 434872"/>
              <a:gd name="connsiteY90" fmla="*/ 48000 h 605705"/>
              <a:gd name="connsiteX91" fmla="*/ 197815 w 434872"/>
              <a:gd name="connsiteY91" fmla="*/ 2064 h 605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434872" h="605705">
                <a:moveTo>
                  <a:pt x="83809" y="581569"/>
                </a:moveTo>
                <a:cubicBezTo>
                  <a:pt x="83340" y="582272"/>
                  <a:pt x="82871" y="582975"/>
                  <a:pt x="82167" y="583678"/>
                </a:cubicBezTo>
                <a:cubicBezTo>
                  <a:pt x="84279" y="583678"/>
                  <a:pt x="86391" y="583912"/>
                  <a:pt x="88503" y="584146"/>
                </a:cubicBezTo>
                <a:cubicBezTo>
                  <a:pt x="87564" y="583209"/>
                  <a:pt x="86860" y="582506"/>
                  <a:pt x="86156" y="581569"/>
                </a:cubicBezTo>
                <a:cubicBezTo>
                  <a:pt x="85452" y="581569"/>
                  <a:pt x="84748" y="581569"/>
                  <a:pt x="83809" y="581569"/>
                </a:cubicBezTo>
                <a:close/>
                <a:moveTo>
                  <a:pt x="337748" y="504504"/>
                </a:moveTo>
                <a:cubicBezTo>
                  <a:pt x="328860" y="505236"/>
                  <a:pt x="319649" y="507872"/>
                  <a:pt x="314252" y="509630"/>
                </a:cubicBezTo>
                <a:cubicBezTo>
                  <a:pt x="306039" y="512442"/>
                  <a:pt x="297826" y="515723"/>
                  <a:pt x="290786" y="521112"/>
                </a:cubicBezTo>
                <a:cubicBezTo>
                  <a:pt x="287735" y="523221"/>
                  <a:pt x="285623" y="526033"/>
                  <a:pt x="283746" y="528611"/>
                </a:cubicBezTo>
                <a:cubicBezTo>
                  <a:pt x="294071" y="527674"/>
                  <a:pt x="306039" y="529548"/>
                  <a:pt x="314487" y="529783"/>
                </a:cubicBezTo>
                <a:cubicBezTo>
                  <a:pt x="323404" y="530251"/>
                  <a:pt x="374796" y="532829"/>
                  <a:pt x="359308" y="510802"/>
                </a:cubicBezTo>
                <a:cubicBezTo>
                  <a:pt x="355201" y="504944"/>
                  <a:pt x="346636" y="503772"/>
                  <a:pt x="337748" y="504504"/>
                </a:cubicBezTo>
                <a:close/>
                <a:moveTo>
                  <a:pt x="88737" y="451049"/>
                </a:moveTo>
                <a:cubicBezTo>
                  <a:pt x="82167" y="454798"/>
                  <a:pt x="76065" y="458547"/>
                  <a:pt x="70668" y="462999"/>
                </a:cubicBezTo>
                <a:cubicBezTo>
                  <a:pt x="71137" y="462765"/>
                  <a:pt x="71607" y="462531"/>
                  <a:pt x="72076" y="462296"/>
                </a:cubicBezTo>
                <a:cubicBezTo>
                  <a:pt x="77239" y="458313"/>
                  <a:pt x="82871" y="454798"/>
                  <a:pt x="88972" y="451517"/>
                </a:cubicBezTo>
                <a:cubicBezTo>
                  <a:pt x="88737" y="451517"/>
                  <a:pt x="88737" y="451283"/>
                  <a:pt x="88737" y="451049"/>
                </a:cubicBezTo>
                <a:close/>
                <a:moveTo>
                  <a:pt x="109153" y="408635"/>
                </a:moveTo>
                <a:cubicBezTo>
                  <a:pt x="111031" y="406292"/>
                  <a:pt x="114785" y="405589"/>
                  <a:pt x="117367" y="409104"/>
                </a:cubicBezTo>
                <a:cubicBezTo>
                  <a:pt x="137079" y="435583"/>
                  <a:pt x="162657" y="460890"/>
                  <a:pt x="195511" y="466280"/>
                </a:cubicBezTo>
                <a:cubicBezTo>
                  <a:pt x="185185" y="458313"/>
                  <a:pt x="179553" y="444253"/>
                  <a:pt x="180023" y="430428"/>
                </a:cubicBezTo>
                <a:cubicBezTo>
                  <a:pt x="180257" y="424570"/>
                  <a:pt x="180257" y="415431"/>
                  <a:pt x="187532" y="413556"/>
                </a:cubicBezTo>
                <a:cubicBezTo>
                  <a:pt x="188705" y="413322"/>
                  <a:pt x="189879" y="413322"/>
                  <a:pt x="191052" y="413322"/>
                </a:cubicBezTo>
                <a:cubicBezTo>
                  <a:pt x="191287" y="413087"/>
                  <a:pt x="191287" y="412853"/>
                  <a:pt x="191521" y="412619"/>
                </a:cubicBezTo>
                <a:cubicBezTo>
                  <a:pt x="197857" y="407229"/>
                  <a:pt x="211468" y="410510"/>
                  <a:pt x="219212" y="410510"/>
                </a:cubicBezTo>
                <a:cubicBezTo>
                  <a:pt x="227426" y="410510"/>
                  <a:pt x="235874" y="410510"/>
                  <a:pt x="244087" y="410744"/>
                </a:cubicBezTo>
                <a:cubicBezTo>
                  <a:pt x="250188" y="410744"/>
                  <a:pt x="253474" y="416134"/>
                  <a:pt x="252535" y="421523"/>
                </a:cubicBezTo>
                <a:cubicBezTo>
                  <a:pt x="250423" y="434646"/>
                  <a:pt x="244791" y="453626"/>
                  <a:pt x="233527" y="464405"/>
                </a:cubicBezTo>
                <a:cubicBezTo>
                  <a:pt x="260983" y="458313"/>
                  <a:pt x="285388" y="444487"/>
                  <a:pt x="295948" y="417305"/>
                </a:cubicBezTo>
                <a:cubicBezTo>
                  <a:pt x="297591" y="413087"/>
                  <a:pt x="302754" y="410979"/>
                  <a:pt x="306508" y="412150"/>
                </a:cubicBezTo>
                <a:cubicBezTo>
                  <a:pt x="317772" y="407698"/>
                  <a:pt x="335372" y="414025"/>
                  <a:pt x="344524" y="416837"/>
                </a:cubicBezTo>
                <a:cubicBezTo>
                  <a:pt x="367287" y="423632"/>
                  <a:pt x="392866" y="431599"/>
                  <a:pt x="412578" y="445190"/>
                </a:cubicBezTo>
                <a:cubicBezTo>
                  <a:pt x="456695" y="475184"/>
                  <a:pt x="421964" y="549935"/>
                  <a:pt x="420556" y="591411"/>
                </a:cubicBezTo>
                <a:cubicBezTo>
                  <a:pt x="420322" y="596331"/>
                  <a:pt x="416567" y="600549"/>
                  <a:pt x="411404" y="600549"/>
                </a:cubicBezTo>
                <a:cubicBezTo>
                  <a:pt x="276940" y="601018"/>
                  <a:pt x="141068" y="616015"/>
                  <a:pt x="7543" y="592582"/>
                </a:cubicBezTo>
                <a:cubicBezTo>
                  <a:pt x="3553" y="591879"/>
                  <a:pt x="737" y="587427"/>
                  <a:pt x="737" y="583678"/>
                </a:cubicBezTo>
                <a:cubicBezTo>
                  <a:pt x="737" y="546185"/>
                  <a:pt x="-3956" y="502132"/>
                  <a:pt x="10359" y="466514"/>
                </a:cubicBezTo>
                <a:cubicBezTo>
                  <a:pt x="24908" y="430662"/>
                  <a:pt x="77239" y="429490"/>
                  <a:pt x="104929" y="409104"/>
                </a:cubicBezTo>
                <a:cubicBezTo>
                  <a:pt x="106103" y="408167"/>
                  <a:pt x="107745" y="408167"/>
                  <a:pt x="109153" y="408635"/>
                </a:cubicBezTo>
                <a:close/>
                <a:moveTo>
                  <a:pt x="303187" y="227980"/>
                </a:moveTo>
                <a:cubicBezTo>
                  <a:pt x="271982" y="237352"/>
                  <a:pt x="237023" y="235009"/>
                  <a:pt x="205113" y="235947"/>
                </a:cubicBezTo>
                <a:cubicBezTo>
                  <a:pt x="180008" y="236649"/>
                  <a:pt x="146691" y="241101"/>
                  <a:pt x="119005" y="235244"/>
                </a:cubicBezTo>
                <a:cubicBezTo>
                  <a:pt x="119474" y="245319"/>
                  <a:pt x="122055" y="255159"/>
                  <a:pt x="125340" y="264531"/>
                </a:cubicBezTo>
                <a:cubicBezTo>
                  <a:pt x="136133" y="295927"/>
                  <a:pt x="151618" y="329901"/>
                  <a:pt x="175785" y="353097"/>
                </a:cubicBezTo>
                <a:cubicBezTo>
                  <a:pt x="210510" y="386133"/>
                  <a:pt x="265882" y="361297"/>
                  <a:pt x="286764" y="322872"/>
                </a:cubicBezTo>
                <a:cubicBezTo>
                  <a:pt x="301310" y="296396"/>
                  <a:pt x="300841" y="268749"/>
                  <a:pt x="301780" y="239461"/>
                </a:cubicBezTo>
                <a:cubicBezTo>
                  <a:pt x="301780" y="235947"/>
                  <a:pt x="302484" y="231963"/>
                  <a:pt x="303187" y="227980"/>
                </a:cubicBezTo>
                <a:close/>
                <a:moveTo>
                  <a:pt x="216581" y="118943"/>
                </a:moveTo>
                <a:cubicBezTo>
                  <a:pt x="260485" y="117098"/>
                  <a:pt x="304478" y="117625"/>
                  <a:pt x="347063" y="119968"/>
                </a:cubicBezTo>
                <a:cubicBezTo>
                  <a:pt x="355275" y="120437"/>
                  <a:pt x="357621" y="129574"/>
                  <a:pt x="354336" y="134729"/>
                </a:cubicBezTo>
                <a:cubicBezTo>
                  <a:pt x="355275" y="139181"/>
                  <a:pt x="352225" y="144569"/>
                  <a:pt x="347063" y="144335"/>
                </a:cubicBezTo>
                <a:cubicBezTo>
                  <a:pt x="354336" y="144804"/>
                  <a:pt x="346828" y="169405"/>
                  <a:pt x="346828" y="178074"/>
                </a:cubicBezTo>
                <a:cubicBezTo>
                  <a:pt x="346828" y="184635"/>
                  <a:pt x="347063" y="190961"/>
                  <a:pt x="345420" y="197287"/>
                </a:cubicBezTo>
                <a:cubicBezTo>
                  <a:pt x="343074" y="207128"/>
                  <a:pt x="332281" y="214859"/>
                  <a:pt x="322662" y="220014"/>
                </a:cubicBezTo>
                <a:cubicBezTo>
                  <a:pt x="321723" y="227512"/>
                  <a:pt x="320315" y="234775"/>
                  <a:pt x="320081" y="239461"/>
                </a:cubicBezTo>
                <a:cubicBezTo>
                  <a:pt x="320081" y="268280"/>
                  <a:pt x="320315" y="300145"/>
                  <a:pt x="306003" y="326152"/>
                </a:cubicBezTo>
                <a:cubicBezTo>
                  <a:pt x="286998" y="361297"/>
                  <a:pt x="234442" y="403471"/>
                  <a:pt x="191036" y="385196"/>
                </a:cubicBezTo>
                <a:cubicBezTo>
                  <a:pt x="154903" y="370200"/>
                  <a:pt x="133083" y="330369"/>
                  <a:pt x="118067" y="296162"/>
                </a:cubicBezTo>
                <a:cubicBezTo>
                  <a:pt x="110559" y="279058"/>
                  <a:pt x="99062" y="251879"/>
                  <a:pt x="102816" y="230323"/>
                </a:cubicBezTo>
                <a:cubicBezTo>
                  <a:pt x="100000" y="228917"/>
                  <a:pt x="97185" y="227746"/>
                  <a:pt x="94604" y="226106"/>
                </a:cubicBezTo>
                <a:cubicBezTo>
                  <a:pt x="68091" y="210408"/>
                  <a:pt x="74191" y="172451"/>
                  <a:pt x="76538" y="143867"/>
                </a:cubicBezTo>
                <a:cubicBezTo>
                  <a:pt x="73018" y="141289"/>
                  <a:pt x="72549" y="135432"/>
                  <a:pt x="77241" y="134026"/>
                </a:cubicBezTo>
                <a:cubicBezTo>
                  <a:pt x="77476" y="129574"/>
                  <a:pt x="84046" y="126997"/>
                  <a:pt x="86392" y="131683"/>
                </a:cubicBezTo>
                <a:cubicBezTo>
                  <a:pt x="86392" y="131917"/>
                  <a:pt x="86627" y="131917"/>
                  <a:pt x="86627" y="132152"/>
                </a:cubicBezTo>
                <a:cubicBezTo>
                  <a:pt x="128860" y="125006"/>
                  <a:pt x="172676" y="120788"/>
                  <a:pt x="216581" y="118943"/>
                </a:cubicBezTo>
                <a:close/>
                <a:moveTo>
                  <a:pt x="210722" y="19876"/>
                </a:moveTo>
                <a:cubicBezTo>
                  <a:pt x="207671" y="20110"/>
                  <a:pt x="204855" y="20579"/>
                  <a:pt x="201804" y="21048"/>
                </a:cubicBezTo>
                <a:cubicBezTo>
                  <a:pt x="204620" y="21517"/>
                  <a:pt x="207202" y="21985"/>
                  <a:pt x="209783" y="22454"/>
                </a:cubicBezTo>
                <a:cubicBezTo>
                  <a:pt x="210018" y="21517"/>
                  <a:pt x="210252" y="20579"/>
                  <a:pt x="210722" y="19876"/>
                </a:cubicBezTo>
                <a:close/>
                <a:moveTo>
                  <a:pt x="197815" y="2064"/>
                </a:moveTo>
                <a:cubicBezTo>
                  <a:pt x="266809" y="-12935"/>
                  <a:pt x="322427" y="57609"/>
                  <a:pt x="374759" y="90186"/>
                </a:cubicBezTo>
                <a:cubicBezTo>
                  <a:pt x="378749" y="92764"/>
                  <a:pt x="379687" y="96513"/>
                  <a:pt x="378983" y="99795"/>
                </a:cubicBezTo>
                <a:cubicBezTo>
                  <a:pt x="387901" y="123934"/>
                  <a:pt x="392125" y="149714"/>
                  <a:pt x="394237" y="175260"/>
                </a:cubicBezTo>
                <a:cubicBezTo>
                  <a:pt x="395410" y="188150"/>
                  <a:pt x="396349" y="201040"/>
                  <a:pt x="396819" y="213696"/>
                </a:cubicBezTo>
                <a:cubicBezTo>
                  <a:pt x="396819" y="216743"/>
                  <a:pt x="395645" y="231742"/>
                  <a:pt x="395645" y="240648"/>
                </a:cubicBezTo>
                <a:cubicBezTo>
                  <a:pt x="398461" y="241585"/>
                  <a:pt x="400808" y="243695"/>
                  <a:pt x="400339" y="247210"/>
                </a:cubicBezTo>
                <a:cubicBezTo>
                  <a:pt x="400104" y="250491"/>
                  <a:pt x="399635" y="253069"/>
                  <a:pt x="398696" y="256351"/>
                </a:cubicBezTo>
                <a:cubicBezTo>
                  <a:pt x="397288" y="261507"/>
                  <a:pt x="390482" y="265022"/>
                  <a:pt x="385554" y="261741"/>
                </a:cubicBezTo>
                <a:cubicBezTo>
                  <a:pt x="377810" y="256351"/>
                  <a:pt x="378983" y="252132"/>
                  <a:pt x="378983" y="242757"/>
                </a:cubicBezTo>
                <a:cubicBezTo>
                  <a:pt x="378749" y="226586"/>
                  <a:pt x="378514" y="210649"/>
                  <a:pt x="377575" y="194478"/>
                </a:cubicBezTo>
                <a:cubicBezTo>
                  <a:pt x="375933" y="166120"/>
                  <a:pt x="371474" y="137762"/>
                  <a:pt x="368658" y="109638"/>
                </a:cubicBezTo>
                <a:cubicBezTo>
                  <a:pt x="365607" y="111279"/>
                  <a:pt x="361852" y="110341"/>
                  <a:pt x="359740" y="107763"/>
                </a:cubicBezTo>
                <a:cubicBezTo>
                  <a:pt x="359036" y="107529"/>
                  <a:pt x="357863" y="107294"/>
                  <a:pt x="355751" y="106826"/>
                </a:cubicBezTo>
                <a:cubicBezTo>
                  <a:pt x="350588" y="105888"/>
                  <a:pt x="345190" y="104951"/>
                  <a:pt x="340027" y="104482"/>
                </a:cubicBezTo>
                <a:cubicBezTo>
                  <a:pt x="330875" y="103544"/>
                  <a:pt x="321723" y="103076"/>
                  <a:pt x="312570" y="102607"/>
                </a:cubicBezTo>
                <a:cubicBezTo>
                  <a:pt x="286756" y="101670"/>
                  <a:pt x="260942" y="99795"/>
                  <a:pt x="235128" y="99795"/>
                </a:cubicBezTo>
                <a:cubicBezTo>
                  <a:pt x="170592" y="99326"/>
                  <a:pt x="104649" y="97685"/>
                  <a:pt x="40583" y="109404"/>
                </a:cubicBezTo>
                <a:cubicBezTo>
                  <a:pt x="30257" y="111279"/>
                  <a:pt x="25329" y="96982"/>
                  <a:pt x="33543" y="92998"/>
                </a:cubicBezTo>
                <a:cubicBezTo>
                  <a:pt x="33543" y="92061"/>
                  <a:pt x="33543" y="91357"/>
                  <a:pt x="34012" y="90654"/>
                </a:cubicBezTo>
                <a:cubicBezTo>
                  <a:pt x="40583" y="81749"/>
                  <a:pt x="53255" y="80342"/>
                  <a:pt x="62642" y="75421"/>
                </a:cubicBezTo>
                <a:cubicBezTo>
                  <a:pt x="78835" y="66983"/>
                  <a:pt x="94323" y="57375"/>
                  <a:pt x="109812" y="48000"/>
                </a:cubicBezTo>
                <a:cubicBezTo>
                  <a:pt x="136565" y="31594"/>
                  <a:pt x="166603" y="8861"/>
                  <a:pt x="197815" y="2064"/>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cs typeface="+mn-ea"/>
            </a:endParaRPr>
          </a:p>
        </p:txBody>
      </p:sp>
    </p:spTree>
  </p:cSld>
  <p:clrMapOvr>
    <a:masterClrMapping/>
  </p:clrMapOvr>
</p:sld>
</file>

<file path=ppt/tags/tag1.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2.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3.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4.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5.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6.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7.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8.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9.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0.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1.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2.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3.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4.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5.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6.xml><?xml version="1.0" encoding="utf-8"?>
<p:tagLst xmlns:p="http://schemas.openxmlformats.org/presentationml/2006/main">
  <p:tag name="KSO_WM_DIAGRAM_VIRTUALLY_FRAME" val="{&quot;height&quot;:286.7343897397328,&quot;left&quot;:132.15125984251966,&quot;top&quot;:160.8170866141732,&quot;width&quot;:751.4487781939781}"/>
</p:tagLst>
</file>

<file path=ppt/tags/tag17.xml><?xml version="1.0" encoding="utf-8"?>
<p:tagLst xmlns:p="http://schemas.openxmlformats.org/presentationml/2006/main">
  <p:tag name="TABLE_ENDDRAG_ORIGIN_RECT" val="495*171"/>
  <p:tag name="TABLE_ENDDRAG_RECT" val="47*109*495*171"/>
</p:tagLst>
</file>

<file path=ppt/tags/tag18.xml><?xml version="1.0" encoding="utf-8"?>
<p:tagLst xmlns:p="http://schemas.openxmlformats.org/presentationml/2006/main">
  <p:tag name="TABLE_ENDDRAG_ORIGIN_RECT" val="419*117"/>
  <p:tag name="TABLE_ENDDRAG_RECT" val="468*154*419*117"/>
</p:tagLst>
</file>

<file path=ppt/tags/tag19.xml><?xml version="1.0" encoding="utf-8"?>
<p:tagLst xmlns:p="http://schemas.openxmlformats.org/presentationml/2006/main">
  <p:tag name="TABLE_ENDDRAG_ORIGIN_RECT" val="419*127"/>
  <p:tag name="TABLE_ENDDRAG_RECT" val="471*344*419*127"/>
</p:tagLst>
</file>

<file path=ppt/tags/tag20.xml><?xml version="1.0" encoding="utf-8"?>
<p:tagLst xmlns:p="http://schemas.openxmlformats.org/presentationml/2006/main">
  <p:tag name="resource_record_key" val="{&quot;29&quot;:[50000076,50000077,50000086,50000090]}"/>
</p:tagLst>
</file>

<file path=ppt/theme/theme1.xml><?xml version="1.0" encoding="utf-8"?>
<a:theme xmlns:a="http://schemas.openxmlformats.org/drawingml/2006/main" name="木卫林">
  <a:themeElements>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fontScheme name="自定义 1">
      <a:majorFont>
        <a:latin typeface="Arial"/>
        <a:ea typeface="思源黑体 CN Regular"/>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3.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4.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5.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6.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7.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8.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9.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0.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1.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2.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3.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4.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5.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6.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7.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8.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19.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0.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1.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2.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3.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4.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5.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6.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7.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ppt/theme/themeOverride28.xml><?xml version="1.0" encoding="utf-8"?>
<a:themeOverride xmlns:a="http://schemas.openxmlformats.org/drawingml/2006/main">
  <a:clrScheme name="Office">
    <a:dk1>
      <a:srgbClr val="000000"/>
    </a:dk1>
    <a:lt1>
      <a:srgbClr val="FFFFFF"/>
    </a:lt1>
    <a:dk2>
      <a:srgbClr val="778495"/>
    </a:dk2>
    <a:lt2>
      <a:srgbClr val="F0F0F0"/>
    </a:lt2>
    <a:accent1>
      <a:srgbClr val="0E58A3"/>
    </a:accent1>
    <a:accent2>
      <a:srgbClr val="2673B7"/>
    </a:accent2>
    <a:accent3>
      <a:srgbClr val="92B6D0"/>
    </a:accent3>
    <a:accent4>
      <a:srgbClr val="4C7CA0"/>
    </a:accent4>
    <a:accent5>
      <a:srgbClr val="5E7A86"/>
    </a:accent5>
    <a:accent6>
      <a:srgbClr val="D9D9D9"/>
    </a:accent6>
    <a:hlink>
      <a:srgbClr val="F84D4D"/>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4451</Words>
  <Application>WPS 演示</Application>
  <PresentationFormat>宽屏</PresentationFormat>
  <Paragraphs>604</Paragraphs>
  <Slides>32</Slides>
  <Notes>0</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32</vt:i4>
      </vt:variant>
    </vt:vector>
  </HeadingPairs>
  <TitlesOfParts>
    <vt:vector size="57" baseType="lpstr">
      <vt:lpstr>Arial</vt:lpstr>
      <vt:lpstr>宋体</vt:lpstr>
      <vt:lpstr>Wingdings</vt:lpstr>
      <vt:lpstr>Arial</vt:lpstr>
      <vt:lpstr>思源黑体 CN Heavy</vt:lpstr>
      <vt:lpstr>黑体</vt:lpstr>
      <vt:lpstr>Perpetua Titling MT</vt:lpstr>
      <vt:lpstr>Impact</vt:lpstr>
      <vt:lpstr>微软雅黑</vt:lpstr>
      <vt:lpstr>楷体</vt:lpstr>
      <vt:lpstr>Calibri</vt:lpstr>
      <vt:lpstr>Times New Roman</vt:lpstr>
      <vt:lpstr>Inter</vt:lpstr>
      <vt:lpstr>SWAstro</vt:lpstr>
      <vt:lpstr>quote-cjk-patch</vt:lpstr>
      <vt:lpstr>Open Sans Light</vt:lpstr>
      <vt:lpstr>Segoe UI Symbol</vt:lpstr>
      <vt:lpstr>思源黑体 CN Bold</vt:lpstr>
      <vt:lpstr>思源宋体 CN</vt:lpstr>
      <vt:lpstr>思源黑体 CN Regular</vt:lpstr>
      <vt:lpstr>Arial Unicode MS</vt:lpstr>
      <vt:lpstr>Cambria Math</vt:lpstr>
      <vt:lpstr>MS Mincho</vt:lpstr>
      <vt:lpstr>华文楷体</vt:lpstr>
      <vt:lpstr>木卫林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木卫林</Company>
  <LinksUpToDate>false</LinksUpToDate>
  <SharedDoc>false</SharedDoc>
  <HyperlinksChanged>false</HyperlinksChanged>
  <AppVersion>14.0000</AppVersion>
  <Manager>木卫林</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木卫林</dc:creator>
  <dc:subject>木卫林-学术PPT模板</dc:subject>
  <cp:lastModifiedBy>lzh</cp:lastModifiedBy>
  <cp:revision>95</cp:revision>
  <dcterms:created xsi:type="dcterms:W3CDTF">2022-05-27T03:56:00Z</dcterms:created>
  <dcterms:modified xsi:type="dcterms:W3CDTF">2025-06-19T04:32:44Z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9EEC2E5181E14E23BBC1AFFEEC8A46B8_13</vt:lpwstr>
  </property>
  <property fmtid="{D5CDD505-2E9C-101B-9397-08002B2CF9AE}" pid="3" name="KSOProductBuildVer">
    <vt:lpwstr>2052-12.1.0.21541</vt:lpwstr>
  </property>
</Properties>
</file>